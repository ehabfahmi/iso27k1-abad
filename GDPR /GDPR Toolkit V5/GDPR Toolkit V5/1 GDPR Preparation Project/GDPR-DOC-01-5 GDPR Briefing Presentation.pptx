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8" r:id="rId5"/>
    <p:sldId id="259" r:id="rId6"/>
    <p:sldId id="260" r:id="rId7"/>
    <p:sldId id="266" r:id="rId8"/>
    <p:sldId id="267" r:id="rId9"/>
    <p:sldId id="268" r:id="rId10"/>
    <p:sldId id="269" r:id="rId11"/>
    <p:sldId id="270" r:id="rId12"/>
    <p:sldId id="271" r:id="rId13"/>
    <p:sldId id="272" r:id="rId14"/>
    <p:sldId id="276" r:id="rId15"/>
    <p:sldId id="273" r:id="rId16"/>
    <p:sldId id="274" r:id="rId17"/>
    <p:sldId id="275" r:id="rId18"/>
    <p:sldId id="265" r:id="rId1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onstantia" pitchFamily="18" charset="0"/>
        <a:ea typeface="+mn-ea"/>
        <a:cs typeface="Arial" charset="0"/>
      </a:defRPr>
    </a:lvl1pPr>
    <a:lvl2pPr marL="457200" algn="l" rtl="0" fontAlgn="base">
      <a:spcBef>
        <a:spcPct val="0"/>
      </a:spcBef>
      <a:spcAft>
        <a:spcPct val="0"/>
      </a:spcAft>
      <a:defRPr kern="1200">
        <a:solidFill>
          <a:schemeClr val="tx1"/>
        </a:solidFill>
        <a:latin typeface="Constantia" pitchFamily="18" charset="0"/>
        <a:ea typeface="+mn-ea"/>
        <a:cs typeface="Arial" charset="0"/>
      </a:defRPr>
    </a:lvl2pPr>
    <a:lvl3pPr marL="914400" algn="l" rtl="0" fontAlgn="base">
      <a:spcBef>
        <a:spcPct val="0"/>
      </a:spcBef>
      <a:spcAft>
        <a:spcPct val="0"/>
      </a:spcAft>
      <a:defRPr kern="1200">
        <a:solidFill>
          <a:schemeClr val="tx1"/>
        </a:solidFill>
        <a:latin typeface="Constantia" pitchFamily="18" charset="0"/>
        <a:ea typeface="+mn-ea"/>
        <a:cs typeface="Arial" charset="0"/>
      </a:defRPr>
    </a:lvl3pPr>
    <a:lvl4pPr marL="1371600" algn="l" rtl="0" fontAlgn="base">
      <a:spcBef>
        <a:spcPct val="0"/>
      </a:spcBef>
      <a:spcAft>
        <a:spcPct val="0"/>
      </a:spcAft>
      <a:defRPr kern="1200">
        <a:solidFill>
          <a:schemeClr val="tx1"/>
        </a:solidFill>
        <a:latin typeface="Constantia" pitchFamily="18" charset="0"/>
        <a:ea typeface="+mn-ea"/>
        <a:cs typeface="Arial" charset="0"/>
      </a:defRPr>
    </a:lvl4pPr>
    <a:lvl5pPr marL="1828800" algn="l" rtl="0" fontAlgn="base">
      <a:spcBef>
        <a:spcPct val="0"/>
      </a:spcBef>
      <a:spcAft>
        <a:spcPct val="0"/>
      </a:spcAft>
      <a:defRPr kern="1200">
        <a:solidFill>
          <a:schemeClr val="tx1"/>
        </a:solidFill>
        <a:latin typeface="Constantia" pitchFamily="18" charset="0"/>
        <a:ea typeface="+mn-ea"/>
        <a:cs typeface="Arial" charset="0"/>
      </a:defRPr>
    </a:lvl5pPr>
    <a:lvl6pPr marL="2286000" algn="l" defTabSz="914400" rtl="0" eaLnBrk="1" latinLnBrk="0" hangingPunct="1">
      <a:defRPr kern="1200">
        <a:solidFill>
          <a:schemeClr val="tx1"/>
        </a:solidFill>
        <a:latin typeface="Constantia" pitchFamily="18" charset="0"/>
        <a:ea typeface="+mn-ea"/>
        <a:cs typeface="Arial" charset="0"/>
      </a:defRPr>
    </a:lvl6pPr>
    <a:lvl7pPr marL="2743200" algn="l" defTabSz="914400" rtl="0" eaLnBrk="1" latinLnBrk="0" hangingPunct="1">
      <a:defRPr kern="1200">
        <a:solidFill>
          <a:schemeClr val="tx1"/>
        </a:solidFill>
        <a:latin typeface="Constantia" pitchFamily="18" charset="0"/>
        <a:ea typeface="+mn-ea"/>
        <a:cs typeface="Arial" charset="0"/>
      </a:defRPr>
    </a:lvl7pPr>
    <a:lvl8pPr marL="3200400" algn="l" defTabSz="914400" rtl="0" eaLnBrk="1" latinLnBrk="0" hangingPunct="1">
      <a:defRPr kern="1200">
        <a:solidFill>
          <a:schemeClr val="tx1"/>
        </a:solidFill>
        <a:latin typeface="Constantia" pitchFamily="18" charset="0"/>
        <a:ea typeface="+mn-ea"/>
        <a:cs typeface="Arial" charset="0"/>
      </a:defRPr>
    </a:lvl8pPr>
    <a:lvl9pPr marL="3657600" algn="l" defTabSz="914400" rtl="0" eaLnBrk="1" latinLnBrk="0" hangingPunct="1">
      <a:defRPr kern="1200">
        <a:solidFill>
          <a:schemeClr val="tx1"/>
        </a:solidFill>
        <a:latin typeface="Constantia"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655FAD-55F9-44D0-9124-3E865911149A}" v="1" dt="2019-02-05T17:06:27.0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770" autoAdjust="0"/>
  </p:normalViewPr>
  <p:slideViewPr>
    <p:cSldViewPr>
      <p:cViewPr varScale="1">
        <p:scale>
          <a:sx n="84" d="100"/>
          <a:sy n="84" d="100"/>
        </p:scale>
        <p:origin x="2394" y="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lmes" userId="3893c208-ca93-41ab-a7dd-d7881cdf5990" providerId="ADAL" clId="{9E655FAD-55F9-44D0-9124-3E865911149A}"/>
    <pc:docChg chg="modSld">
      <pc:chgData name="Ken Holmes" userId="3893c208-ca93-41ab-a7dd-d7881cdf5990" providerId="ADAL" clId="{9E655FAD-55F9-44D0-9124-3E865911149A}" dt="2019-02-05T17:06:06.943" v="22" actId="20577"/>
      <pc:docMkLst>
        <pc:docMk/>
      </pc:docMkLst>
      <pc:sldChg chg="modNotesTx">
        <pc:chgData name="Ken Holmes" userId="3893c208-ca93-41ab-a7dd-d7881cdf5990" providerId="ADAL" clId="{9E655FAD-55F9-44D0-9124-3E865911149A}" dt="2019-02-05T17:03:31.652" v="3" actId="20577"/>
        <pc:sldMkLst>
          <pc:docMk/>
          <pc:sldMk cId="0" sldId="258"/>
        </pc:sldMkLst>
      </pc:sldChg>
      <pc:sldChg chg="modSp modNotesTx">
        <pc:chgData name="Ken Holmes" userId="3893c208-ca93-41ab-a7dd-d7881cdf5990" providerId="ADAL" clId="{9E655FAD-55F9-44D0-9124-3E865911149A}" dt="2019-02-05T17:04:28.345" v="14" actId="20577"/>
        <pc:sldMkLst>
          <pc:docMk/>
          <pc:sldMk cId="557797270" sldId="260"/>
        </pc:sldMkLst>
        <pc:spChg chg="mod">
          <ac:chgData name="Ken Holmes" userId="3893c208-ca93-41ab-a7dd-d7881cdf5990" providerId="ADAL" clId="{9E655FAD-55F9-44D0-9124-3E865911149A}" dt="2019-02-05T17:03:57.323" v="8" actId="20577"/>
          <ac:spMkLst>
            <pc:docMk/>
            <pc:sldMk cId="557797270" sldId="260"/>
            <ac:spMk id="3" creationId="{00000000-0000-0000-0000-000000000000}"/>
          </ac:spMkLst>
        </pc:spChg>
      </pc:sldChg>
      <pc:sldChg chg="modSp modNotesTx">
        <pc:chgData name="Ken Holmes" userId="3893c208-ca93-41ab-a7dd-d7881cdf5990" providerId="ADAL" clId="{9E655FAD-55F9-44D0-9124-3E865911149A}" dt="2019-02-05T17:06:06.943" v="22" actId="20577"/>
        <pc:sldMkLst>
          <pc:docMk/>
          <pc:sldMk cId="318037015" sldId="275"/>
        </pc:sldMkLst>
        <pc:spChg chg="mod">
          <ac:chgData name="Ken Holmes" userId="3893c208-ca93-41ab-a7dd-d7881cdf5990" providerId="ADAL" clId="{9E655FAD-55F9-44D0-9124-3E865911149A}" dt="2019-02-05T17:05:52.403" v="20" actId="20577"/>
          <ac:spMkLst>
            <pc:docMk/>
            <pc:sldMk cId="318037015" sldId="27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6EC35-1B46-4A03-AE1F-602E2CB1D229}" type="datetimeFigureOut">
              <a:rPr lang="en-GB" smtClean="0"/>
              <a:t>05/02/2019</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7CB91A-E68A-4013-89AA-BBD0967A2B48}" type="slidenum">
              <a:rPr lang="en-GB" smtClean="0"/>
              <a:t>‹#›</a:t>
            </a:fld>
            <a:endParaRPr lang="en-GB"/>
          </a:p>
        </p:txBody>
      </p:sp>
    </p:spTree>
    <p:extLst>
      <p:ext uri="{BB962C8B-B14F-4D97-AF65-F5344CB8AC3E}">
        <p14:creationId xmlns:p14="http://schemas.microsoft.com/office/powerpoint/2010/main" val="3220675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Notes to Presenter:</a:t>
            </a:r>
          </a:p>
          <a:p>
            <a:endParaRPr lang="en-GB" dirty="0"/>
          </a:p>
          <a:p>
            <a:r>
              <a:rPr lang="en-GB" dirty="0"/>
              <a:t>This presentation is intended as an initial introduction to the GDPR</a:t>
            </a:r>
            <a:r>
              <a:rPr lang="en-GB" baseline="0" dirty="0"/>
              <a:t>, including the key terms and the main areas of change.</a:t>
            </a:r>
          </a:p>
          <a:p>
            <a:endParaRPr lang="en-GB" baseline="0" dirty="0"/>
          </a:p>
          <a:p>
            <a:r>
              <a:rPr lang="en-GB" sz="1400" b="1" kern="1200" dirty="0">
                <a:solidFill>
                  <a:schemeClr val="tx1"/>
                </a:solidFill>
                <a:effectLst/>
                <a:latin typeface="+mn-lt"/>
                <a:ea typeface="+mn-ea"/>
                <a:cs typeface="+mn-cs"/>
              </a:rPr>
              <a:t>Implementation Guidance</a:t>
            </a:r>
            <a:r>
              <a:rPr lang="en-GB" sz="1400" b="0"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Purpose of this document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presentation is primarily intended to make the main stakeholders, such as management and board members, aware of the main points of the GDPR.</a:t>
            </a: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Areas of the GDPR addressed</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All areas of the GDPR are addressed by this document.</a:t>
            </a:r>
          </a:p>
          <a:p>
            <a:r>
              <a:rPr lang="en-GB" sz="1200" kern="1200" dirty="0">
                <a:solidFill>
                  <a:schemeClr val="tx1"/>
                </a:solidFill>
                <a:effectLst/>
                <a:latin typeface="+mn-lt"/>
                <a:ea typeface="+mn-ea"/>
                <a:cs typeface="+mn-cs"/>
              </a:rPr>
              <a:t> </a:t>
            </a:r>
          </a:p>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General Guidance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This is a high-level overview of the main points only and is intended for people who may have heard of the GDPR, but not know what it contains, or its implications for the organization. You may decide to tailor the presentation to specific audiences e.g. business departments. Tailoring may involve adding additional slides, taking some out and changing the contents of some of them.</a:t>
            </a: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Review Frequency</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We would recommend that this document is reviewed after each presentation to ensure it is covering the required areas, based on feedback from each time it is delivered.</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Toolkit Version Number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GDPR Toolkit Version 5</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Copyright notice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Except for any third party works included in this document, as identified in this document, this document has been authored by CertiKit, and is © copyright CertiKit except as stated below.</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CertiKit is a company registered in England and Wales with company number 6432088.</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Licence terms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document is licensed on and subject to the standard licence terms of CertiKit, available on request, or by download from our website.  All other rights are reserved.  Unless you have purchased this product you only have an evaluation licence.  If this product was purchased, a full licence is granted to the person identified as the licensee in the relevant purchase order.  The standard licence terms include special terms relating to any third party copyright included in this document.</a:t>
            </a: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Disclaimer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Please Note: </a:t>
            </a:r>
            <a:r>
              <a:rPr lang="en-GB" sz="1200" i="1" kern="1200" dirty="0">
                <a:solidFill>
                  <a:schemeClr val="tx1"/>
                </a:solidFill>
                <a:effectLst/>
                <a:latin typeface="+mn-lt"/>
                <a:ea typeface="+mn-ea"/>
                <a:cs typeface="+mn-cs"/>
              </a:rPr>
              <a:t>Your use of and reliance on this document template is at your sole risk. Document templates are intended to be used as a starting point only from which you will create your own document and to which you will apply all reasonable quality checks before use.  Therefore please note that it is your responsibility to ensure that the content of any document you create that is based on our templates is correct and appropriate for your needs and complies with relevant laws in your country. You should take all reasonable and proper legal and other professional advice before using this document. CertiKit makes no claims, promises, or guarantees about the accuracy, completeness, or adequacy of our document templates, assumes no duty of care to any person with respect its document templates or their contents, and expressly excludes and disclaims liability for any cost, expense, loss or damage suffered or incurred in reliance on our document templates, or in expectation of our document templates meeting your needs, including (without limitation) as a result of misstatements, errors and omissions in their contents.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endParaRPr lang="en-GB" dirty="0"/>
          </a:p>
        </p:txBody>
      </p:sp>
      <p:sp>
        <p:nvSpPr>
          <p:cNvPr id="4" name="Slide Number Placeholder 3"/>
          <p:cNvSpPr>
            <a:spLocks noGrp="1"/>
          </p:cNvSpPr>
          <p:nvPr>
            <p:ph type="sldNum" sz="quarter" idx="10"/>
          </p:nvPr>
        </p:nvSpPr>
        <p:spPr/>
        <p:txBody>
          <a:bodyPr/>
          <a:lstStyle/>
          <a:p>
            <a:fld id="{3F7CB91A-E68A-4013-89AA-BBD0967A2B48}" type="slidenum">
              <a:rPr lang="en-GB" smtClean="0"/>
              <a:t>1</a:t>
            </a:fld>
            <a:endParaRPr lang="en-GB"/>
          </a:p>
        </p:txBody>
      </p:sp>
    </p:spTree>
    <p:extLst>
      <p:ext uri="{BB962C8B-B14F-4D97-AF65-F5344CB8AC3E}">
        <p14:creationId xmlns:p14="http://schemas.microsoft.com/office/powerpoint/2010/main" val="1321647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following areas are going to be covered today. Please bear in mind that the GDPR is a lengthy document so we are really only covering a selection of the main points. </a:t>
            </a:r>
          </a:p>
        </p:txBody>
      </p:sp>
      <p:sp>
        <p:nvSpPr>
          <p:cNvPr id="4" name="Slide Number Placeholder 3"/>
          <p:cNvSpPr>
            <a:spLocks noGrp="1"/>
          </p:cNvSpPr>
          <p:nvPr>
            <p:ph type="sldNum" sz="quarter" idx="10"/>
          </p:nvPr>
        </p:nvSpPr>
        <p:spPr/>
        <p:txBody>
          <a:bodyPr/>
          <a:lstStyle/>
          <a:p>
            <a:fld id="{3F7CB91A-E68A-4013-89AA-BBD0967A2B48}" type="slidenum">
              <a:rPr lang="en-GB" smtClean="0"/>
              <a:t>2</a:t>
            </a:fld>
            <a:endParaRPr lang="en-GB"/>
          </a:p>
        </p:txBody>
      </p:sp>
    </p:spTree>
    <p:extLst>
      <p:ext uri="{BB962C8B-B14F-4D97-AF65-F5344CB8AC3E}">
        <p14:creationId xmlns:p14="http://schemas.microsoft.com/office/powerpoint/2010/main" val="1097841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GDPR is possibly one of the most significant pieces of legislation to come out of the European Commission in many years and was subject to a considerable amount of debate prior to its publication in 2016. It is different to the previous Directive in that it is a Regulation. This means that it became law in all of the member states of the EU at the same time. This contrasts with the previous Directive which required individual member states to create their own laws to implement it, leading to some variation across members. The objective of the GDPR is not only to protect EU citizens’ personal data but also to smooth the flow of data between countries, so aiding commerce.</a:t>
            </a:r>
          </a:p>
          <a:p>
            <a:endParaRPr lang="en-GB" dirty="0"/>
          </a:p>
          <a:p>
            <a:r>
              <a:rPr lang="en-GB" dirty="0"/>
              <a:t>The 25</a:t>
            </a:r>
            <a:r>
              <a:rPr lang="en-GB" baseline="30000" dirty="0"/>
              <a:t>th</a:t>
            </a:r>
            <a:r>
              <a:rPr lang="en-GB" dirty="0"/>
              <a:t> May 2018 was the key date by which we must be compliant with the GDPR if we collect and process the personal data of EU citizens, whether or not our organisation is based within the EU. A major change to previous legislation is the requirement to notify a supervisory authority of a personal data breach where there is a risk to the rights and freedoms of data subjects. Note that this may not apply to all such breaches and we need to be clear about when we must notify and when we are not compelled to.</a:t>
            </a:r>
          </a:p>
          <a:p>
            <a:endParaRPr lang="en-GB" dirty="0"/>
          </a:p>
          <a:p>
            <a:r>
              <a:rPr lang="en-GB" dirty="0"/>
              <a:t>Fines for non-compliance are increased to a maximum of 4% of global turnover. Actual penalties will depend on a number of factors including the cause and size of the breach, the controls in place and the degree of co-operation with the supervisory authority.</a:t>
            </a:r>
          </a:p>
          <a:p>
            <a:endParaRPr lang="en-GB" dirty="0"/>
          </a:p>
          <a:p>
            <a:r>
              <a:rPr lang="en-GB" dirty="0"/>
              <a:t>Of the 99 articles of the GDPR, around two thirds are concerned with higher-level issues such as the setting up and operation of  supervisory authorities, certification schemes and relationship with existing EU law. So we only really need to concern ourselves with the remaining third of the articles.</a:t>
            </a:r>
          </a:p>
        </p:txBody>
      </p:sp>
      <p:sp>
        <p:nvSpPr>
          <p:cNvPr id="4" name="Slide Number Placeholder 3"/>
          <p:cNvSpPr>
            <a:spLocks noGrp="1"/>
          </p:cNvSpPr>
          <p:nvPr>
            <p:ph type="sldNum" sz="quarter" idx="10"/>
          </p:nvPr>
        </p:nvSpPr>
        <p:spPr/>
        <p:txBody>
          <a:bodyPr/>
          <a:lstStyle/>
          <a:p>
            <a:fld id="{3F7CB91A-E68A-4013-89AA-BBD0967A2B48}" type="slidenum">
              <a:rPr lang="en-GB" smtClean="0"/>
              <a:t>3</a:t>
            </a:fld>
            <a:endParaRPr lang="en-GB"/>
          </a:p>
        </p:txBody>
      </p:sp>
    </p:spTree>
    <p:extLst>
      <p:ext uri="{BB962C8B-B14F-4D97-AF65-F5344CB8AC3E}">
        <p14:creationId xmlns:p14="http://schemas.microsoft.com/office/powerpoint/2010/main" val="2297934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A fundamental question that will underpin our work on the GDPR is “what exactly is personal data?”. Basically we’re talking about data about </a:t>
            </a:r>
            <a:r>
              <a:rPr lang="en-GB" b="1" dirty="0"/>
              <a:t>people; </a:t>
            </a:r>
            <a:r>
              <a:rPr lang="en-GB" b="0" dirty="0"/>
              <a:t>not corporations or things, and they have to be living. The principle of personal data is that it is owned by the person it refers to and, as we will see later, they have rights over it.</a:t>
            </a:r>
          </a:p>
        </p:txBody>
      </p:sp>
      <p:sp>
        <p:nvSpPr>
          <p:cNvPr id="4" name="Slide Number Placeholder 3"/>
          <p:cNvSpPr>
            <a:spLocks noGrp="1"/>
          </p:cNvSpPr>
          <p:nvPr>
            <p:ph type="sldNum" sz="quarter" idx="10"/>
          </p:nvPr>
        </p:nvSpPr>
        <p:spPr/>
        <p:txBody>
          <a:bodyPr/>
          <a:lstStyle/>
          <a:p>
            <a:fld id="{3F7CB91A-E68A-4013-89AA-BBD0967A2B48}" type="slidenum">
              <a:rPr lang="en-GB" smtClean="0"/>
              <a:t>4</a:t>
            </a:fld>
            <a:endParaRPr lang="en-GB"/>
          </a:p>
        </p:txBody>
      </p:sp>
    </p:spTree>
    <p:extLst>
      <p:ext uri="{BB962C8B-B14F-4D97-AF65-F5344CB8AC3E}">
        <p14:creationId xmlns:p14="http://schemas.microsoft.com/office/powerpoint/2010/main" val="1660516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If we store personal data and do anything with it, we are processing it. It has to be in some form of filing system or organised in some way, and there are various exceptions to rule out individuals such as a householder employing a nanny.</a:t>
            </a:r>
          </a:p>
        </p:txBody>
      </p:sp>
      <p:sp>
        <p:nvSpPr>
          <p:cNvPr id="4" name="Slide Number Placeholder 3"/>
          <p:cNvSpPr>
            <a:spLocks noGrp="1"/>
          </p:cNvSpPr>
          <p:nvPr>
            <p:ph type="sldNum" sz="quarter" idx="10"/>
          </p:nvPr>
        </p:nvSpPr>
        <p:spPr/>
        <p:txBody>
          <a:bodyPr/>
          <a:lstStyle/>
          <a:p>
            <a:fld id="{3F7CB91A-E68A-4013-89AA-BBD0967A2B48}" type="slidenum">
              <a:rPr lang="en-GB" smtClean="0"/>
              <a:t>5</a:t>
            </a:fld>
            <a:endParaRPr lang="en-GB"/>
          </a:p>
        </p:txBody>
      </p:sp>
    </p:spTree>
    <p:extLst>
      <p:ext uri="{BB962C8B-B14F-4D97-AF65-F5344CB8AC3E}">
        <p14:creationId xmlns:p14="http://schemas.microsoft.com/office/powerpoint/2010/main" val="759097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We are a controller if we decide what personal data to collect and what we are going to do with it, even if we actually get another party to physically do the processing. If we co-operate with another party in collecting the data and deciding what to do with it, we may be a Joint Controller.</a:t>
            </a:r>
          </a:p>
        </p:txBody>
      </p:sp>
      <p:sp>
        <p:nvSpPr>
          <p:cNvPr id="4" name="Slide Number Placeholder 3"/>
          <p:cNvSpPr>
            <a:spLocks noGrp="1"/>
          </p:cNvSpPr>
          <p:nvPr>
            <p:ph type="sldNum" sz="quarter" idx="10"/>
          </p:nvPr>
        </p:nvSpPr>
        <p:spPr/>
        <p:txBody>
          <a:bodyPr/>
          <a:lstStyle/>
          <a:p>
            <a:fld id="{3F7CB91A-E68A-4013-89AA-BBD0967A2B48}" type="slidenum">
              <a:rPr lang="en-GB" smtClean="0"/>
              <a:t>6</a:t>
            </a:fld>
            <a:endParaRPr lang="en-GB"/>
          </a:p>
        </p:txBody>
      </p:sp>
    </p:spTree>
    <p:extLst>
      <p:ext uri="{BB962C8B-B14F-4D97-AF65-F5344CB8AC3E}">
        <p14:creationId xmlns:p14="http://schemas.microsoft.com/office/powerpoint/2010/main" val="3320233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A processor performs a role under the direction of a controller and can only do what the controller dictates. An example would be a cloud service provider who provides the facilities for an organisation to collect data from their customers; the organisation is the controller and the cloud service provider is the processor.</a:t>
            </a:r>
          </a:p>
        </p:txBody>
      </p:sp>
      <p:sp>
        <p:nvSpPr>
          <p:cNvPr id="4" name="Slide Number Placeholder 3"/>
          <p:cNvSpPr>
            <a:spLocks noGrp="1"/>
          </p:cNvSpPr>
          <p:nvPr>
            <p:ph type="sldNum" sz="quarter" idx="10"/>
          </p:nvPr>
        </p:nvSpPr>
        <p:spPr/>
        <p:txBody>
          <a:bodyPr/>
          <a:lstStyle/>
          <a:p>
            <a:fld id="{3F7CB91A-E68A-4013-89AA-BBD0967A2B48}" type="slidenum">
              <a:rPr lang="en-GB" smtClean="0"/>
              <a:t>7</a:t>
            </a:fld>
            <a:endParaRPr lang="en-GB"/>
          </a:p>
        </p:txBody>
      </p:sp>
    </p:spTree>
    <p:extLst>
      <p:ext uri="{BB962C8B-B14F-4D97-AF65-F5344CB8AC3E}">
        <p14:creationId xmlns:p14="http://schemas.microsoft.com/office/powerpoint/2010/main" val="1848318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When collecting and processing personal data we must abide by the six principles shown on the slide:</a:t>
            </a:r>
          </a:p>
          <a:p>
            <a:endParaRPr lang="en-GB" dirty="0"/>
          </a:p>
          <a:p>
            <a:pPr marL="228600" indent="-228600">
              <a:buAutoNum type="arabicPeriod"/>
            </a:pPr>
            <a:r>
              <a:rPr lang="en-GB" dirty="0"/>
              <a:t>We must have a lawful reason for collecting the personal data and must do it in a fair and transparent way</a:t>
            </a:r>
          </a:p>
          <a:p>
            <a:pPr marL="228600" indent="-228600">
              <a:buAutoNum type="arabicPeriod"/>
            </a:pPr>
            <a:r>
              <a:rPr lang="en-GB" dirty="0"/>
              <a:t>We must only use the data for the reason we collected it</a:t>
            </a:r>
          </a:p>
          <a:p>
            <a:pPr marL="228600" indent="-228600">
              <a:buAutoNum type="arabicPeriod"/>
            </a:pPr>
            <a:r>
              <a:rPr lang="en-GB" dirty="0"/>
              <a:t>We mustn’t collect any more data than we need</a:t>
            </a:r>
          </a:p>
          <a:p>
            <a:pPr marL="228600" indent="-228600">
              <a:buAutoNum type="arabicPeriod"/>
            </a:pPr>
            <a:r>
              <a:rPr lang="en-GB" dirty="0"/>
              <a:t>It has to be accurate</a:t>
            </a:r>
          </a:p>
          <a:p>
            <a:pPr marL="228600" indent="-228600">
              <a:buAutoNum type="arabicPeriod"/>
            </a:pPr>
            <a:r>
              <a:rPr lang="en-GB" dirty="0"/>
              <a:t>We can’t keep it any longer than we need it for</a:t>
            </a:r>
          </a:p>
          <a:p>
            <a:pPr marL="228600" indent="-228600">
              <a:buAutoNum type="arabicPeriod"/>
            </a:pPr>
            <a:r>
              <a:rPr lang="en-GB" dirty="0"/>
              <a:t>We must protect the personal data</a:t>
            </a:r>
          </a:p>
          <a:p>
            <a:pPr marL="228600" indent="-228600">
              <a:buAutoNum type="arabicPeriod"/>
            </a:pPr>
            <a:endParaRPr lang="en-GB" dirty="0"/>
          </a:p>
          <a:p>
            <a:pPr marL="0" indent="0">
              <a:buNone/>
            </a:pPr>
            <a:r>
              <a:rPr lang="en-GB" dirty="0"/>
              <a:t>The accountability principle maintains that we are responsible for making sure that 1-6 happen.</a:t>
            </a:r>
          </a:p>
          <a:p>
            <a:pPr marL="228600" indent="-228600">
              <a:buAutoNum type="arabicPeriod"/>
            </a:pPr>
            <a:endParaRPr lang="en-GB" dirty="0"/>
          </a:p>
        </p:txBody>
      </p:sp>
      <p:sp>
        <p:nvSpPr>
          <p:cNvPr id="4" name="Slide Number Placeholder 3"/>
          <p:cNvSpPr>
            <a:spLocks noGrp="1"/>
          </p:cNvSpPr>
          <p:nvPr>
            <p:ph type="sldNum" sz="quarter" idx="10"/>
          </p:nvPr>
        </p:nvSpPr>
        <p:spPr/>
        <p:txBody>
          <a:bodyPr/>
          <a:lstStyle/>
          <a:p>
            <a:fld id="{3F7CB91A-E68A-4013-89AA-BBD0967A2B48}" type="slidenum">
              <a:rPr lang="en-GB" smtClean="0"/>
              <a:t>8</a:t>
            </a:fld>
            <a:endParaRPr lang="en-GB"/>
          </a:p>
        </p:txBody>
      </p:sp>
    </p:spTree>
    <p:extLst>
      <p:ext uri="{BB962C8B-B14F-4D97-AF65-F5344CB8AC3E}">
        <p14:creationId xmlns:p14="http://schemas.microsoft.com/office/powerpoint/2010/main" val="4120453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data subject has a number of rights over their personal data and as an organisation we must ensure that we provide the mechanisms to allow them to exercise these rights. These include:</a:t>
            </a:r>
          </a:p>
          <a:p>
            <a:endParaRPr lang="en-GB" dirty="0"/>
          </a:p>
          <a:p>
            <a:pPr marL="228600" indent="-228600">
              <a:buAutoNum type="arabicPeriod"/>
            </a:pPr>
            <a:r>
              <a:rPr lang="en-GB" dirty="0"/>
              <a:t>Telling them clearly what data we will collect and what we will do with them</a:t>
            </a:r>
          </a:p>
          <a:p>
            <a:pPr marL="228600" indent="-228600">
              <a:buAutoNum type="arabicPeriod"/>
            </a:pPr>
            <a:r>
              <a:rPr lang="en-GB" dirty="0"/>
              <a:t>Allowing them to see their data after we have collected them</a:t>
            </a:r>
          </a:p>
          <a:p>
            <a:pPr marL="228600" indent="-228600">
              <a:buAutoNum type="arabicPeriod"/>
            </a:pPr>
            <a:r>
              <a:rPr lang="en-GB" dirty="0"/>
              <a:t>Changing the personal data if it’s wrong</a:t>
            </a:r>
          </a:p>
          <a:p>
            <a:pPr marL="228600" indent="-228600">
              <a:buAutoNum type="arabicPeriod"/>
            </a:pPr>
            <a:r>
              <a:rPr lang="en-GB" dirty="0"/>
              <a:t>Removing them if we have no legal right to hold them</a:t>
            </a:r>
          </a:p>
          <a:p>
            <a:pPr marL="228600" indent="-228600">
              <a:buAutoNum type="arabicPeriod"/>
            </a:pPr>
            <a:r>
              <a:rPr lang="en-GB" dirty="0"/>
              <a:t>Not processing them if the data subject doesn’t want us to</a:t>
            </a:r>
          </a:p>
          <a:p>
            <a:pPr marL="228600" indent="-228600">
              <a:buAutoNum type="arabicPeriod"/>
            </a:pPr>
            <a:r>
              <a:rPr lang="en-GB" dirty="0"/>
              <a:t>Telling other processors about the data subjects wishes to get data corrected or erased</a:t>
            </a:r>
          </a:p>
          <a:p>
            <a:pPr marL="228600" indent="-228600">
              <a:buAutoNum type="arabicPeriod"/>
            </a:pPr>
            <a:r>
              <a:rPr lang="en-GB" dirty="0"/>
              <a:t>Letting the data subject take their data away</a:t>
            </a:r>
          </a:p>
          <a:p>
            <a:pPr marL="228600" indent="-228600">
              <a:buAutoNum type="arabicPeriod"/>
            </a:pPr>
            <a:r>
              <a:rPr lang="en-GB" dirty="0"/>
              <a:t>Taking account of objections to what we hold and do with their data</a:t>
            </a:r>
          </a:p>
          <a:p>
            <a:pPr marL="228600" indent="-228600">
              <a:buAutoNum type="arabicPeriod"/>
            </a:pPr>
            <a:r>
              <a:rPr lang="en-GB" dirty="0"/>
              <a:t>Allowing a way to ask that a human being intervene instead of an algorithm when decisions are made</a:t>
            </a:r>
          </a:p>
          <a:p>
            <a:pPr marL="228600" indent="-228600">
              <a:buAutoNum type="arabicPeriod"/>
            </a:pPr>
            <a:endParaRPr lang="en-GB" dirty="0"/>
          </a:p>
          <a:p>
            <a:pPr marL="0" indent="0">
              <a:buNone/>
            </a:pPr>
            <a:r>
              <a:rPr lang="en-GB" dirty="0"/>
              <a:t>We need to consider the best way to provide these rights to the data subject so that they can be done in a timely way and without excessive cost to either party.</a:t>
            </a:r>
          </a:p>
        </p:txBody>
      </p:sp>
      <p:sp>
        <p:nvSpPr>
          <p:cNvPr id="4" name="Slide Number Placeholder 3"/>
          <p:cNvSpPr>
            <a:spLocks noGrp="1"/>
          </p:cNvSpPr>
          <p:nvPr>
            <p:ph type="sldNum" sz="quarter" idx="10"/>
          </p:nvPr>
        </p:nvSpPr>
        <p:spPr/>
        <p:txBody>
          <a:bodyPr/>
          <a:lstStyle/>
          <a:p>
            <a:fld id="{3F7CB91A-E68A-4013-89AA-BBD0967A2B48}" type="slidenum">
              <a:rPr lang="en-GB" smtClean="0"/>
              <a:t>9</a:t>
            </a:fld>
            <a:endParaRPr lang="en-GB"/>
          </a:p>
        </p:txBody>
      </p:sp>
    </p:spTree>
    <p:extLst>
      <p:ext uri="{BB962C8B-B14F-4D97-AF65-F5344CB8AC3E}">
        <p14:creationId xmlns:p14="http://schemas.microsoft.com/office/powerpoint/2010/main" val="3997472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We may or may not need to appoint a data protection officer, depending on the data we process and the type of organisation we are. If we do need one, there are various options for providing the resource, but they must remain independent and not be unduly influenced by our organisation’s management. If we have the right person with the right skills, they will be a valuable reference resource and will make the process of compliance easier.</a:t>
            </a:r>
          </a:p>
        </p:txBody>
      </p:sp>
      <p:sp>
        <p:nvSpPr>
          <p:cNvPr id="4" name="Slide Number Placeholder 3"/>
          <p:cNvSpPr>
            <a:spLocks noGrp="1"/>
          </p:cNvSpPr>
          <p:nvPr>
            <p:ph type="sldNum" sz="quarter" idx="10"/>
          </p:nvPr>
        </p:nvSpPr>
        <p:spPr/>
        <p:txBody>
          <a:bodyPr/>
          <a:lstStyle/>
          <a:p>
            <a:fld id="{3F7CB91A-E68A-4013-89AA-BBD0967A2B48}" type="slidenum">
              <a:rPr lang="en-GB" smtClean="0"/>
              <a:t>10</a:t>
            </a:fld>
            <a:endParaRPr lang="en-GB"/>
          </a:p>
        </p:txBody>
      </p:sp>
    </p:spTree>
    <p:extLst>
      <p:ext uri="{BB962C8B-B14F-4D97-AF65-F5344CB8AC3E}">
        <p14:creationId xmlns:p14="http://schemas.microsoft.com/office/powerpoint/2010/main" val="2868669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GDPR is very specific about the fact that there must be a contract where personal data is processed, and what needs to be included in it. This may mean that we have to put contracts in place where there currently are none, and that all existing contracts that involve personal data will need to be changed.</a:t>
            </a:r>
          </a:p>
        </p:txBody>
      </p:sp>
      <p:sp>
        <p:nvSpPr>
          <p:cNvPr id="4" name="Slide Number Placeholder 3"/>
          <p:cNvSpPr>
            <a:spLocks noGrp="1"/>
          </p:cNvSpPr>
          <p:nvPr>
            <p:ph type="sldNum" sz="quarter" idx="10"/>
          </p:nvPr>
        </p:nvSpPr>
        <p:spPr/>
        <p:txBody>
          <a:bodyPr/>
          <a:lstStyle/>
          <a:p>
            <a:fld id="{3F7CB91A-E68A-4013-89AA-BBD0967A2B48}" type="slidenum">
              <a:rPr lang="en-GB" smtClean="0"/>
              <a:t>11</a:t>
            </a:fld>
            <a:endParaRPr lang="en-GB"/>
          </a:p>
        </p:txBody>
      </p:sp>
    </p:spTree>
    <p:extLst>
      <p:ext uri="{BB962C8B-B14F-4D97-AF65-F5344CB8AC3E}">
        <p14:creationId xmlns:p14="http://schemas.microsoft.com/office/powerpoint/2010/main" val="1238442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When we decide to process personal data we will need to perform a data protection impact assessment (often also called a privacy impact assessment). This is to make sure that we are complying with the GDPR’s principles in terms of the data we collect and process and how we protect it.</a:t>
            </a:r>
          </a:p>
          <a:p>
            <a:endParaRPr lang="en-GB" dirty="0"/>
          </a:p>
          <a:p>
            <a:r>
              <a:rPr lang="en-GB" dirty="0"/>
              <a:t>A DPIA is basically a risk assessment and as part of it we may decide to consult with our supervisory authority and with the data subjects involved. </a:t>
            </a:r>
          </a:p>
        </p:txBody>
      </p:sp>
      <p:sp>
        <p:nvSpPr>
          <p:cNvPr id="4" name="Slide Number Placeholder 3"/>
          <p:cNvSpPr>
            <a:spLocks noGrp="1"/>
          </p:cNvSpPr>
          <p:nvPr>
            <p:ph type="sldNum" sz="quarter" idx="10"/>
          </p:nvPr>
        </p:nvSpPr>
        <p:spPr/>
        <p:txBody>
          <a:bodyPr/>
          <a:lstStyle/>
          <a:p>
            <a:fld id="{3F7CB91A-E68A-4013-89AA-BBD0967A2B48}" type="slidenum">
              <a:rPr lang="en-GB" smtClean="0"/>
              <a:t>12</a:t>
            </a:fld>
            <a:endParaRPr lang="en-GB"/>
          </a:p>
        </p:txBody>
      </p:sp>
    </p:spTree>
    <p:extLst>
      <p:ext uri="{BB962C8B-B14F-4D97-AF65-F5344CB8AC3E}">
        <p14:creationId xmlns:p14="http://schemas.microsoft.com/office/powerpoint/2010/main" val="3537096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Given that the idea of the GDPR is to protect the personal data of EU citizens, it makes sense that it requires adequate safeguards to be in place in every country that the data are moved to. This means that we need to understand where our data go and what the EU’s view of those countries is, in data protection terms. A transfer may still be allowed if it meets specific criteria and we need to be clear about how each individual transfer is covered in the context of the GDPR.</a:t>
            </a:r>
          </a:p>
        </p:txBody>
      </p:sp>
      <p:sp>
        <p:nvSpPr>
          <p:cNvPr id="4" name="Slide Number Placeholder 3"/>
          <p:cNvSpPr>
            <a:spLocks noGrp="1"/>
          </p:cNvSpPr>
          <p:nvPr>
            <p:ph type="sldNum" sz="quarter" idx="10"/>
          </p:nvPr>
        </p:nvSpPr>
        <p:spPr/>
        <p:txBody>
          <a:bodyPr/>
          <a:lstStyle/>
          <a:p>
            <a:fld id="{3F7CB91A-E68A-4013-89AA-BBD0967A2B48}" type="slidenum">
              <a:rPr lang="en-GB" smtClean="0"/>
              <a:t>13</a:t>
            </a:fld>
            <a:endParaRPr lang="en-GB"/>
          </a:p>
        </p:txBody>
      </p:sp>
    </p:spTree>
    <p:extLst>
      <p:ext uri="{BB962C8B-B14F-4D97-AF65-F5344CB8AC3E}">
        <p14:creationId xmlns:p14="http://schemas.microsoft.com/office/powerpoint/2010/main" val="978922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summary, the GDPR is law and the penalties of not complying with it are severe. We need to be clear about what personal data we collect, for what reason, and what we do with it. We also need to allow data subjects to exercise their rights. All of this will take time and resources to understand and implement. </a:t>
            </a:r>
          </a:p>
          <a:p>
            <a:endParaRPr lang="en-GB" dirty="0"/>
          </a:p>
        </p:txBody>
      </p:sp>
      <p:sp>
        <p:nvSpPr>
          <p:cNvPr id="4" name="Slide Number Placeholder 3"/>
          <p:cNvSpPr>
            <a:spLocks noGrp="1"/>
          </p:cNvSpPr>
          <p:nvPr>
            <p:ph type="sldNum" sz="quarter" idx="10"/>
          </p:nvPr>
        </p:nvSpPr>
        <p:spPr/>
        <p:txBody>
          <a:bodyPr/>
          <a:lstStyle/>
          <a:p>
            <a:fld id="{3F7CB91A-E68A-4013-89AA-BBD0967A2B48}" type="slidenum">
              <a:rPr lang="en-GB" smtClean="0"/>
              <a:t>14</a:t>
            </a:fld>
            <a:endParaRPr lang="en-GB"/>
          </a:p>
        </p:txBody>
      </p:sp>
    </p:spTree>
    <p:extLst>
      <p:ext uri="{BB962C8B-B14F-4D97-AF65-F5344CB8AC3E}">
        <p14:creationId xmlns:p14="http://schemas.microsoft.com/office/powerpoint/2010/main" val="706370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Questions may be recorded and used to enhance the presentation for the next time it is delivered.</a:t>
            </a:r>
          </a:p>
        </p:txBody>
      </p:sp>
      <p:sp>
        <p:nvSpPr>
          <p:cNvPr id="4" name="Slide Number Placeholder 3"/>
          <p:cNvSpPr>
            <a:spLocks noGrp="1"/>
          </p:cNvSpPr>
          <p:nvPr>
            <p:ph type="sldNum" sz="quarter" idx="10"/>
          </p:nvPr>
        </p:nvSpPr>
        <p:spPr/>
        <p:txBody>
          <a:bodyPr/>
          <a:lstStyle/>
          <a:p>
            <a:fld id="{3F7CB91A-E68A-4013-89AA-BBD0967A2B48}" type="slidenum">
              <a:rPr lang="en-GB" smtClean="0"/>
              <a:t>15</a:t>
            </a:fld>
            <a:endParaRPr lang="en-GB"/>
          </a:p>
        </p:txBody>
      </p:sp>
    </p:spTree>
    <p:extLst>
      <p:ext uri="{BB962C8B-B14F-4D97-AF65-F5344CB8AC3E}">
        <p14:creationId xmlns:p14="http://schemas.microsoft.com/office/powerpoint/2010/main" val="2891344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fontAlgn="auto">
              <a:spcBef>
                <a:spcPts val="0"/>
              </a:spcBef>
              <a:spcAft>
                <a:spcPts val="0"/>
              </a:spcAft>
              <a:defRPr>
                <a:solidFill>
                  <a:srgbClr val="DBF5F9">
                    <a:shade val="90000"/>
                  </a:srgbClr>
                </a:solidFill>
                <a:latin typeface="+mn-lt"/>
              </a:defRPr>
            </a:lvl1pPr>
          </a:lstStyle>
          <a:p>
            <a:pPr>
              <a:defRPr/>
            </a:pPr>
            <a:endParaRPr lang="en-US"/>
          </a:p>
        </p:txBody>
      </p:sp>
      <p:sp>
        <p:nvSpPr>
          <p:cNvPr id="5" name="Footer Placeholder 18"/>
          <p:cNvSpPr>
            <a:spLocks noGrp="1"/>
          </p:cNvSpPr>
          <p:nvPr>
            <p:ph type="ftr" sz="quarter" idx="11"/>
          </p:nvPr>
        </p:nvSpPr>
        <p:spPr/>
        <p:txBody>
          <a:bodyPr/>
          <a:lstStyle>
            <a:lvl1pPr fontAlgn="auto">
              <a:spcBef>
                <a:spcPts val="0"/>
              </a:spcBef>
              <a:spcAft>
                <a:spcPts val="0"/>
              </a:spcAft>
              <a:defRPr>
                <a:solidFill>
                  <a:srgbClr val="DBF5F9">
                    <a:shade val="90000"/>
                  </a:srgbClr>
                </a:solidFill>
                <a:latin typeface="+mn-lt"/>
              </a:defRPr>
            </a:lvl1pPr>
          </a:lstStyle>
          <a:p>
            <a:pPr>
              <a:defRPr/>
            </a:pPr>
            <a:r>
              <a:rPr lang="en-GB"/>
              <a:t>(c) Public IT Limited</a:t>
            </a:r>
            <a:endParaRPr lang="en-US"/>
          </a:p>
        </p:txBody>
      </p:sp>
      <p:sp>
        <p:nvSpPr>
          <p:cNvPr id="6" name="Slide Number Placeholder 26"/>
          <p:cNvSpPr>
            <a:spLocks noGrp="1"/>
          </p:cNvSpPr>
          <p:nvPr>
            <p:ph type="sldNum" sz="quarter" idx="12"/>
          </p:nvPr>
        </p:nvSpPr>
        <p:spPr/>
        <p:txBody>
          <a:bodyPr/>
          <a:lstStyle>
            <a:lvl1pPr fontAlgn="auto">
              <a:spcBef>
                <a:spcPts val="0"/>
              </a:spcBef>
              <a:spcAft>
                <a:spcPts val="0"/>
              </a:spcAft>
              <a:defRPr>
                <a:solidFill>
                  <a:srgbClr val="DBF5F9">
                    <a:shade val="90000"/>
                  </a:srgbClr>
                </a:solidFill>
                <a:latin typeface="+mn-lt"/>
              </a:defRPr>
            </a:lvl1pPr>
          </a:lstStyle>
          <a:p>
            <a:pPr>
              <a:defRPr/>
            </a:pPr>
            <a:fld id="{174053E0-CC06-42E1-A40F-26F01C7D723E}" type="slidenum">
              <a:rPr lang="en-US"/>
              <a:pPr>
                <a:defRPr/>
              </a:pPr>
              <a:t>‹#›</a:t>
            </a:fld>
            <a:endParaRPr lang="en-US"/>
          </a:p>
        </p:txBody>
      </p:sp>
    </p:spTree>
    <p:extLst>
      <p:ext uri="{BB962C8B-B14F-4D97-AF65-F5344CB8AC3E}">
        <p14:creationId xmlns:p14="http://schemas.microsoft.com/office/powerpoint/2010/main" val="10396311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86C82261-A946-46B9-8BD1-B2900C55ED35}" type="slidenum">
              <a:rPr lang="en-US"/>
              <a:pPr>
                <a:defRPr/>
              </a:pPr>
              <a:t>‹#›</a:t>
            </a:fld>
            <a:endParaRPr lang="en-US"/>
          </a:p>
        </p:txBody>
      </p:sp>
    </p:spTree>
    <p:extLst>
      <p:ext uri="{BB962C8B-B14F-4D97-AF65-F5344CB8AC3E}">
        <p14:creationId xmlns:p14="http://schemas.microsoft.com/office/powerpoint/2010/main" val="3326759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fontAlgn="auto">
              <a:spcBef>
                <a:spcPts val="0"/>
              </a:spcBef>
              <a:spcAft>
                <a:spcPts val="0"/>
              </a:spcAft>
              <a:defRPr>
                <a:solidFill>
                  <a:srgbClr val="DBF5F9">
                    <a:shade val="90000"/>
                  </a:srgbClr>
                </a:solidFill>
                <a:latin typeface="+mn-lt"/>
              </a:defRPr>
            </a:lvl1pPr>
          </a:lstStyle>
          <a:p>
            <a:pPr>
              <a:defRPr/>
            </a:pPr>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solidFill>
                  <a:srgbClr val="DBF5F9">
                    <a:shade val="90000"/>
                  </a:srgbClr>
                </a:solidFill>
                <a:latin typeface="+mn-lt"/>
              </a:defRPr>
            </a:lvl1pPr>
          </a:lstStyle>
          <a:p>
            <a:pPr>
              <a:defRPr/>
            </a:pPr>
            <a:r>
              <a:rPr lang="en-GB"/>
              <a:t>(c) Public IT Limited</a:t>
            </a:r>
            <a:endParaRPr lang="en-US"/>
          </a:p>
        </p:txBody>
      </p:sp>
      <p:sp>
        <p:nvSpPr>
          <p:cNvPr id="6" name="Slide Number Placeholder 5"/>
          <p:cNvSpPr>
            <a:spLocks noGrp="1"/>
          </p:cNvSpPr>
          <p:nvPr>
            <p:ph type="sldNum" sz="quarter" idx="12"/>
          </p:nvPr>
        </p:nvSpPr>
        <p:spPr/>
        <p:txBody>
          <a:bodyPr/>
          <a:lstStyle>
            <a:lvl1pPr fontAlgn="auto">
              <a:spcBef>
                <a:spcPts val="0"/>
              </a:spcBef>
              <a:spcAft>
                <a:spcPts val="0"/>
              </a:spcAft>
              <a:defRPr>
                <a:solidFill>
                  <a:srgbClr val="DBF5F9">
                    <a:shade val="90000"/>
                  </a:srgbClr>
                </a:solidFill>
                <a:latin typeface="+mn-lt"/>
              </a:defRPr>
            </a:lvl1pPr>
          </a:lstStyle>
          <a:p>
            <a:pPr>
              <a:defRPr/>
            </a:pPr>
            <a:fld id="{A18EB8E6-087A-4C06-9F47-AF91B67AAA23}" type="slidenum">
              <a:rPr lang="en-US"/>
              <a:pPr>
                <a:defRPr/>
              </a:pPr>
              <a:t>‹#›</a:t>
            </a:fld>
            <a:endParaRPr lang="en-US"/>
          </a:p>
        </p:txBody>
      </p:sp>
    </p:spTree>
    <p:extLst>
      <p:ext uri="{BB962C8B-B14F-4D97-AF65-F5344CB8AC3E}">
        <p14:creationId xmlns:p14="http://schemas.microsoft.com/office/powerpoint/2010/main" val="172146367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6"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7"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406D1F0D-5DEA-40AD-BFE0-08DA0962456B}" type="slidenum">
              <a:rPr lang="en-US"/>
              <a:pPr>
                <a:defRPr/>
              </a:pPr>
              <a:t>‹#›</a:t>
            </a:fld>
            <a:endParaRPr lang="en-US"/>
          </a:p>
        </p:txBody>
      </p:sp>
    </p:spTree>
    <p:extLst>
      <p:ext uri="{BB962C8B-B14F-4D97-AF65-F5344CB8AC3E}">
        <p14:creationId xmlns:p14="http://schemas.microsoft.com/office/powerpoint/2010/main" val="101123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8"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9"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BCD9DDA-DBC9-4275-A908-A97C505D7F98}" type="slidenum">
              <a:rPr lang="en-US"/>
              <a:pPr>
                <a:defRPr/>
              </a:pPr>
              <a:t>‹#›</a:t>
            </a:fld>
            <a:endParaRPr lang="en-US"/>
          </a:p>
        </p:txBody>
      </p:sp>
    </p:spTree>
    <p:extLst>
      <p:ext uri="{BB962C8B-B14F-4D97-AF65-F5344CB8AC3E}">
        <p14:creationId xmlns:p14="http://schemas.microsoft.com/office/powerpoint/2010/main" val="4177215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4"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5"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37F6A813-5E33-4022-9582-F7BDAAB923D4}" type="slidenum">
              <a:rPr lang="en-US"/>
              <a:pPr>
                <a:defRPr/>
              </a:pPr>
              <a:t>‹#›</a:t>
            </a:fld>
            <a:endParaRPr lang="en-US"/>
          </a:p>
        </p:txBody>
      </p:sp>
    </p:spTree>
    <p:extLst>
      <p:ext uri="{BB962C8B-B14F-4D97-AF65-F5344CB8AC3E}">
        <p14:creationId xmlns:p14="http://schemas.microsoft.com/office/powerpoint/2010/main" val="1365138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3"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4"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E19B362-6F58-4376-B76A-ED945AA68620}" type="slidenum">
              <a:rPr lang="en-US"/>
              <a:pPr>
                <a:defRPr/>
              </a:pPr>
              <a:t>‹#›</a:t>
            </a:fld>
            <a:endParaRPr lang="en-US"/>
          </a:p>
        </p:txBody>
      </p:sp>
    </p:spTree>
    <p:extLst>
      <p:ext uri="{BB962C8B-B14F-4D97-AF65-F5344CB8AC3E}">
        <p14:creationId xmlns:p14="http://schemas.microsoft.com/office/powerpoint/2010/main" val="100947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6"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7"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A7EEE483-3709-4738-96AA-DB53D76BC4CA}" type="slidenum">
              <a:rPr lang="en-US"/>
              <a:pPr>
                <a:defRPr/>
              </a:pPr>
              <a:t>‹#›</a:t>
            </a:fld>
            <a:endParaRPr lang="en-US"/>
          </a:p>
        </p:txBody>
      </p:sp>
    </p:spTree>
    <p:extLst>
      <p:ext uri="{BB962C8B-B14F-4D97-AF65-F5344CB8AC3E}">
        <p14:creationId xmlns:p14="http://schemas.microsoft.com/office/powerpoint/2010/main" val="266018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2400">
              <a:solidFill>
                <a:prstClr val="white"/>
              </a:solidFill>
            </a:endParaRPr>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2400">
              <a:solidFill>
                <a:prstClr val="white"/>
              </a:solidFill>
            </a:endParaRPr>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10" name="Footer Placeholder 5"/>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fontAlgn="auto">
              <a:spcBef>
                <a:spcPts val="0"/>
              </a:spcBef>
              <a:spcAft>
                <a:spcPts val="0"/>
              </a:spcAft>
              <a:defRPr>
                <a:latin typeface="+mn-lt"/>
              </a:defRPr>
            </a:lvl1pPr>
          </a:lstStyle>
          <a:p>
            <a:pPr>
              <a:defRPr/>
            </a:pPr>
            <a:fld id="{A5FA681F-B83A-4CD6-B0D3-2D45B849C742}" type="slidenum">
              <a:rPr lang="en-US"/>
              <a:pPr>
                <a:defRPr/>
              </a:pPr>
              <a:t>‹#›</a:t>
            </a:fld>
            <a:endParaRPr lang="en-US"/>
          </a:p>
        </p:txBody>
      </p:sp>
    </p:spTree>
    <p:extLst>
      <p:ext uri="{BB962C8B-B14F-4D97-AF65-F5344CB8AC3E}">
        <p14:creationId xmlns:p14="http://schemas.microsoft.com/office/powerpoint/2010/main" val="4201671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071AE01-5008-4016-BEE3-58A65C5DCFF7}" type="slidenum">
              <a:rPr lang="en-US"/>
              <a:pPr>
                <a:defRPr/>
              </a:pPr>
              <a:t>‹#›</a:t>
            </a:fld>
            <a:endParaRPr lang="en-US"/>
          </a:p>
        </p:txBody>
      </p:sp>
    </p:spTree>
    <p:extLst>
      <p:ext uri="{BB962C8B-B14F-4D97-AF65-F5344CB8AC3E}">
        <p14:creationId xmlns:p14="http://schemas.microsoft.com/office/powerpoint/2010/main" val="98721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7216F04B-2E82-414C-A239-304ED9DAFA0C}" type="slidenum">
              <a:rPr lang="en-US"/>
              <a:pPr>
                <a:defRPr/>
              </a:pPr>
              <a:t>‹#›</a:t>
            </a:fld>
            <a:endParaRPr lang="en-US"/>
          </a:p>
        </p:txBody>
      </p:sp>
    </p:spTree>
    <p:extLst>
      <p:ext uri="{BB962C8B-B14F-4D97-AF65-F5344CB8AC3E}">
        <p14:creationId xmlns:p14="http://schemas.microsoft.com/office/powerpoint/2010/main" val="2147683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rgbClr val="04617B">
                    <a:shade val="90000"/>
                  </a:srgbClr>
                </a:solidFill>
                <a:latin typeface="Times New Roman" pitchFamily="18" charset="0"/>
                <a:cs typeface="+mn-cs"/>
              </a:defRPr>
            </a:lvl1pPr>
          </a:lstStyle>
          <a:p>
            <a:pPr>
              <a:defRPr/>
            </a:pPr>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rgbClr val="04617B">
                    <a:shade val="90000"/>
                  </a:srgbClr>
                </a:solidFill>
                <a:latin typeface="Times New Roman" pitchFamily="18" charset="0"/>
                <a:cs typeface="+mn-cs"/>
              </a:defRPr>
            </a:lvl1pPr>
          </a:lstStyle>
          <a:p>
            <a:pPr>
              <a:defRPr/>
            </a:pPr>
            <a:r>
              <a:rPr lang="en-GB"/>
              <a:t>(c) Public IT Limited</a:t>
            </a: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rgbClr val="04617B">
                    <a:shade val="90000"/>
                  </a:srgbClr>
                </a:solidFill>
                <a:latin typeface="Times New Roman" pitchFamily="18" charset="0"/>
                <a:cs typeface="+mn-cs"/>
              </a:defRPr>
            </a:lvl1pPr>
          </a:lstStyle>
          <a:p>
            <a:pPr>
              <a:defRPr/>
            </a:pPr>
            <a:fld id="{4FC3970E-270E-47E7-B6B7-78D88A610954}" type="slidenum">
              <a:rPr lang="en-US"/>
              <a:pPr>
                <a:defRPr/>
              </a:pPr>
              <a:t>‹#›</a:t>
            </a:fld>
            <a:endParaRPr 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0" hangingPunct="0">
                <a:defRPr/>
              </a:pPr>
              <a:endParaRPr lang="en-US" sz="2400">
                <a:solidFill>
                  <a:prstClr val="black"/>
                </a:solidFill>
                <a:latin typeface="Times New Roman" pitchFamily="18" charset="0"/>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0" hangingPunct="0">
                <a:defRPr/>
              </a:pPr>
              <a:endParaRPr lang="en-US" sz="2400">
                <a:solidFill>
                  <a:prstClr val="black"/>
                </a:solidFill>
                <a:latin typeface="Times New Roman" pitchFamily="18" charset="0"/>
                <a:cs typeface="+mn-cs"/>
              </a:endParaRPr>
            </a:p>
          </p:txBody>
        </p:sp>
      </p:grpSp>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ubtitle 2"/>
          <p:cNvSpPr>
            <a:spLocks noGrp="1"/>
          </p:cNvSpPr>
          <p:nvPr>
            <p:ph idx="4294967295"/>
          </p:nvPr>
        </p:nvSpPr>
        <p:spPr>
          <a:xfrm>
            <a:off x="1691680" y="2564904"/>
            <a:ext cx="5720834" cy="1205805"/>
          </a:xfrm>
        </p:spPr>
        <p:txBody>
          <a:bodyPr/>
          <a:lstStyle/>
          <a:p>
            <a:pPr marL="0" marR="0" indent="0" algn="ctr">
              <a:buNone/>
            </a:pPr>
            <a:r>
              <a:rPr lang="en-GB" altLang="en-US" sz="4000" b="1" dirty="0">
                <a:latin typeface="Arial" charset="0"/>
                <a:cs typeface="Arial" charset="0"/>
              </a:rPr>
              <a:t>The EU General Data Protection Regulation (GDPR) 2016</a:t>
            </a:r>
          </a:p>
          <a:p>
            <a:pPr marL="0" marR="0" indent="0" algn="ctr">
              <a:buNone/>
            </a:pPr>
            <a:r>
              <a:rPr lang="en-GB" altLang="en-US" sz="4000" b="1" dirty="0">
                <a:latin typeface="Arial" charset="0"/>
                <a:cs typeface="Arial" charset="0"/>
              </a:rPr>
              <a:t>Introductory Briefing</a:t>
            </a: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3131840" y="1696228"/>
            <a:ext cx="2512060" cy="6518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68313" y="549275"/>
            <a:ext cx="8229600" cy="1143000"/>
          </a:xfrm>
        </p:spPr>
        <p:txBody>
          <a:bodyPr/>
          <a:lstStyle/>
          <a:p>
            <a:r>
              <a:rPr lang="en-GB" altLang="en-US"/>
              <a:t>Agenda</a:t>
            </a:r>
          </a:p>
        </p:txBody>
      </p:sp>
      <p:sp>
        <p:nvSpPr>
          <p:cNvPr id="14339" name="Content Placeholder 2"/>
          <p:cNvSpPr>
            <a:spLocks noGrp="1"/>
          </p:cNvSpPr>
          <p:nvPr>
            <p:ph idx="1"/>
          </p:nvPr>
        </p:nvSpPr>
        <p:spPr/>
        <p:txBody>
          <a:bodyPr/>
          <a:lstStyle/>
          <a:p>
            <a:r>
              <a:rPr lang="en-GB" altLang="en-US" dirty="0">
                <a:latin typeface="Arial" charset="0"/>
                <a:cs typeface="Arial" charset="0"/>
              </a:rPr>
              <a:t>What is the GDPR?</a:t>
            </a:r>
          </a:p>
          <a:p>
            <a:r>
              <a:rPr lang="en-GB" altLang="en-US" dirty="0">
                <a:latin typeface="Arial" charset="0"/>
                <a:cs typeface="Arial" charset="0"/>
              </a:rPr>
              <a:t>Key Terms</a:t>
            </a:r>
          </a:p>
          <a:p>
            <a:r>
              <a:rPr lang="en-GB" altLang="en-US" dirty="0">
                <a:latin typeface="Arial" charset="0"/>
                <a:cs typeface="Arial" charset="0"/>
              </a:rPr>
              <a:t>The 6 Privacy Principles</a:t>
            </a:r>
          </a:p>
          <a:p>
            <a:r>
              <a:rPr lang="en-GB" altLang="en-US" dirty="0">
                <a:latin typeface="Arial" charset="0"/>
                <a:cs typeface="Arial" charset="0"/>
              </a:rPr>
              <a:t>The Rights of the Data Subject</a:t>
            </a:r>
          </a:p>
          <a:p>
            <a:r>
              <a:rPr lang="en-GB" altLang="en-US" dirty="0">
                <a:latin typeface="Arial" charset="0"/>
                <a:cs typeface="Arial" charset="0"/>
              </a:rPr>
              <a:t>The Data Protection Officer</a:t>
            </a:r>
          </a:p>
          <a:p>
            <a:r>
              <a:rPr lang="en-GB" altLang="en-US" dirty="0">
                <a:latin typeface="Arial" charset="0"/>
                <a:cs typeface="Arial" charset="0"/>
              </a:rPr>
              <a:t>Data Protection Impact Assessments</a:t>
            </a:r>
          </a:p>
          <a:p>
            <a:r>
              <a:rPr lang="en-GB" altLang="en-US" dirty="0">
                <a:latin typeface="Arial" charset="0"/>
                <a:cs typeface="Arial" charset="0"/>
              </a:rPr>
              <a:t>International Data Transfers</a:t>
            </a:r>
          </a:p>
          <a:p>
            <a:r>
              <a:rPr lang="en-GB" altLang="en-US" dirty="0">
                <a:latin typeface="Arial" charset="0"/>
                <a:cs typeface="Arial" charset="0"/>
              </a:rPr>
              <a:t>Summary</a:t>
            </a:r>
          </a:p>
          <a:p>
            <a:r>
              <a:rPr lang="en-GB" altLang="en-US" dirty="0">
                <a:latin typeface="Arial" charset="0"/>
                <a:cs typeface="Arial" charset="0"/>
              </a:rPr>
              <a:t>Questions</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723106"/>
          </a:xfrm>
        </p:spPr>
        <p:txBody>
          <a:bodyPr/>
          <a:lstStyle/>
          <a:p>
            <a:r>
              <a:rPr lang="en-GB" sz="4000" dirty="0"/>
              <a:t>What is the GDPR?</a:t>
            </a:r>
          </a:p>
        </p:txBody>
      </p:sp>
      <p:sp>
        <p:nvSpPr>
          <p:cNvPr id="3" name="Content Placeholder 2"/>
          <p:cNvSpPr>
            <a:spLocks noGrp="1"/>
          </p:cNvSpPr>
          <p:nvPr>
            <p:ph idx="1"/>
          </p:nvPr>
        </p:nvSpPr>
        <p:spPr>
          <a:xfrm>
            <a:off x="467544" y="1700808"/>
            <a:ext cx="8229600" cy="4389437"/>
          </a:xfrm>
        </p:spPr>
        <p:txBody>
          <a:bodyPr/>
          <a:lstStyle/>
          <a:p>
            <a:r>
              <a:rPr lang="en-GB" dirty="0">
                <a:latin typeface="Arial" panose="020B0604020202020204" pitchFamily="34" charset="0"/>
                <a:cs typeface="Arial" panose="020B0604020202020204" pitchFamily="34" charset="0"/>
              </a:rPr>
              <a:t>A Regulation of the European Union dealing with the protection of the personal data of EU citizens</a:t>
            </a:r>
          </a:p>
          <a:p>
            <a:r>
              <a:rPr lang="en-GB" dirty="0">
                <a:latin typeface="Arial" panose="020B0604020202020204" pitchFamily="34" charset="0"/>
                <a:cs typeface="Arial" panose="020B0604020202020204" pitchFamily="34" charset="0"/>
              </a:rPr>
              <a:t>Replaces the Data Protection Directive of 1995</a:t>
            </a:r>
          </a:p>
          <a:p>
            <a:r>
              <a:rPr lang="en-GB" dirty="0">
                <a:latin typeface="Arial" panose="020B0604020202020204" pitchFamily="34" charset="0"/>
                <a:cs typeface="Arial" panose="020B0604020202020204" pitchFamily="34" charset="0"/>
              </a:rPr>
              <a:t>GDPR became EU law on 25</a:t>
            </a:r>
            <a:r>
              <a:rPr lang="en-GB" baseline="30000" dirty="0">
                <a:latin typeface="Arial" panose="020B0604020202020204" pitchFamily="34" charset="0"/>
                <a:cs typeface="Arial" panose="020B0604020202020204" pitchFamily="34" charset="0"/>
              </a:rPr>
              <a:t>th</a:t>
            </a:r>
            <a:r>
              <a:rPr lang="en-GB" dirty="0">
                <a:latin typeface="Arial" panose="020B0604020202020204" pitchFamily="34" charset="0"/>
                <a:cs typeface="Arial" panose="020B0604020202020204" pitchFamily="34" charset="0"/>
              </a:rPr>
              <a:t> May 2018</a:t>
            </a:r>
          </a:p>
          <a:p>
            <a:r>
              <a:rPr lang="en-GB" dirty="0">
                <a:latin typeface="Arial" panose="020B0604020202020204" pitchFamily="34" charset="0"/>
                <a:cs typeface="Arial" panose="020B0604020202020204" pitchFamily="34" charset="0"/>
              </a:rPr>
              <a:t>Applies to organisations doing business with the EU</a:t>
            </a:r>
          </a:p>
          <a:p>
            <a:r>
              <a:rPr lang="en-GB" dirty="0">
                <a:latin typeface="Arial" panose="020B0604020202020204" pitchFamily="34" charset="0"/>
                <a:cs typeface="Arial" panose="020B0604020202020204" pitchFamily="34" charset="0"/>
              </a:rPr>
              <a:t>Mandatory breach notification</a:t>
            </a:r>
          </a:p>
          <a:p>
            <a:r>
              <a:rPr lang="en-GB" dirty="0">
                <a:latin typeface="Arial" panose="020B0604020202020204" pitchFamily="34" charset="0"/>
                <a:cs typeface="Arial" panose="020B0604020202020204" pitchFamily="34" charset="0"/>
              </a:rPr>
              <a:t>Fines of up to 4% of global turnover</a:t>
            </a:r>
          </a:p>
          <a:p>
            <a:r>
              <a:rPr lang="en-GB" dirty="0">
                <a:latin typeface="Arial" panose="020B0604020202020204" pitchFamily="34" charset="0"/>
                <a:cs typeface="Arial" panose="020B0604020202020204" pitchFamily="34" charset="0"/>
              </a:rPr>
              <a:t>GDPR consists of 173 recitals (guidance) and 99 articles (requirements)</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557797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a:t>
            </a:r>
          </a:p>
        </p:txBody>
      </p:sp>
      <p:sp>
        <p:nvSpPr>
          <p:cNvPr id="3" name="Content Placeholder 2"/>
          <p:cNvSpPr>
            <a:spLocks noGrp="1"/>
          </p:cNvSpPr>
          <p:nvPr>
            <p:ph idx="1"/>
          </p:nvPr>
        </p:nvSpPr>
        <p:spPr/>
        <p:txBody>
          <a:bodyPr/>
          <a:lstStyle/>
          <a:p>
            <a:r>
              <a:rPr lang="en-GB" i="1" dirty="0"/>
              <a:t>Personal data </a:t>
            </a:r>
            <a:r>
              <a:rPr lang="en-GB" dirty="0"/>
              <a:t>means…</a:t>
            </a:r>
          </a:p>
          <a:p>
            <a:endParaRPr lang="en-GB" dirty="0"/>
          </a:p>
          <a:p>
            <a:pPr marL="0" indent="0">
              <a:buNone/>
            </a:pPr>
            <a:r>
              <a:rPr lang="en-GB" dirty="0"/>
              <a:t>any information relating to an identified or identifiable natural person (‘data subject’)</a:t>
            </a:r>
          </a:p>
          <a:p>
            <a:endParaRPr lang="en-GB" dirty="0"/>
          </a:p>
          <a:p>
            <a:endParaRPr lang="en-GB"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871974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a:t>
            </a:r>
          </a:p>
        </p:txBody>
      </p:sp>
      <p:sp>
        <p:nvSpPr>
          <p:cNvPr id="3" name="Content Placeholder 2"/>
          <p:cNvSpPr>
            <a:spLocks noGrp="1"/>
          </p:cNvSpPr>
          <p:nvPr>
            <p:ph idx="1"/>
          </p:nvPr>
        </p:nvSpPr>
        <p:spPr/>
        <p:txBody>
          <a:bodyPr/>
          <a:lstStyle/>
          <a:p>
            <a:r>
              <a:rPr lang="en-GB" i="1" dirty="0"/>
              <a:t>Processing</a:t>
            </a:r>
            <a:r>
              <a:rPr lang="en-GB" dirty="0"/>
              <a:t> means…</a:t>
            </a:r>
          </a:p>
          <a:p>
            <a:endParaRPr lang="en-GB" dirty="0"/>
          </a:p>
          <a:p>
            <a:pPr marL="0" indent="0">
              <a:buNone/>
            </a:pPr>
            <a:r>
              <a:rPr lang="en-GB" dirty="0"/>
              <a:t>any operation or set of operations which is performed on personal data or on sets of personal data, whether or not by automated means, such as collection, recording, organisation, structuring, storage, adaptation or alteration, retrieval, consultation, use, disclosure by transmission, dissemination or otherwise making available, alignment or combination, restriction, erasure or destruction</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4288019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a:t>
            </a:r>
          </a:p>
        </p:txBody>
      </p:sp>
      <p:sp>
        <p:nvSpPr>
          <p:cNvPr id="3" name="Content Placeholder 2"/>
          <p:cNvSpPr>
            <a:spLocks noGrp="1"/>
          </p:cNvSpPr>
          <p:nvPr>
            <p:ph idx="1"/>
          </p:nvPr>
        </p:nvSpPr>
        <p:spPr/>
        <p:txBody>
          <a:bodyPr/>
          <a:lstStyle/>
          <a:p>
            <a:r>
              <a:rPr lang="en-GB" i="1" dirty="0"/>
              <a:t>Controller</a:t>
            </a:r>
            <a:r>
              <a:rPr lang="en-GB" dirty="0"/>
              <a:t> means…</a:t>
            </a:r>
          </a:p>
          <a:p>
            <a:endParaRPr lang="en-GB" dirty="0"/>
          </a:p>
          <a:p>
            <a:pPr marL="0" indent="0">
              <a:buNone/>
            </a:pPr>
            <a:r>
              <a:rPr lang="en-GB" dirty="0"/>
              <a:t>the natural or legal person, public authority, agency or other body which, alone or jointly with others, determines the purposes and means of the processing of personal data</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1077236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Terms</a:t>
            </a:r>
          </a:p>
        </p:txBody>
      </p:sp>
      <p:sp>
        <p:nvSpPr>
          <p:cNvPr id="3" name="Content Placeholder 2"/>
          <p:cNvSpPr>
            <a:spLocks noGrp="1"/>
          </p:cNvSpPr>
          <p:nvPr>
            <p:ph idx="1"/>
          </p:nvPr>
        </p:nvSpPr>
        <p:spPr/>
        <p:txBody>
          <a:bodyPr/>
          <a:lstStyle/>
          <a:p>
            <a:r>
              <a:rPr lang="en-GB" i="1" dirty="0"/>
              <a:t>Processor</a:t>
            </a:r>
            <a:r>
              <a:rPr lang="en-GB" dirty="0"/>
              <a:t> means…</a:t>
            </a:r>
          </a:p>
          <a:p>
            <a:endParaRPr lang="en-GB" dirty="0"/>
          </a:p>
          <a:p>
            <a:pPr marL="0" indent="0">
              <a:buNone/>
            </a:pPr>
            <a:r>
              <a:rPr lang="en-GB" dirty="0"/>
              <a:t>a natural or legal person, public authority, agency or other body which processes personal data on behalf of the controller</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626664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6 Privacy Principles</a:t>
            </a:r>
          </a:p>
        </p:txBody>
      </p:sp>
      <p:sp>
        <p:nvSpPr>
          <p:cNvPr id="3" name="Content Placeholder 2"/>
          <p:cNvSpPr>
            <a:spLocks noGrp="1"/>
          </p:cNvSpPr>
          <p:nvPr>
            <p:ph idx="1"/>
          </p:nvPr>
        </p:nvSpPr>
        <p:spPr/>
        <p:txBody>
          <a:bodyPr/>
          <a:lstStyle/>
          <a:p>
            <a:pPr marL="514350" indent="-514350">
              <a:buFont typeface="+mj-lt"/>
              <a:buAutoNum type="arabicPeriod"/>
            </a:pPr>
            <a:r>
              <a:rPr lang="en-GB" dirty="0">
                <a:latin typeface="Arial" panose="020B0604020202020204" pitchFamily="34" charset="0"/>
                <a:cs typeface="Arial" panose="020B0604020202020204" pitchFamily="34" charset="0"/>
              </a:rPr>
              <a:t>Lawfulness, fairness and transparency</a:t>
            </a:r>
          </a:p>
          <a:p>
            <a:pPr marL="514350" indent="-514350">
              <a:buFont typeface="+mj-lt"/>
              <a:buAutoNum type="arabicPeriod"/>
            </a:pPr>
            <a:r>
              <a:rPr lang="en-GB" dirty="0">
                <a:latin typeface="Arial" panose="020B0604020202020204" pitchFamily="34" charset="0"/>
                <a:cs typeface="Arial" panose="020B0604020202020204" pitchFamily="34" charset="0"/>
              </a:rPr>
              <a:t>Purpose limitation</a:t>
            </a:r>
          </a:p>
          <a:p>
            <a:pPr marL="514350" indent="-514350">
              <a:buFont typeface="+mj-lt"/>
              <a:buAutoNum type="arabicPeriod"/>
            </a:pPr>
            <a:r>
              <a:rPr lang="en-GB" dirty="0">
                <a:latin typeface="Arial" panose="020B0604020202020204" pitchFamily="34" charset="0"/>
                <a:cs typeface="Arial" panose="020B0604020202020204" pitchFamily="34" charset="0"/>
              </a:rPr>
              <a:t>Data minimisation</a:t>
            </a:r>
          </a:p>
          <a:p>
            <a:pPr marL="514350" indent="-514350">
              <a:buFont typeface="+mj-lt"/>
              <a:buAutoNum type="arabicPeriod"/>
            </a:pPr>
            <a:r>
              <a:rPr lang="en-GB" dirty="0">
                <a:latin typeface="Arial" panose="020B0604020202020204" pitchFamily="34" charset="0"/>
                <a:cs typeface="Arial" panose="020B0604020202020204" pitchFamily="34" charset="0"/>
              </a:rPr>
              <a:t>Accuracy </a:t>
            </a:r>
          </a:p>
          <a:p>
            <a:pPr marL="514350" indent="-514350">
              <a:buFont typeface="+mj-lt"/>
              <a:buAutoNum type="arabicPeriod"/>
            </a:pPr>
            <a:r>
              <a:rPr lang="en-GB" dirty="0">
                <a:latin typeface="Arial" panose="020B0604020202020204" pitchFamily="34" charset="0"/>
                <a:cs typeface="Arial" panose="020B0604020202020204" pitchFamily="34" charset="0"/>
              </a:rPr>
              <a:t>Storage limitation</a:t>
            </a:r>
          </a:p>
          <a:p>
            <a:pPr marL="514350" indent="-514350">
              <a:buFont typeface="+mj-lt"/>
              <a:buAutoNum type="arabicPeriod"/>
            </a:pPr>
            <a:r>
              <a:rPr lang="en-GB" dirty="0">
                <a:latin typeface="Arial" panose="020B0604020202020204" pitchFamily="34" charset="0"/>
                <a:cs typeface="Arial" panose="020B0604020202020204" pitchFamily="34" charset="0"/>
              </a:rPr>
              <a:t>Integrity and confidentiality</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Supported by the further principle of </a:t>
            </a:r>
            <a:r>
              <a:rPr lang="en-GB" i="1" dirty="0">
                <a:latin typeface="Arial" panose="020B0604020202020204" pitchFamily="34" charset="0"/>
                <a:cs typeface="Arial" panose="020B0604020202020204" pitchFamily="34" charset="0"/>
              </a:rPr>
              <a:t>accountability</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2588827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Rights of the Data Subject</a:t>
            </a:r>
          </a:p>
        </p:txBody>
      </p:sp>
      <p:sp>
        <p:nvSpPr>
          <p:cNvPr id="3" name="Content Placeholder 2"/>
          <p:cNvSpPr>
            <a:spLocks noGrp="1"/>
          </p:cNvSpPr>
          <p:nvPr>
            <p:ph idx="1"/>
          </p:nvPr>
        </p:nvSpPr>
        <p:spPr/>
        <p:txBody>
          <a:bodyPr/>
          <a:lstStyle/>
          <a:p>
            <a:pPr marL="514350" indent="-514350">
              <a:buFont typeface="+mj-lt"/>
              <a:buAutoNum type="arabicPeriod"/>
            </a:pPr>
            <a:r>
              <a:rPr lang="en-GB" dirty="0">
                <a:latin typeface="Arial" panose="020B0604020202020204" pitchFamily="34" charset="0"/>
                <a:cs typeface="Arial" panose="020B0604020202020204" pitchFamily="34" charset="0"/>
              </a:rPr>
              <a:t>Right to information</a:t>
            </a:r>
          </a:p>
          <a:p>
            <a:pPr marL="514350" indent="-514350">
              <a:buFont typeface="+mj-lt"/>
              <a:buAutoNum type="arabicPeriod"/>
            </a:pPr>
            <a:r>
              <a:rPr lang="en-GB" dirty="0">
                <a:latin typeface="Arial" panose="020B0604020202020204" pitchFamily="34" charset="0"/>
                <a:cs typeface="Arial" panose="020B0604020202020204" pitchFamily="34" charset="0"/>
              </a:rPr>
              <a:t>Right of access</a:t>
            </a:r>
          </a:p>
          <a:p>
            <a:pPr marL="514350" indent="-514350">
              <a:buFont typeface="+mj-lt"/>
              <a:buAutoNum type="arabicPeriod"/>
            </a:pPr>
            <a:r>
              <a:rPr lang="en-GB" dirty="0">
                <a:latin typeface="Arial" panose="020B0604020202020204" pitchFamily="34" charset="0"/>
                <a:cs typeface="Arial" panose="020B0604020202020204" pitchFamily="34" charset="0"/>
              </a:rPr>
              <a:t>Right to rectification</a:t>
            </a:r>
          </a:p>
          <a:p>
            <a:pPr marL="514350" indent="-514350">
              <a:buFont typeface="+mj-lt"/>
              <a:buAutoNum type="arabicPeriod"/>
            </a:pPr>
            <a:r>
              <a:rPr lang="en-GB" dirty="0">
                <a:latin typeface="Arial" panose="020B0604020202020204" pitchFamily="34" charset="0"/>
                <a:cs typeface="Arial" panose="020B0604020202020204" pitchFamily="34" charset="0"/>
              </a:rPr>
              <a:t>Right to erasure (right to be forgotten)</a:t>
            </a:r>
          </a:p>
          <a:p>
            <a:pPr marL="514350" indent="-514350">
              <a:buFont typeface="+mj-lt"/>
              <a:buAutoNum type="arabicPeriod"/>
            </a:pPr>
            <a:r>
              <a:rPr lang="en-GB" dirty="0">
                <a:latin typeface="Arial" panose="020B0604020202020204" pitchFamily="34" charset="0"/>
                <a:cs typeface="Arial" panose="020B0604020202020204" pitchFamily="34" charset="0"/>
              </a:rPr>
              <a:t>Right to restriction of processing</a:t>
            </a:r>
          </a:p>
          <a:p>
            <a:pPr marL="514350" indent="-514350">
              <a:buFont typeface="+mj-lt"/>
              <a:buAutoNum type="arabicPeriod"/>
            </a:pPr>
            <a:r>
              <a:rPr lang="en-GB" dirty="0">
                <a:latin typeface="Arial" panose="020B0604020202020204" pitchFamily="34" charset="0"/>
                <a:cs typeface="Arial" panose="020B0604020202020204" pitchFamily="34" charset="0"/>
              </a:rPr>
              <a:t>Right to notification of rectification or erasure</a:t>
            </a:r>
          </a:p>
          <a:p>
            <a:pPr marL="514350" indent="-514350">
              <a:buFont typeface="+mj-lt"/>
              <a:buAutoNum type="arabicPeriod"/>
            </a:pPr>
            <a:r>
              <a:rPr lang="en-GB" dirty="0">
                <a:latin typeface="Arial" panose="020B0604020202020204" pitchFamily="34" charset="0"/>
                <a:cs typeface="Arial" panose="020B0604020202020204" pitchFamily="34" charset="0"/>
              </a:rPr>
              <a:t>Right to data portability</a:t>
            </a:r>
          </a:p>
          <a:p>
            <a:pPr marL="514350" indent="-514350">
              <a:buFont typeface="+mj-lt"/>
              <a:buAutoNum type="arabicPeriod"/>
            </a:pPr>
            <a:r>
              <a:rPr lang="en-GB" dirty="0">
                <a:latin typeface="Arial" panose="020B0604020202020204" pitchFamily="34" charset="0"/>
                <a:cs typeface="Arial" panose="020B0604020202020204" pitchFamily="34" charset="0"/>
              </a:rPr>
              <a:t>Right to object</a:t>
            </a:r>
          </a:p>
          <a:p>
            <a:pPr marL="514350" indent="-514350">
              <a:buFont typeface="+mj-lt"/>
              <a:buAutoNum type="arabicPeriod"/>
            </a:pPr>
            <a:r>
              <a:rPr lang="en-GB" dirty="0">
                <a:latin typeface="Arial" panose="020B0604020202020204" pitchFamily="34" charset="0"/>
                <a:cs typeface="Arial" panose="020B0604020202020204" pitchFamily="34" charset="0"/>
              </a:rPr>
              <a:t>Right to object to automated decision making</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512407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Data Protection Officer</a:t>
            </a:r>
          </a:p>
        </p:txBody>
      </p:sp>
      <p:sp>
        <p:nvSpPr>
          <p:cNvPr id="3" name="Content Placeholder 2"/>
          <p:cNvSpPr>
            <a:spLocks noGrp="1"/>
          </p:cNvSpPr>
          <p:nvPr>
            <p:ph idx="1"/>
          </p:nvPr>
        </p:nvSpPr>
        <p:spPr/>
        <p:txBody>
          <a:bodyPr/>
          <a:lstStyle/>
          <a:p>
            <a:r>
              <a:rPr lang="en-GB" dirty="0">
                <a:latin typeface="Arial" panose="020B0604020202020204" pitchFamily="34" charset="0"/>
                <a:cs typeface="Arial" panose="020B0604020202020204" pitchFamily="34" charset="0"/>
              </a:rPr>
              <a:t>Not required for all organizations</a:t>
            </a:r>
          </a:p>
          <a:p>
            <a:r>
              <a:rPr lang="en-GB" dirty="0">
                <a:latin typeface="Arial" panose="020B0604020202020204" pitchFamily="34" charset="0"/>
                <a:cs typeface="Arial" panose="020B0604020202020204" pitchFamily="34" charset="0"/>
              </a:rPr>
              <a:t>May be a part-time or shared external resource</a:t>
            </a:r>
          </a:p>
          <a:p>
            <a:r>
              <a:rPr lang="en-GB" dirty="0">
                <a:latin typeface="Arial" panose="020B0604020202020204" pitchFamily="34" charset="0"/>
                <a:cs typeface="Arial" panose="020B0604020202020204" pitchFamily="34" charset="0"/>
              </a:rPr>
              <a:t>Requires relevant knowledge and experience of data protection law</a:t>
            </a:r>
          </a:p>
          <a:p>
            <a:r>
              <a:rPr lang="en-GB" dirty="0">
                <a:latin typeface="Arial" panose="020B0604020202020204" pitchFamily="34" charset="0"/>
                <a:cs typeface="Arial" panose="020B0604020202020204" pitchFamily="34" charset="0"/>
              </a:rPr>
              <a:t>Reports to highest management level</a:t>
            </a:r>
          </a:p>
          <a:p>
            <a:r>
              <a:rPr lang="en-GB" dirty="0">
                <a:latin typeface="Arial" panose="020B0604020202020204" pitchFamily="34" charset="0"/>
                <a:cs typeface="Arial" panose="020B0604020202020204" pitchFamily="34" charset="0"/>
              </a:rPr>
              <a:t>Must remain independent and protected</a:t>
            </a:r>
          </a:p>
          <a:p>
            <a:r>
              <a:rPr lang="en-GB" dirty="0">
                <a:latin typeface="Arial" panose="020B0604020202020204" pitchFamily="34" charset="0"/>
                <a:cs typeface="Arial" panose="020B0604020202020204" pitchFamily="34" charset="0"/>
              </a:rPr>
              <a:t>Monitors compliance and provides advice and guidance on issues of data protection</a:t>
            </a:r>
          </a:p>
          <a:p>
            <a:r>
              <a:rPr lang="en-GB" dirty="0">
                <a:latin typeface="Arial" panose="020B0604020202020204" pitchFamily="34" charset="0"/>
                <a:cs typeface="Arial" panose="020B0604020202020204" pitchFamily="34" charset="0"/>
              </a:rPr>
              <a:t>Primary contact point with the supervisory authority</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624670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DAAD-542C-4CBE-BD62-65E44A4FD839}"/>
              </a:ext>
            </a:extLst>
          </p:cNvPr>
          <p:cNvSpPr>
            <a:spLocks noGrp="1"/>
          </p:cNvSpPr>
          <p:nvPr>
            <p:ph type="title"/>
          </p:nvPr>
        </p:nvSpPr>
        <p:spPr/>
        <p:txBody>
          <a:bodyPr/>
          <a:lstStyle/>
          <a:p>
            <a:r>
              <a:rPr lang="en-GB" dirty="0"/>
              <a:t>Contractual changes</a:t>
            </a:r>
          </a:p>
        </p:txBody>
      </p:sp>
      <p:sp>
        <p:nvSpPr>
          <p:cNvPr id="3" name="Content Placeholder 2">
            <a:extLst>
              <a:ext uri="{FF2B5EF4-FFF2-40B4-BE49-F238E27FC236}">
                <a16:creationId xmlns:a16="http://schemas.microsoft.com/office/drawing/2014/main" id="{A1C8E769-6A03-4BDC-B23B-FFB0B8319DC8}"/>
              </a:ext>
            </a:extLst>
          </p:cNvPr>
          <p:cNvSpPr>
            <a:spLocks noGrp="1"/>
          </p:cNvSpPr>
          <p:nvPr>
            <p:ph idx="1"/>
          </p:nvPr>
        </p:nvSpPr>
        <p:spPr/>
        <p:txBody>
          <a:bodyPr/>
          <a:lstStyle/>
          <a:p>
            <a:r>
              <a:rPr lang="en-GB" dirty="0">
                <a:latin typeface="Arial" panose="020B0604020202020204" pitchFamily="34" charset="0"/>
                <a:cs typeface="Arial" panose="020B0604020202020204" pitchFamily="34" charset="0"/>
              </a:rPr>
              <a:t>For controller-processor relationships there must be a contract</a:t>
            </a:r>
          </a:p>
          <a:p>
            <a:r>
              <a:rPr lang="en-GB" dirty="0">
                <a:latin typeface="Arial" panose="020B0604020202020204" pitchFamily="34" charset="0"/>
                <a:cs typeface="Arial" panose="020B0604020202020204" pitchFamily="34" charset="0"/>
              </a:rPr>
              <a:t>Controller-Processor contracts must include specific information about processing of personal data</a:t>
            </a:r>
          </a:p>
          <a:p>
            <a:r>
              <a:rPr lang="en-GB" dirty="0">
                <a:latin typeface="Arial" panose="020B0604020202020204" pitchFamily="34" charset="0"/>
                <a:cs typeface="Arial" panose="020B0604020202020204" pitchFamily="34" charset="0"/>
              </a:rPr>
              <a:t>New terms must also be included</a:t>
            </a:r>
          </a:p>
          <a:p>
            <a:r>
              <a:rPr lang="en-GB" dirty="0">
                <a:latin typeface="Arial" panose="020B0604020202020204" pitchFamily="34" charset="0"/>
                <a:cs typeface="Arial" panose="020B0604020202020204" pitchFamily="34" charset="0"/>
              </a:rPr>
              <a:t>All such existing contracts will need to be amended</a:t>
            </a:r>
          </a:p>
          <a:p>
            <a:r>
              <a:rPr lang="en-GB" dirty="0">
                <a:latin typeface="Arial" panose="020B0604020202020204" pitchFamily="34" charset="0"/>
                <a:cs typeface="Arial" panose="020B0604020202020204" pitchFamily="34" charset="0"/>
              </a:rPr>
              <a:t>Applies to our contracts with suppliers, and with customers</a:t>
            </a:r>
          </a:p>
          <a:p>
            <a:r>
              <a:rPr lang="en-GB" dirty="0">
                <a:latin typeface="Arial" panose="020B0604020202020204" pitchFamily="34" charset="0"/>
                <a:cs typeface="Arial" panose="020B0604020202020204" pitchFamily="34" charset="0"/>
              </a:rPr>
              <a:t>These changes are mandatory</a:t>
            </a:r>
          </a:p>
          <a:p>
            <a:endParaRPr lang="en-GB" dirty="0"/>
          </a:p>
        </p:txBody>
      </p:sp>
      <p:pic>
        <p:nvPicPr>
          <p:cNvPr id="4" name="Picture 3">
            <a:extLst>
              <a:ext uri="{FF2B5EF4-FFF2-40B4-BE49-F238E27FC236}">
                <a16:creationId xmlns:a16="http://schemas.microsoft.com/office/drawing/2014/main" id="{E4ECDA66-A409-4480-A018-3CBAFD78C55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383964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1143000"/>
          </a:xfrm>
        </p:spPr>
        <p:txBody>
          <a:bodyPr/>
          <a:lstStyle/>
          <a:p>
            <a:r>
              <a:rPr lang="en-GB" dirty="0"/>
              <a:t>Data Protection Impact Assessments</a:t>
            </a:r>
          </a:p>
        </p:txBody>
      </p:sp>
      <p:sp>
        <p:nvSpPr>
          <p:cNvPr id="3" name="Content Placeholder 2"/>
          <p:cNvSpPr>
            <a:spLocks noGrp="1"/>
          </p:cNvSpPr>
          <p:nvPr>
            <p:ph idx="1"/>
          </p:nvPr>
        </p:nvSpPr>
        <p:spPr/>
        <p:txBody>
          <a:bodyPr/>
          <a:lstStyle/>
          <a:p>
            <a:r>
              <a:rPr lang="en-GB" dirty="0">
                <a:latin typeface="Arial" panose="020B0604020202020204" pitchFamily="34" charset="0"/>
                <a:cs typeface="Arial" panose="020B0604020202020204" pitchFamily="34" charset="0"/>
              </a:rPr>
              <a:t>A key process mandated by the GDPR where personal data is to be processed, particularly when using new technologies</a:t>
            </a:r>
          </a:p>
          <a:p>
            <a:r>
              <a:rPr lang="en-GB" dirty="0">
                <a:latin typeface="Arial" panose="020B0604020202020204" pitchFamily="34" charset="0"/>
                <a:cs typeface="Arial" panose="020B0604020202020204" pitchFamily="34" charset="0"/>
              </a:rPr>
              <a:t>Issues a DPIA should consider include:</a:t>
            </a:r>
          </a:p>
          <a:p>
            <a:pPr lvl="1"/>
            <a:r>
              <a:rPr lang="en-GB" dirty="0">
                <a:latin typeface="Arial" panose="020B0604020202020204" pitchFamily="34" charset="0"/>
                <a:cs typeface="Arial" panose="020B0604020202020204" pitchFamily="34" charset="0"/>
              </a:rPr>
              <a:t>Systematic description of the processing</a:t>
            </a:r>
          </a:p>
          <a:p>
            <a:pPr lvl="1"/>
            <a:r>
              <a:rPr lang="en-GB" dirty="0">
                <a:latin typeface="Arial" panose="020B0604020202020204" pitchFamily="34" charset="0"/>
                <a:cs typeface="Arial" panose="020B0604020202020204" pitchFamily="34" charset="0"/>
              </a:rPr>
              <a:t>Legal basis of the processing (e.g. legitimate interest)</a:t>
            </a:r>
          </a:p>
          <a:p>
            <a:pPr lvl="1"/>
            <a:r>
              <a:rPr lang="en-GB" dirty="0">
                <a:latin typeface="Arial" panose="020B0604020202020204" pitchFamily="34" charset="0"/>
                <a:cs typeface="Arial" panose="020B0604020202020204" pitchFamily="34" charset="0"/>
              </a:rPr>
              <a:t>Necessity and proportionality</a:t>
            </a:r>
          </a:p>
          <a:p>
            <a:pPr lvl="1"/>
            <a:r>
              <a:rPr lang="en-GB" dirty="0">
                <a:latin typeface="Arial" panose="020B0604020202020204" pitchFamily="34" charset="0"/>
                <a:cs typeface="Arial" panose="020B0604020202020204" pitchFamily="34" charset="0"/>
              </a:rPr>
              <a:t>Risks to rights and freedoms of data subjects</a:t>
            </a:r>
          </a:p>
          <a:p>
            <a:pPr lvl="1"/>
            <a:r>
              <a:rPr lang="en-GB" dirty="0">
                <a:latin typeface="Arial" panose="020B0604020202020204" pitchFamily="34" charset="0"/>
                <a:cs typeface="Arial" panose="020B0604020202020204" pitchFamily="34" charset="0"/>
              </a:rPr>
              <a:t>Controls to treat unacceptable risks</a:t>
            </a:r>
          </a:p>
          <a:p>
            <a:pPr lvl="1"/>
            <a:r>
              <a:rPr lang="en-GB" dirty="0">
                <a:latin typeface="Arial" panose="020B0604020202020204" pitchFamily="34" charset="0"/>
                <a:cs typeface="Arial" panose="020B0604020202020204" pitchFamily="34" charset="0"/>
              </a:rPr>
              <a:t>Consultation with data subjects where appropriate</a:t>
            </a:r>
          </a:p>
          <a:p>
            <a:pPr marL="393700" lvl="1" indent="0">
              <a:buNone/>
            </a:pPr>
            <a:endParaRPr lang="en-GB" dirty="0"/>
          </a:p>
          <a:p>
            <a:pPr lvl="1"/>
            <a:endParaRPr lang="en-GB" dirty="0"/>
          </a:p>
          <a:p>
            <a:endParaRPr lang="en-GB" dirty="0"/>
          </a:p>
          <a:p>
            <a:endParaRPr lang="en-GB"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1646082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International Data Transfers</a:t>
            </a:r>
          </a:p>
        </p:txBody>
      </p:sp>
      <p:sp>
        <p:nvSpPr>
          <p:cNvPr id="3" name="Content Placeholder 2"/>
          <p:cNvSpPr>
            <a:spLocks noGrp="1"/>
          </p:cNvSpPr>
          <p:nvPr>
            <p:ph idx="1"/>
          </p:nvPr>
        </p:nvSpPr>
        <p:spPr/>
        <p:txBody>
          <a:bodyPr/>
          <a:lstStyle/>
          <a:p>
            <a:r>
              <a:rPr lang="en-GB" dirty="0">
                <a:latin typeface="Arial" panose="020B0604020202020204" pitchFamily="34" charset="0"/>
                <a:cs typeface="Arial" panose="020B0604020202020204" pitchFamily="34" charset="0"/>
              </a:rPr>
              <a:t>Only transfer personal data to countries deemed “adequate” by the EU</a:t>
            </a:r>
          </a:p>
          <a:p>
            <a:r>
              <a:rPr lang="en-GB" dirty="0">
                <a:latin typeface="Arial" panose="020B0604020202020204" pitchFamily="34" charset="0"/>
                <a:cs typeface="Arial" panose="020B0604020202020204" pitchFamily="34" charset="0"/>
              </a:rPr>
              <a:t>Safeguards must be agreed and in place prior to transfer</a:t>
            </a:r>
          </a:p>
          <a:p>
            <a:r>
              <a:rPr lang="en-GB" dirty="0">
                <a:latin typeface="Arial" panose="020B0604020202020204" pitchFamily="34" charset="0"/>
                <a:cs typeface="Arial" panose="020B0604020202020204" pitchFamily="34" charset="0"/>
              </a:rPr>
              <a:t>Binding corporate rules may be used within an international organisation</a:t>
            </a:r>
          </a:p>
          <a:p>
            <a:r>
              <a:rPr lang="en-GB" dirty="0">
                <a:latin typeface="Arial" panose="020B0604020202020204" pitchFamily="34" charset="0"/>
                <a:cs typeface="Arial" panose="020B0604020202020204" pitchFamily="34" charset="0"/>
              </a:rPr>
              <a:t>EU-US transfers subject to separate agreement</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691736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p:txBody>
          <a:bodyPr/>
          <a:lstStyle/>
          <a:p>
            <a:r>
              <a:rPr lang="en-GB" dirty="0">
                <a:latin typeface="Arial" panose="020B0604020202020204" pitchFamily="34" charset="0"/>
                <a:cs typeface="Arial" panose="020B0604020202020204" pitchFamily="34" charset="0"/>
              </a:rPr>
              <a:t>GDPR became law from May 2018</a:t>
            </a:r>
          </a:p>
          <a:p>
            <a:r>
              <a:rPr lang="en-GB" dirty="0">
                <a:latin typeface="Arial" panose="020B0604020202020204" pitchFamily="34" charset="0"/>
                <a:cs typeface="Arial" panose="020B0604020202020204" pitchFamily="34" charset="0"/>
              </a:rPr>
              <a:t>We need to understand our collection and use of personal data very clearly</a:t>
            </a:r>
          </a:p>
          <a:p>
            <a:r>
              <a:rPr lang="en-GB" dirty="0">
                <a:latin typeface="Arial" panose="020B0604020202020204" pitchFamily="34" charset="0"/>
                <a:cs typeface="Arial" panose="020B0604020202020204" pitchFamily="34" charset="0"/>
              </a:rPr>
              <a:t>Policy, contractual, procedural and technical changes may be required in order to comply</a:t>
            </a:r>
          </a:p>
          <a:p>
            <a:r>
              <a:rPr lang="en-GB" dirty="0">
                <a:latin typeface="Arial" panose="020B0604020202020204" pitchFamily="34" charset="0"/>
                <a:cs typeface="Arial" panose="020B0604020202020204" pitchFamily="34" charset="0"/>
              </a:rPr>
              <a:t>Resources will be needed to meet the required timescales</a:t>
            </a:r>
          </a:p>
          <a:p>
            <a:r>
              <a:rPr lang="en-GB" dirty="0">
                <a:latin typeface="Arial" panose="020B0604020202020204" pitchFamily="34" charset="0"/>
                <a:cs typeface="Arial" panose="020B0604020202020204" pitchFamily="34" charset="0"/>
              </a:rPr>
              <a:t>Penalties for not protecting personal data are increased and notification is mandatory</a:t>
            </a:r>
          </a:p>
          <a:p>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endParaRPr lang="en-GB"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318037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771800" y="2564904"/>
            <a:ext cx="3394720" cy="1143000"/>
          </a:xfrm>
        </p:spPr>
        <p:txBody>
          <a:bodyPr/>
          <a:lstStyle/>
          <a:p>
            <a:pPr algn="ctr"/>
            <a:r>
              <a:rPr lang="en-GB" dirty="0"/>
              <a:t>Questions</a:t>
            </a:r>
          </a:p>
        </p:txBody>
      </p:sp>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24130483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D4044C59A8CAE44B6D9ED6298F811F1" ma:contentTypeVersion="8" ma:contentTypeDescription="Create a new document." ma:contentTypeScope="" ma:versionID="ec6bb53279bf8bc3119fb97b1b2bb3a7">
  <xsd:schema xmlns:xsd="http://www.w3.org/2001/XMLSchema" xmlns:xs="http://www.w3.org/2001/XMLSchema" xmlns:p="http://schemas.microsoft.com/office/2006/metadata/properties" xmlns:ns2="519c89c0-4739-45b7-90b4-c645f8135810" xmlns:ns3="906258ce-5a0c-4f3f-a95b-99bb0331ce14" targetNamespace="http://schemas.microsoft.com/office/2006/metadata/properties" ma:root="true" ma:fieldsID="fe893e3c06a0f4627c087a58f9c38919" ns2:_="" ns3:_="">
    <xsd:import namespace="519c89c0-4739-45b7-90b4-c645f8135810"/>
    <xsd:import namespace="906258ce-5a0c-4f3f-a95b-99bb0331ce1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c89c0-4739-45b7-90b4-c645f81358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6258ce-5a0c-4f3f-a95b-99bb0331ce1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0EA384-016A-4483-B8B1-E48610EECD7C}">
  <ds:schemaRefs>
    <ds:schemaRef ds:uri="http://schemas.openxmlformats.org/package/2006/metadata/core-properties"/>
    <ds:schemaRef ds:uri="519c89c0-4739-45b7-90b4-c645f8135810"/>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906258ce-5a0c-4f3f-a95b-99bb0331ce14"/>
    <ds:schemaRef ds:uri="http://www.w3.org/XML/1998/namespace"/>
    <ds:schemaRef ds:uri="http://purl.org/dc/dcmitype/"/>
  </ds:schemaRefs>
</ds:datastoreItem>
</file>

<file path=customXml/itemProps2.xml><?xml version="1.0" encoding="utf-8"?>
<ds:datastoreItem xmlns:ds="http://schemas.openxmlformats.org/officeDocument/2006/customXml" ds:itemID="{70A5F6F0-5938-441D-90B0-8D33D8D97387}">
  <ds:schemaRefs>
    <ds:schemaRef ds:uri="http://schemas.microsoft.com/sharepoint/v3/contenttype/forms"/>
  </ds:schemaRefs>
</ds:datastoreItem>
</file>

<file path=customXml/itemProps3.xml><?xml version="1.0" encoding="utf-8"?>
<ds:datastoreItem xmlns:ds="http://schemas.openxmlformats.org/officeDocument/2006/customXml" ds:itemID="{BE34EE7F-08AF-4B06-AFD7-AE9C75750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9c89c0-4739-45b7-90b4-c645f8135810"/>
    <ds:schemaRef ds:uri="906258ce-5a0c-4f3f-a95b-99bb0331ce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610</TotalTime>
  <Words>2000</Words>
  <Application>Microsoft Office PowerPoint</Application>
  <PresentationFormat>On-screen Show (4:3)</PresentationFormat>
  <Paragraphs>227</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Constantia</vt:lpstr>
      <vt:lpstr>Times New Roman</vt:lpstr>
      <vt:lpstr>Wingdings 2</vt:lpstr>
      <vt:lpstr>Flow</vt:lpstr>
      <vt:lpstr>PowerPoint Presentation</vt:lpstr>
      <vt:lpstr>Agenda</vt:lpstr>
      <vt:lpstr>What is the GDPR?</vt:lpstr>
      <vt:lpstr>Key Terms</vt:lpstr>
      <vt:lpstr>Key Terms</vt:lpstr>
      <vt:lpstr>Key Terms</vt:lpstr>
      <vt:lpstr>Key Terms</vt:lpstr>
      <vt:lpstr>The 6 Privacy Principles</vt:lpstr>
      <vt:lpstr>The Rights of the Data Subject</vt:lpstr>
      <vt:lpstr>The Data Protection Officer</vt:lpstr>
      <vt:lpstr>Contractual changes</vt:lpstr>
      <vt:lpstr>Data Protection Impact Assessments</vt:lpstr>
      <vt:lpstr>International Data Transfers</vt:lpstr>
      <vt:lpstr>Summary</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CertiKit GDPR Toolkit Version 5</dc:title>
  <dc:creator>Copyright CertiKit</dc:creator>
  <cp:lastModifiedBy>Ken Holmes</cp:lastModifiedBy>
  <cp:revision>71</cp:revision>
  <dcterms:created xsi:type="dcterms:W3CDTF">2014-01-13T13:02:03Z</dcterms:created>
  <dcterms:modified xsi:type="dcterms:W3CDTF">2019-02-05T17:06:31Z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0x010100CD4044C59A8CAE44B6D9ED6298F811F1</vt:lpwstr>
  </property>
</Properties>
</file>