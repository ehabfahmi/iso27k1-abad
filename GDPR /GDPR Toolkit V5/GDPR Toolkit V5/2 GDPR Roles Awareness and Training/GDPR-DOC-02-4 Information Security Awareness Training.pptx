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258" r:id="rId5"/>
    <p:sldId id="259" r:id="rId6"/>
    <p:sldId id="260" r:id="rId7"/>
    <p:sldId id="261" r:id="rId8"/>
    <p:sldId id="262" r:id="rId9"/>
    <p:sldId id="263" r:id="rId10"/>
    <p:sldId id="288" r:id="rId11"/>
    <p:sldId id="287" r:id="rId12"/>
    <p:sldId id="289" r:id="rId13"/>
    <p:sldId id="264" r:id="rId14"/>
    <p:sldId id="265" r:id="rId15"/>
    <p:sldId id="271" r:id="rId16"/>
    <p:sldId id="272" r:id="rId17"/>
    <p:sldId id="273" r:id="rId18"/>
    <p:sldId id="283" r:id="rId19"/>
    <p:sldId id="274" r:id="rId20"/>
    <p:sldId id="285" r:id="rId21"/>
    <p:sldId id="286" r:id="rId22"/>
    <p:sldId id="276" r:id="rId23"/>
    <p:sldId id="277" r:id="rId24"/>
    <p:sldId id="278" r:id="rId25"/>
    <p:sldId id="279" r:id="rId26"/>
    <p:sldId id="281" r:id="rId27"/>
    <p:sldId id="266" r:id="rId28"/>
    <p:sldId id="267" r:id="rId29"/>
    <p:sldId id="268" r:id="rId30"/>
    <p:sldId id="282"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onstantia" pitchFamily="18" charset="0"/>
        <a:ea typeface="+mn-ea"/>
        <a:cs typeface="Arial" charset="0"/>
      </a:defRPr>
    </a:lvl1pPr>
    <a:lvl2pPr marL="457200" algn="l" rtl="0" fontAlgn="base">
      <a:spcBef>
        <a:spcPct val="0"/>
      </a:spcBef>
      <a:spcAft>
        <a:spcPct val="0"/>
      </a:spcAft>
      <a:defRPr kern="1200">
        <a:solidFill>
          <a:schemeClr val="tx1"/>
        </a:solidFill>
        <a:latin typeface="Constantia" pitchFamily="18" charset="0"/>
        <a:ea typeface="+mn-ea"/>
        <a:cs typeface="Arial" charset="0"/>
      </a:defRPr>
    </a:lvl2pPr>
    <a:lvl3pPr marL="914400" algn="l" rtl="0" fontAlgn="base">
      <a:spcBef>
        <a:spcPct val="0"/>
      </a:spcBef>
      <a:spcAft>
        <a:spcPct val="0"/>
      </a:spcAft>
      <a:defRPr kern="1200">
        <a:solidFill>
          <a:schemeClr val="tx1"/>
        </a:solidFill>
        <a:latin typeface="Constantia" pitchFamily="18" charset="0"/>
        <a:ea typeface="+mn-ea"/>
        <a:cs typeface="Arial" charset="0"/>
      </a:defRPr>
    </a:lvl3pPr>
    <a:lvl4pPr marL="1371600" algn="l" rtl="0" fontAlgn="base">
      <a:spcBef>
        <a:spcPct val="0"/>
      </a:spcBef>
      <a:spcAft>
        <a:spcPct val="0"/>
      </a:spcAft>
      <a:defRPr kern="1200">
        <a:solidFill>
          <a:schemeClr val="tx1"/>
        </a:solidFill>
        <a:latin typeface="Constantia" pitchFamily="18" charset="0"/>
        <a:ea typeface="+mn-ea"/>
        <a:cs typeface="Arial" charset="0"/>
      </a:defRPr>
    </a:lvl4pPr>
    <a:lvl5pPr marL="1828800" algn="l" rtl="0" fontAlgn="base">
      <a:spcBef>
        <a:spcPct val="0"/>
      </a:spcBef>
      <a:spcAft>
        <a:spcPct val="0"/>
      </a:spcAft>
      <a:defRPr kern="1200">
        <a:solidFill>
          <a:schemeClr val="tx1"/>
        </a:solidFill>
        <a:latin typeface="Constantia" pitchFamily="18" charset="0"/>
        <a:ea typeface="+mn-ea"/>
        <a:cs typeface="Arial" charset="0"/>
      </a:defRPr>
    </a:lvl5pPr>
    <a:lvl6pPr marL="2286000" algn="l" defTabSz="914400" rtl="0" eaLnBrk="1" latinLnBrk="0" hangingPunct="1">
      <a:defRPr kern="1200">
        <a:solidFill>
          <a:schemeClr val="tx1"/>
        </a:solidFill>
        <a:latin typeface="Constantia" pitchFamily="18" charset="0"/>
        <a:ea typeface="+mn-ea"/>
        <a:cs typeface="Arial" charset="0"/>
      </a:defRPr>
    </a:lvl6pPr>
    <a:lvl7pPr marL="2743200" algn="l" defTabSz="914400" rtl="0" eaLnBrk="1" latinLnBrk="0" hangingPunct="1">
      <a:defRPr kern="1200">
        <a:solidFill>
          <a:schemeClr val="tx1"/>
        </a:solidFill>
        <a:latin typeface="Constantia" pitchFamily="18" charset="0"/>
        <a:ea typeface="+mn-ea"/>
        <a:cs typeface="Arial" charset="0"/>
      </a:defRPr>
    </a:lvl7pPr>
    <a:lvl8pPr marL="3200400" algn="l" defTabSz="914400" rtl="0" eaLnBrk="1" latinLnBrk="0" hangingPunct="1">
      <a:defRPr kern="1200">
        <a:solidFill>
          <a:schemeClr val="tx1"/>
        </a:solidFill>
        <a:latin typeface="Constantia" pitchFamily="18" charset="0"/>
        <a:ea typeface="+mn-ea"/>
        <a:cs typeface="Arial" charset="0"/>
      </a:defRPr>
    </a:lvl8pPr>
    <a:lvl9pPr marL="3657600" algn="l" defTabSz="914400" rtl="0" eaLnBrk="1" latinLnBrk="0" hangingPunct="1">
      <a:defRPr kern="1200">
        <a:solidFill>
          <a:schemeClr val="tx1"/>
        </a:solidFill>
        <a:latin typeface="Constantia"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AC6799-6AE3-4CBC-BA0D-0C881550128E}" v="1" dt="2019-02-06T09:44:53.1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70366" autoAdjust="0"/>
  </p:normalViewPr>
  <p:slideViewPr>
    <p:cSldViewPr>
      <p:cViewPr varScale="1">
        <p:scale>
          <a:sx n="80" d="100"/>
          <a:sy n="80" d="100"/>
        </p:scale>
        <p:origin x="2514" y="90"/>
      </p:cViewPr>
      <p:guideLst>
        <p:guide orient="horz" pos="2160"/>
        <p:guide pos="2880"/>
      </p:guideLst>
    </p:cSldViewPr>
  </p:slideViewPr>
  <p:notesTextViewPr>
    <p:cViewPr>
      <p:scale>
        <a:sx n="1" d="1"/>
        <a:sy n="1" d="1"/>
      </p:scale>
      <p:origin x="0" y="0"/>
    </p:cViewPr>
  </p:notesTextViewPr>
  <p:sorterViewPr>
    <p:cViewPr>
      <p:scale>
        <a:sx n="100" d="100"/>
        <a:sy n="100" d="100"/>
      </p:scale>
      <p:origin x="0" y="-197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lmes" userId="3893c208-ca93-41ab-a7dd-d7881cdf5990" providerId="ADAL" clId="{DEAC6799-6AE3-4CBC-BA0D-0C881550128E}"/>
    <pc:docChg chg="addSld modSld">
      <pc:chgData name="Ken Holmes" userId="3893c208-ca93-41ab-a7dd-d7881cdf5990" providerId="ADAL" clId="{DEAC6799-6AE3-4CBC-BA0D-0C881550128E}" dt="2019-02-06T09:49:34.173" v="85" actId="20577"/>
      <pc:docMkLst>
        <pc:docMk/>
      </pc:docMkLst>
      <pc:sldChg chg="modNotesTx">
        <pc:chgData name="Ken Holmes" userId="3893c208-ca93-41ab-a7dd-d7881cdf5990" providerId="ADAL" clId="{DEAC6799-6AE3-4CBC-BA0D-0C881550128E}" dt="2019-02-06T09:45:10.271" v="3" actId="20577"/>
        <pc:sldMkLst>
          <pc:docMk/>
          <pc:sldMk cId="0" sldId="258"/>
        </pc:sldMkLst>
      </pc:sldChg>
      <pc:sldChg chg="modSp modNotesTx">
        <pc:chgData name="Ken Holmes" userId="3893c208-ca93-41ab-a7dd-d7881cdf5990" providerId="ADAL" clId="{DEAC6799-6AE3-4CBC-BA0D-0C881550128E}" dt="2019-02-06T09:49:34.173" v="85" actId="20577"/>
        <pc:sldMkLst>
          <pc:docMk/>
          <pc:sldMk cId="0" sldId="263"/>
        </pc:sldMkLst>
        <pc:spChg chg="mod">
          <ac:chgData name="Ken Holmes" userId="3893c208-ca93-41ab-a7dd-d7881cdf5990" providerId="ADAL" clId="{DEAC6799-6AE3-4CBC-BA0D-0C881550128E}" dt="2019-02-06T09:49:06.834" v="56" actId="20577"/>
          <ac:spMkLst>
            <pc:docMk/>
            <pc:sldMk cId="0" sldId="263"/>
            <ac:spMk id="18435" creationId="{00000000-0000-0000-0000-000000000000}"/>
          </ac:spMkLst>
        </pc:spChg>
      </pc:sldChg>
      <pc:sldChg chg="add">
        <pc:chgData name="Ken Holmes" userId="3893c208-ca93-41ab-a7dd-d7881cdf5990" providerId="ADAL" clId="{DEAC6799-6AE3-4CBC-BA0D-0C881550128E}" dt="2019-02-06T09:47:37.049" v="5"/>
        <pc:sldMkLst>
          <pc:docMk/>
          <pc:sldMk cId="2796299611" sldId="287"/>
        </pc:sldMkLst>
      </pc:sldChg>
      <pc:sldChg chg="add">
        <pc:chgData name="Ken Holmes" userId="3893c208-ca93-41ab-a7dd-d7881cdf5990" providerId="ADAL" clId="{DEAC6799-6AE3-4CBC-BA0D-0C881550128E}" dt="2019-02-06T09:47:28.190" v="4"/>
        <pc:sldMkLst>
          <pc:docMk/>
          <pc:sldMk cId="4084426524" sldId="288"/>
        </pc:sldMkLst>
      </pc:sldChg>
      <pc:sldChg chg="add">
        <pc:chgData name="Ken Holmes" userId="3893c208-ca93-41ab-a7dd-d7881cdf5990" providerId="ADAL" clId="{DEAC6799-6AE3-4CBC-BA0D-0C881550128E}" dt="2019-02-06T09:47:43.505" v="6"/>
        <pc:sldMkLst>
          <pc:docMk/>
          <pc:sldMk cId="466558870"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111FC1-49B4-40DC-B55F-195C63B3D059}" type="datetimeFigureOut">
              <a:rPr lang="en-GB" smtClean="0"/>
              <a:t>06/02/2019</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5572EC6-E22D-4314-BD35-0F32D91EA534}" type="slidenum">
              <a:rPr lang="en-GB" smtClean="0"/>
              <a:t>‹#›</a:t>
            </a:fld>
            <a:endParaRPr lang="en-GB"/>
          </a:p>
        </p:txBody>
      </p:sp>
    </p:spTree>
    <p:extLst>
      <p:ext uri="{BB962C8B-B14F-4D97-AF65-F5344CB8AC3E}">
        <p14:creationId xmlns:p14="http://schemas.microsoft.com/office/powerpoint/2010/main" val="1790147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Notes to Presenter:</a:t>
            </a:r>
          </a:p>
          <a:p>
            <a:endParaRPr lang="en-GB" dirty="0"/>
          </a:p>
          <a:p>
            <a:r>
              <a:rPr lang="en-GB" dirty="0"/>
              <a:t>This presentation is intended to increase the awareness of employees and contractors regarding information security issues. It is in addition to specialised training that will be delivered according to the role that individuals play within the information security management system</a:t>
            </a:r>
            <a:r>
              <a:rPr lang="en-GB" baseline="0" dirty="0"/>
              <a:t>. It consists of about twenty slides with a short quiz at the end.</a:t>
            </a:r>
          </a:p>
          <a:p>
            <a:endParaRPr lang="en-GB" baseline="0" dirty="0"/>
          </a:p>
          <a:p>
            <a:endParaRPr lang="en-GB" baseline="0" dirty="0"/>
          </a:p>
          <a:p>
            <a:r>
              <a:rPr lang="en-GB" sz="1400" b="1" kern="1200" dirty="0">
                <a:solidFill>
                  <a:schemeClr val="tx1"/>
                </a:solidFill>
                <a:effectLst/>
                <a:latin typeface="+mn-lt"/>
                <a:ea typeface="+mn-ea"/>
                <a:cs typeface="+mn-cs"/>
              </a:rPr>
              <a:t>Implementation Guidance</a:t>
            </a:r>
            <a:r>
              <a:rPr lang="en-GB" sz="1400" b="0" kern="1200" dirty="0">
                <a:solidFill>
                  <a:schemeClr val="tx1"/>
                </a:solidFill>
                <a:effectLst/>
                <a:latin typeface="+mn-lt"/>
                <a:ea typeface="+mn-ea"/>
                <a:cs typeface="+mn-cs"/>
              </a:rPr>
              <a:t>:</a:t>
            </a:r>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Purpose of this document</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presentation is intended to raise awareness of information</a:t>
            </a:r>
            <a:r>
              <a:rPr lang="en-GB" sz="1200" kern="1200" baseline="0" dirty="0">
                <a:solidFill>
                  <a:schemeClr val="tx1"/>
                </a:solidFill>
                <a:effectLst/>
                <a:latin typeface="+mn-lt"/>
                <a:ea typeface="+mn-ea"/>
                <a:cs typeface="+mn-cs"/>
              </a:rPr>
              <a:t> security issues amongst employees and contractors.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Areas of the GDPR addressed</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The following areas of the GDPR are addressed by this document:</a:t>
            </a:r>
          </a:p>
          <a:p>
            <a:r>
              <a:rPr lang="en-GB" sz="1200" kern="1200" dirty="0">
                <a:solidFill>
                  <a:schemeClr val="tx1"/>
                </a:solidFill>
                <a:effectLst/>
                <a:latin typeface="+mn-lt"/>
                <a:ea typeface="+mn-ea"/>
                <a:cs typeface="+mn-cs"/>
              </a:rPr>
              <a:t> </a:t>
            </a:r>
          </a:p>
          <a:p>
            <a:r>
              <a:rPr lang="en-GB" sz="1200" b="0" kern="1200" dirty="0">
                <a:solidFill>
                  <a:schemeClr val="tx1"/>
                </a:solidFill>
                <a:effectLst/>
                <a:latin typeface="+mn-lt"/>
                <a:ea typeface="+mn-ea"/>
                <a:cs typeface="+mn-cs"/>
              </a:rPr>
              <a:t>Article 32 – security of processing</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General Guidance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The training may be delivered in whatever size groups make sense for your organisation and number of locations. You may decide to tailor the presentation to specific audiences e.g. business departments. Tailoring may involve adding additional slides, taking some out and changing the contents of some of them.</a:t>
            </a: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Review Frequency</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We would recommend that this document is reviewed annually.</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Toolkit Version Number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GDPR Toolkit Version 5</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Copyright notice</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Except for any third party works included in this document, as identified in this document, this document has been authored by CertiKit, and is © copyright CertiKit except as stated below.</a:t>
            </a:r>
          </a:p>
          <a:p>
            <a:r>
              <a:rPr lang="en-GB" sz="1200" kern="1200" dirty="0">
                <a:solidFill>
                  <a:schemeClr val="tx1"/>
                </a:solidFill>
                <a:effectLst/>
                <a:latin typeface="+mn-lt"/>
                <a:ea typeface="+mn-ea"/>
                <a:cs typeface="+mn-cs"/>
              </a:rPr>
              <a:t> </a:t>
            </a:r>
          </a:p>
          <a:p>
            <a:r>
              <a:rPr lang="en-GB" sz="1200" kern="1200" dirty="0">
                <a:solidFill>
                  <a:schemeClr val="tx1"/>
                </a:solidFill>
                <a:effectLst/>
                <a:latin typeface="+mn-lt"/>
                <a:ea typeface="+mn-ea"/>
                <a:cs typeface="+mn-cs"/>
              </a:rPr>
              <a:t>CertiKit is a company registered in England and Wales with company number 6432088.</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Licence terms</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This document is licensed on and subject to the standard licence terms of CertiKit, available on request, or by download from our website.  All other rights are reserved.  Unless you have purchased this product you only have an evaluation licence.  If this product was purchased, a full licence is granted to the person identified as the licensee in the relevant purchase order.  The standard licence terms include special terms relating to any third party copyright included in this document.</a:t>
            </a:r>
          </a:p>
          <a:p>
            <a:r>
              <a:rPr lang="en-GB" sz="1200" kern="1200" dirty="0">
                <a:solidFill>
                  <a:schemeClr val="tx1"/>
                </a:solidFill>
                <a:effectLst/>
                <a:latin typeface="+mn-lt"/>
                <a:ea typeface="+mn-ea"/>
                <a:cs typeface="+mn-cs"/>
              </a:rPr>
              <a:t> </a:t>
            </a: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Disclaimer</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1" kern="1200" dirty="0">
                <a:solidFill>
                  <a:schemeClr val="tx1"/>
                </a:solidFill>
                <a:effectLst/>
                <a:latin typeface="+mn-lt"/>
                <a:ea typeface="+mn-ea"/>
                <a:cs typeface="+mn-cs"/>
              </a:rPr>
              <a:t>Please Note: </a:t>
            </a:r>
            <a:r>
              <a:rPr lang="en-GB" sz="1200" i="1" kern="1200" dirty="0">
                <a:solidFill>
                  <a:schemeClr val="tx1"/>
                </a:solidFill>
                <a:effectLst/>
                <a:latin typeface="+mn-lt"/>
                <a:ea typeface="+mn-ea"/>
                <a:cs typeface="+mn-cs"/>
              </a:rPr>
              <a:t>Your use of and reliance on this document template is at your sole risk. Document templates are intended to be used as a starting point only from which you will create your own document and to which you will apply all reasonable quality checks before use.  Therefore please note that it is your responsibility to ensure that the content of any document you create that is based on our templates is correct and appropriate for your needs and complies with relevant laws in your country. You should take all reasonable and proper legal and other professional advice before using this document. CertiKit makes no claims, promises, or guarantees about the accuracy, completeness, or adequacy of our document templates, assumes no duty of care to any person with respect its document templates or their contents, and expressly excludes and disclaims liability for any cost, expense, loss or damage suffered or incurred in reliance on our document templates, or in expectation of our document templates meeting your needs, including (without limitation) as a result of misstatements, errors and omissions in their contents.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 </a:t>
            </a:r>
          </a:p>
          <a:p>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a:t>
            </a:fld>
            <a:endParaRPr lang="en-GB"/>
          </a:p>
        </p:txBody>
      </p:sp>
    </p:spTree>
    <p:extLst>
      <p:ext uri="{BB962C8B-B14F-4D97-AF65-F5344CB8AC3E}">
        <p14:creationId xmlns:p14="http://schemas.microsoft.com/office/powerpoint/2010/main" val="2281366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Summarize the agenda e.g. “Today we’re going to cover the following areas. First we’ll consider what types of information we as an organisation have that may be considered to be of value. Then we’ll look at who else might be interested in this information and the potential consequences if it were to fall into the wrong hands. After a brief review of how the law applies to this area we’ll talk about how we intend to protect our information assets and what part you play in this. After a summary and any questions, we’ll hold a short quiz to confirm your understanding of what was covered.”</a:t>
            </a:r>
          </a:p>
        </p:txBody>
      </p:sp>
      <p:sp>
        <p:nvSpPr>
          <p:cNvPr id="4" name="Slide Number Placeholder 3"/>
          <p:cNvSpPr>
            <a:spLocks noGrp="1"/>
          </p:cNvSpPr>
          <p:nvPr>
            <p:ph type="sldNum" sz="quarter" idx="10"/>
          </p:nvPr>
        </p:nvSpPr>
        <p:spPr/>
        <p:txBody>
          <a:bodyPr/>
          <a:lstStyle/>
          <a:p>
            <a:fld id="{15572EC6-E22D-4314-BD35-0F32D91EA534}" type="slidenum">
              <a:rPr lang="en-GB" smtClean="0"/>
              <a:t>2</a:t>
            </a:fld>
            <a:endParaRPr lang="en-GB"/>
          </a:p>
        </p:txBody>
      </p:sp>
    </p:spTree>
    <p:extLst>
      <p:ext uri="{BB962C8B-B14F-4D97-AF65-F5344CB8AC3E}">
        <p14:creationId xmlns:p14="http://schemas.microsoft.com/office/powerpoint/2010/main" val="3942172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information assets your organisation holds will vary</a:t>
            </a:r>
            <a:r>
              <a:rPr lang="en-GB" baseline="0" dirty="0"/>
              <a:t> but are likely to include many of the types shown on the slide (Note – “Cloud customer information” may only be relevant if your organization is a Cloud Service Provider (CSP)). This information will be valuable in different ways; some may be critical to keeping the company running (e.g. customer records), some may be subject to heavy legal penalties if it is compromised (e.g. personal information) and some may represent a massive investment over many years (e.g. intellectual property). </a:t>
            </a:r>
          </a:p>
          <a:p>
            <a:endParaRPr lang="en-GB" baseline="0" dirty="0"/>
          </a:p>
          <a:p>
            <a:r>
              <a:rPr lang="en-GB" baseline="0" dirty="0"/>
              <a:t>Discuss what information is held within your organisation, who holds it and where it is located – is it mostly electronic or paper; on the network or in the cloud? The main point is that you have lots of information held all over the place and much of it is vital.</a:t>
            </a:r>
          </a:p>
        </p:txBody>
      </p:sp>
      <p:sp>
        <p:nvSpPr>
          <p:cNvPr id="4" name="Slide Number Placeholder 3"/>
          <p:cNvSpPr>
            <a:spLocks noGrp="1"/>
          </p:cNvSpPr>
          <p:nvPr>
            <p:ph type="sldNum" sz="quarter" idx="10"/>
          </p:nvPr>
        </p:nvSpPr>
        <p:spPr/>
        <p:txBody>
          <a:bodyPr/>
          <a:lstStyle/>
          <a:p>
            <a:fld id="{15572EC6-E22D-4314-BD35-0F32D91EA534}" type="slidenum">
              <a:rPr lang="en-GB" smtClean="0"/>
              <a:t>3</a:t>
            </a:fld>
            <a:endParaRPr lang="en-GB"/>
          </a:p>
        </p:txBody>
      </p:sp>
    </p:spTree>
    <p:extLst>
      <p:ext uri="{BB962C8B-B14F-4D97-AF65-F5344CB8AC3E}">
        <p14:creationId xmlns:p14="http://schemas.microsoft.com/office/powerpoint/2010/main" val="337155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Just as our information is valuable to us, so it may be to others. Listed are just some of the groups</a:t>
            </a:r>
            <a:r>
              <a:rPr lang="en-GB" baseline="0" dirty="0"/>
              <a:t> who may want to harm or steal our information. Cyber-criminals generally try to obtain money by whatever means they can, whether that is by selling data or by extortion e.g. encrypting it for a ransom. This is big business and is becoming even more sophisticated over time. Competitors may want to obtain your trade secrets, blueprints, business plans, customer lists etc. because it is easier and cheaper than creating this information themselves. Hacktivists may have a grudge against your organisation and this will often depend on the industry you are in. Nation states may seem far-fetched as a threat, but sometimes complex malware that is written by them can escape into the hands of others; some countries may have an economic motive to help their industries and their resources are usually significant. Lastly, people inside or outside your organisation may try to hack in or disrupt your business operations, maybe for fun or maybe due to a grudge e.g. disgruntled ex-employees. It’s a sad fact that much of the computer fraud that takes place today has an “insider” component to it.  </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4</a:t>
            </a:fld>
            <a:endParaRPr lang="en-GB"/>
          </a:p>
        </p:txBody>
      </p:sp>
    </p:spTree>
    <p:extLst>
      <p:ext uri="{BB962C8B-B14F-4D97-AF65-F5344CB8AC3E}">
        <p14:creationId xmlns:p14="http://schemas.microsoft.com/office/powerpoint/2010/main" val="1096534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So we have lots of valuable information and many threats who would like to get hold of it. Explore the consequences of a loss of confidentiality, integrity or availability of that information. What would happen if your customers’ data was stolen – how would that affect your customers, your company, your employees, your board and shareholders? Make the point that its not just about someone hacking in and stealing information (although that is important) but also about if the information was accidentally deleted or corrupted by a software change for example.</a:t>
            </a:r>
          </a:p>
          <a:p>
            <a:pPr marL="0" marR="0" indent="0" algn="l" defTabSz="914400" rtl="0" eaLnBrk="1" fontAlgn="auto" latinLnBrk="0" hangingPunct="1">
              <a:lnSpc>
                <a:spcPct val="100000"/>
              </a:lnSpc>
              <a:spcBef>
                <a:spcPts val="0"/>
              </a:spcBef>
              <a:spcAft>
                <a:spcPts val="0"/>
              </a:spcAft>
              <a:buClrTx/>
              <a:buSzTx/>
              <a:buFontTx/>
              <a:buNone/>
              <a:tabLst/>
              <a:defRPr/>
            </a:pPr>
            <a:endParaRPr lang="en-GB"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GB" baseline="0" dirty="0"/>
              <a:t>The point of this slide is that for most companies the consequences of wholesale data loss are severe and may threaten the very existence of the company. So we need to protect it. </a:t>
            </a:r>
          </a:p>
          <a:p>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5</a:t>
            </a:fld>
            <a:endParaRPr lang="en-GB"/>
          </a:p>
        </p:txBody>
      </p:sp>
    </p:spTree>
    <p:extLst>
      <p:ext uri="{BB962C8B-B14F-4D97-AF65-F5344CB8AC3E}">
        <p14:creationId xmlns:p14="http://schemas.microsoft.com/office/powerpoint/2010/main" val="1228247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law that applies will vary according to the country or countries in which you operate. The laws on the slide refer to the UK so you will need to change this slide if you are in</a:t>
            </a:r>
            <a:r>
              <a:rPr lang="en-GB" baseline="0" dirty="0"/>
              <a:t> another country. The intention is not to go through the laws in any detail but to make the point that there is legislation in place that affects the area of information security and in most countries it is changing on a regular basis. One of the most recent international laws is the European Union’s General Data Protection Regulation (GDPR) which affects data about EU citizens. This law applies not just to the states of the EU but to any organizations processing data about EU citizens and has severe financial penalties associated with it. The point is that information security is a serious business and people can and do go to prison for breaching the applicable legislation.</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6</a:t>
            </a:fld>
            <a:endParaRPr lang="en-GB"/>
          </a:p>
        </p:txBody>
      </p:sp>
    </p:spTree>
    <p:extLst>
      <p:ext uri="{BB962C8B-B14F-4D97-AF65-F5344CB8AC3E}">
        <p14:creationId xmlns:p14="http://schemas.microsoft.com/office/powerpoint/2010/main" val="14865480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law that applies will vary according to the country or countries in which you operate. The laws on the slide refer to the EU so you will need to change this slide if you are in</a:t>
            </a:r>
            <a:r>
              <a:rPr lang="en-GB" baseline="0" dirty="0"/>
              <a:t> another region. The intention is not to go through the laws in any detail but to make the point that there is legislation in place that affects the area of information security and in most countries it is changing on a regular basis. One of the most recent international laws is the European Union’s General Data Protection Regulation (GDPR) which affects data about EU citizens. This law applies not just to the states of the EU but to any organizations processing data about EU citizens and has severe financial penalties associated with it. The point is that information security is a serious business and people can and do go to prison for breaching the applicable legislation.</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7</a:t>
            </a:fld>
            <a:endParaRPr lang="en-GB"/>
          </a:p>
        </p:txBody>
      </p:sp>
    </p:spTree>
    <p:extLst>
      <p:ext uri="{BB962C8B-B14F-4D97-AF65-F5344CB8AC3E}">
        <p14:creationId xmlns:p14="http://schemas.microsoft.com/office/powerpoint/2010/main" val="2792719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law that applies will vary according to the country or countries in which you operate. The laws on the slide refer to the USA so you will need to change this slide if you are in another country. The intention is not to go through the laws in any detail but to make the point that there is legislation in place that affects the area of information security and in most countries it is changing on a regular basis. The point is that information security is a serious business and people can and do go to prison for breaching the applicable legislation.</a:t>
            </a:r>
          </a:p>
        </p:txBody>
      </p:sp>
      <p:sp>
        <p:nvSpPr>
          <p:cNvPr id="4" name="Slide Number Placeholder 3"/>
          <p:cNvSpPr>
            <a:spLocks noGrp="1"/>
          </p:cNvSpPr>
          <p:nvPr>
            <p:ph type="sldNum" sz="quarter" idx="10"/>
          </p:nvPr>
        </p:nvSpPr>
        <p:spPr/>
        <p:txBody>
          <a:bodyPr/>
          <a:lstStyle/>
          <a:p>
            <a:fld id="{15572EC6-E22D-4314-BD35-0F32D91EA534}" type="slidenum">
              <a:rPr lang="en-GB" smtClean="0"/>
              <a:t>8</a:t>
            </a:fld>
            <a:endParaRPr lang="en-GB"/>
          </a:p>
        </p:txBody>
      </p:sp>
    </p:spTree>
    <p:extLst>
      <p:ext uri="{BB962C8B-B14F-4D97-AF65-F5344CB8AC3E}">
        <p14:creationId xmlns:p14="http://schemas.microsoft.com/office/powerpoint/2010/main" val="13350541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law that applies will vary according to the country or countries in which you operate. The laws on the slide refer to a range of countries so you will need to change this slide according to the </a:t>
            </a:r>
            <a:r>
              <a:rPr lang="en-GB" baseline="0" dirty="0"/>
              <a:t>country you operate within (and possible do some research about </a:t>
            </a:r>
            <a:r>
              <a:rPr lang="en-GB" baseline="0"/>
              <a:t>other applicable laws). </a:t>
            </a:r>
            <a:r>
              <a:rPr lang="en-GB" baseline="0" dirty="0"/>
              <a:t>The intention is not to go through the laws in any detail but to make the point that there is legislation in place that affects the area of information security and in most countries it is changing on a regular basis. The point is that information security is a serious business and people can and do go to prison for breaching the applicable legislation.</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9</a:t>
            </a:fld>
            <a:endParaRPr lang="en-GB"/>
          </a:p>
        </p:txBody>
      </p:sp>
    </p:spTree>
    <p:extLst>
      <p:ext uri="{BB962C8B-B14F-4D97-AF65-F5344CB8AC3E}">
        <p14:creationId xmlns:p14="http://schemas.microsoft.com/office/powerpoint/2010/main" val="3604260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pPr marL="0" marR="0" indent="0" algn="l" defTabSz="914400" rtl="0" eaLnBrk="1" fontAlgn="auto" latinLnBrk="0" hangingPunct="1">
              <a:lnSpc>
                <a:spcPct val="100000"/>
              </a:lnSpc>
              <a:spcBef>
                <a:spcPts val="0"/>
              </a:spcBef>
              <a:spcAft>
                <a:spcPts val="0"/>
              </a:spcAft>
              <a:buClrTx/>
              <a:buSzTx/>
              <a:buFontTx/>
              <a:buNone/>
              <a:tabLst/>
              <a:defRPr/>
            </a:pPr>
            <a:endParaRPr lang="en-GB" b="1" dirty="0"/>
          </a:p>
          <a:p>
            <a:r>
              <a:rPr lang="en-GB" dirty="0"/>
              <a:t>Having built the case that we have important information, that there are people who want to steal it from us</a:t>
            </a:r>
            <a:r>
              <a:rPr lang="en-GB" baseline="0" dirty="0"/>
              <a:t> and that the law takes it very seriously, t</a:t>
            </a:r>
            <a:r>
              <a:rPr lang="en-GB" dirty="0"/>
              <a:t>his slide states that protecting our information involves (and requires) a high degree of management commitment and top management will be taking a strong interest in its success. We have</a:t>
            </a:r>
            <a:r>
              <a:rPr lang="en-GB" baseline="0" dirty="0"/>
              <a:t> put in place a number of policies covering different aspects of information security which the people need to read and make sure they understand. We have been through a process of assessing our risks in order to understand where the gaps are and put controls in place to fill them. As part of its commitment, management will provide the right level of resources to make it work, including training and awareness programmes such as this. A key part of our approach</a:t>
            </a:r>
            <a:r>
              <a:rPr lang="en-GB" dirty="0"/>
              <a:t> is to regularly monitor how we are doing,</a:t>
            </a:r>
            <a:r>
              <a:rPr lang="en-GB" baseline="0" dirty="0"/>
              <a:t> take any corrective action and place emphasis on continual improvement of our information security defences.</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10</a:t>
            </a:fld>
            <a:endParaRPr lang="en-GB"/>
          </a:p>
        </p:txBody>
      </p:sp>
    </p:spTree>
    <p:extLst>
      <p:ext uri="{BB962C8B-B14F-4D97-AF65-F5344CB8AC3E}">
        <p14:creationId xmlns:p14="http://schemas.microsoft.com/office/powerpoint/2010/main" val="3486655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So we’ve described the organisation’s approach to managing the risks to information security, but what part does every employee play in this? In order to maximize our security it is vital that everyone complies with the defined policies,</a:t>
            </a:r>
            <a:r>
              <a:rPr lang="en-GB" baseline="0" dirty="0"/>
              <a:t> follows procedures and keeps an eye out for anything suspicious. Because of the seriousness of this issue, it must be emphasized that complying with policies is not optional and disciplinary action may be taken if you don’t. We will talk briefly about nine specific areas in which policies and procedures apply and the main points to remember about them.</a:t>
            </a:r>
            <a:r>
              <a:rPr lang="en-GB" dirty="0"/>
              <a:t> </a:t>
            </a:r>
          </a:p>
        </p:txBody>
      </p:sp>
      <p:sp>
        <p:nvSpPr>
          <p:cNvPr id="4" name="Slide Number Placeholder 3"/>
          <p:cNvSpPr>
            <a:spLocks noGrp="1"/>
          </p:cNvSpPr>
          <p:nvPr>
            <p:ph type="sldNum" sz="quarter" idx="10"/>
          </p:nvPr>
        </p:nvSpPr>
        <p:spPr/>
        <p:txBody>
          <a:bodyPr/>
          <a:lstStyle/>
          <a:p>
            <a:fld id="{15572EC6-E22D-4314-BD35-0F32D91EA534}" type="slidenum">
              <a:rPr lang="en-GB" smtClean="0"/>
              <a:t>11</a:t>
            </a:fld>
            <a:endParaRPr lang="en-GB"/>
          </a:p>
        </p:txBody>
      </p:sp>
    </p:spTree>
    <p:extLst>
      <p:ext uri="{BB962C8B-B14F-4D97-AF65-F5344CB8AC3E}">
        <p14:creationId xmlns:p14="http://schemas.microsoft.com/office/powerpoint/2010/main" val="41249112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In this cyber-connected</a:t>
            </a:r>
            <a:r>
              <a:rPr lang="en-GB" baseline="0" dirty="0"/>
              <a:t> world physical security still plays a big part in protecting our information. We can spend thousands on software tools to stop people hacking into our networks but if we still let unknown people into our offices then much of that investment is wasted. Use these techniques to make sure you know who is in your office or work area and that they are supposed to be there. Don’t let anyone follow you through security controls such as access doors, wear and protect your access card and put politeness to one side and be prepared to (politely) challenge anyone you don’t recognize, particularly in secure areas. Don’t leave confidential information out, particularly overnight, and be aware of unauthorized people behind you when accessing it. Lastly, if you handle deliveries, make sure that they are protected appropriately, checked thoroughly and that delivery staff aren’t allowed access to restricted areas. </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12</a:t>
            </a:fld>
            <a:endParaRPr lang="en-GB"/>
          </a:p>
        </p:txBody>
      </p:sp>
    </p:spTree>
    <p:extLst>
      <p:ext uri="{BB962C8B-B14F-4D97-AF65-F5344CB8AC3E}">
        <p14:creationId xmlns:p14="http://schemas.microsoft.com/office/powerpoint/2010/main" val="34168363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Your user account is yours and yours alone. If your account is logged on, then it must be you using it. The</a:t>
            </a:r>
            <a:r>
              <a:rPr lang="en-GB" baseline="0" dirty="0"/>
              <a:t> main protection to stop anyone else using your account is your password. Make it a good one. A good password is generally a long one, with a mix of upper and lower case characters with special characters and numbers mixed in. It should not be a dictionary word or related to anything about you that other people could easily find out e.g. names of relatives or your date of birth. The only problem with this is being able to remember it and there are various techniques you can use to create memorable passwords that meet these criteria e.g. using letters from a phrase rather than a single word. Once you’ve set your strong password don’t tell it to anyone else or write it down. Ideally you should use a different password for each system (unless single sign-on is used) because then if one password is compromised it doesn’t mean they all are. If it’s available, two factor authentication (something you have and something you know, like a bank card and PIN)  should be used as this increases security significantly. </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13</a:t>
            </a:fld>
            <a:endParaRPr lang="en-GB"/>
          </a:p>
        </p:txBody>
      </p:sp>
    </p:spTree>
    <p:extLst>
      <p:ext uri="{BB962C8B-B14F-4D97-AF65-F5344CB8AC3E}">
        <p14:creationId xmlns:p14="http://schemas.microsoft.com/office/powerpoint/2010/main" val="3333315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We all use email and,</a:t>
            </a:r>
            <a:r>
              <a:rPr lang="en-GB" baseline="0" dirty="0"/>
              <a:t> used carefully, it’s a valuable tool for communication. However it is also one of the easiest ways to accidentally send confidential information to the wrong people by accident so treat it with care. Always consider what information you are sending and to whom. Consider email an insecure way to communicate and treat it accordingly. If you do have to send sensitive information via email there are guidelines on how it should be done and these will often involve using encryption techniques to scramble the information and make sure that only the recipient can read it. Remember that many password reset methods for other systems will send an email to you so regard your email password as one of the most important you have.</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14</a:t>
            </a:fld>
            <a:endParaRPr lang="en-GB"/>
          </a:p>
        </p:txBody>
      </p:sp>
    </p:spTree>
    <p:extLst>
      <p:ext uri="{BB962C8B-B14F-4D97-AF65-F5344CB8AC3E}">
        <p14:creationId xmlns:p14="http://schemas.microsoft.com/office/powerpoint/2010/main" val="3327194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Email is also probably the most</a:t>
            </a:r>
            <a:r>
              <a:rPr lang="en-GB" baseline="0" dirty="0"/>
              <a:t> common way that people with malicious intent will target us. A phishing email is an email that pretends to come from a friend, colleague, organization etc. and usually asks you to take some action. This action will often be to click on a link, open an attachment or go to a specific website. If you do this, in many cases this will be the trigger to allow the download of a malicious program onto your computer without you knowing. This program may then do one of more of a whole range of malicious things such as encrypting your hard drive (and the organization’s shared drives) spying on your use of your computer to find out your passwords or simply providing an entry point to the network for someone across the other side of the world.</a:t>
            </a:r>
          </a:p>
          <a:p>
            <a:endParaRPr lang="en-GB" baseline="0" dirty="0"/>
          </a:p>
          <a:p>
            <a:r>
              <a:rPr lang="en-GB" baseline="0" dirty="0"/>
              <a:t>Depending on what the person creating them is trying to achieve, a phishing email may be targeted at everyone on the Internet, at our organization only or even at only you. Our organisation has software controls in place to try to spot these emails before they reach you and these are largely successful, but still sometimes a few get through. So if, you do receive a phishing email, how do you tell? It used to be the case that such emails were badly spelled and poorly presented but this is less often the case today. Such emails will usually not be in response to an email you have sent (although they may look as if they are from someone you know) – they are unsolicited so this should initially make you suspicious. If it contains an attachment this should ring alarm bells – many have PDF or Zip files attached which, when opened, will run a program. On a computer, hover your mouse over links (without clicking) to see where the links actually go to – often they go somewhere other than the link suggests. </a:t>
            </a:r>
          </a:p>
          <a:p>
            <a:endParaRPr lang="en-GB" baseline="0" dirty="0"/>
          </a:p>
          <a:p>
            <a:r>
              <a:rPr lang="en-GB" baseline="0" dirty="0"/>
              <a:t>If you’re not sure about an email contact the help desk to obtain advice or maybe contact the sender via another method e.g. telephone to check that they did indeed send it. The main point about email is to be suspicious at all times!</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15</a:t>
            </a:fld>
            <a:endParaRPr lang="en-GB"/>
          </a:p>
        </p:txBody>
      </p:sp>
    </p:spTree>
    <p:extLst>
      <p:ext uri="{BB962C8B-B14F-4D97-AF65-F5344CB8AC3E}">
        <p14:creationId xmlns:p14="http://schemas.microsoft.com/office/powerpoint/2010/main" val="3322948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Using the Internet is an essential part of many job roles and, done safely, it has huge benefits. Following basic rules on</a:t>
            </a:r>
            <a:r>
              <a:rPr lang="en-GB" baseline="0" dirty="0"/>
              <a:t> dos and don’ts with Internet usage will mean that everything works as it should. As with email, there are various software tools the organization uses to manage and monitor Internet usage and you need to be aware that this is happening. Within the Internet Acceptable Usage Policy there is a list of the types of sites that will be blocked from corporate networks and in addition to these you should avoid any sites or areas within sites that are associated with these types of subjects.</a:t>
            </a:r>
          </a:p>
          <a:p>
            <a:endParaRPr lang="en-GB" baseline="0" dirty="0"/>
          </a:p>
          <a:p>
            <a:r>
              <a:rPr lang="en-GB" baseline="0" dirty="0"/>
              <a:t>Be careful when posting work-related information on social media sites as this may provide useful insights to people planning to try to attack our networks, either via technical means or by social engineering i.e. convincing people to give information by tricking them. </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16</a:t>
            </a:fld>
            <a:endParaRPr lang="en-GB"/>
          </a:p>
        </p:txBody>
      </p:sp>
    </p:spTree>
    <p:extLst>
      <p:ext uri="{BB962C8B-B14F-4D97-AF65-F5344CB8AC3E}">
        <p14:creationId xmlns:p14="http://schemas.microsoft.com/office/powerpoint/2010/main" val="37845711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storing of business data in the cloud potentially represents an increased risk if not managed</a:t>
            </a:r>
            <a:r>
              <a:rPr lang="en-GB" baseline="0" dirty="0"/>
              <a:t> properly. Users must be aware that all business use of cloud services must be authorised so that a proper process can be followed to assess the cloud service provider, understand the services provided, agree roles and responsibilities, confirm the level of protection our data will receive and where it will be held. It is very easy and quick to simply sign up to a cloud service that seems to meet our needs and this temptation must be avoided if the risks to our information are to be managed effectively. </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17</a:t>
            </a:fld>
            <a:endParaRPr lang="en-GB"/>
          </a:p>
        </p:txBody>
      </p:sp>
    </p:spTree>
    <p:extLst>
      <p:ext uri="{BB962C8B-B14F-4D97-AF65-F5344CB8AC3E}">
        <p14:creationId xmlns:p14="http://schemas.microsoft.com/office/powerpoint/2010/main" val="1674010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This slide applies if the organisation is a Cloud Service Provider (CSP), which in GDPR terms, means a processor. The point is that looking after potentially many customers’ data is a huge</a:t>
            </a:r>
            <a:r>
              <a:rPr lang="en-GB" baseline="0" dirty="0"/>
              <a:t> responsibility and one which must be taken very seriously. Access to customer data and computing environments must only be performed according to recognised procedures as an information security breach may have significant consequences for both our organisation and one or more of our customers. If a breach is suspected it should be reported immediately to the information security function within our organisation who will co-ordinate communication with customers as required.</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18</a:t>
            </a:fld>
            <a:endParaRPr lang="en-GB"/>
          </a:p>
        </p:txBody>
      </p:sp>
    </p:spTree>
    <p:extLst>
      <p:ext uri="{BB962C8B-B14F-4D97-AF65-F5344CB8AC3E}">
        <p14:creationId xmlns:p14="http://schemas.microsoft.com/office/powerpoint/2010/main" val="4289959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Viruses are programs that will take some form of malicious action on our computers</a:t>
            </a:r>
            <a:r>
              <a:rPr lang="en-GB" baseline="0" dirty="0"/>
              <a:t> if they are allowed to install themselves. The organisation uses anti-virus software to prevent this from happening but new viruses are being written all the time so it is a continual battle. Don’t try to interfere with the anti-virus software on your computer or device and if you do believe that you may have been affected by a virus report it immediately to the help desk.</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19</a:t>
            </a:fld>
            <a:endParaRPr lang="en-GB"/>
          </a:p>
        </p:txBody>
      </p:sp>
    </p:spTree>
    <p:extLst>
      <p:ext uri="{BB962C8B-B14F-4D97-AF65-F5344CB8AC3E}">
        <p14:creationId xmlns:p14="http://schemas.microsoft.com/office/powerpoint/2010/main" val="24783332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Mobile devices such as smartphones, tablets and laptops are incredibly useful tools in accessing and processing our business information and communicating</a:t>
            </a:r>
            <a:r>
              <a:rPr lang="en-GB" baseline="0" dirty="0"/>
              <a:t> with each other. There are a number of common sense precautions that you need to take to ensure that your mobile devices stay safe and secure. Keep them with you and protected at all times and make use of the security facilities they provide. Organisation-supplied devices will be subject to corporate security standards and these should not be interfered with. If you are using your own mobile device you must comply with the organization's policy for this which places restrictions on what organisation information may be stored on it and the systems it may be used to access.  </a:t>
            </a:r>
            <a:r>
              <a:rPr lang="en-GB" dirty="0"/>
              <a:t> </a:t>
            </a:r>
          </a:p>
        </p:txBody>
      </p:sp>
      <p:sp>
        <p:nvSpPr>
          <p:cNvPr id="4" name="Slide Number Placeholder 3"/>
          <p:cNvSpPr>
            <a:spLocks noGrp="1"/>
          </p:cNvSpPr>
          <p:nvPr>
            <p:ph type="sldNum" sz="quarter" idx="10"/>
          </p:nvPr>
        </p:nvSpPr>
        <p:spPr/>
        <p:txBody>
          <a:bodyPr/>
          <a:lstStyle/>
          <a:p>
            <a:fld id="{15572EC6-E22D-4314-BD35-0F32D91EA534}" type="slidenum">
              <a:rPr lang="en-GB" smtClean="0"/>
              <a:t>20</a:t>
            </a:fld>
            <a:endParaRPr lang="en-GB"/>
          </a:p>
        </p:txBody>
      </p:sp>
    </p:spTree>
    <p:extLst>
      <p:ext uri="{BB962C8B-B14F-4D97-AF65-F5344CB8AC3E}">
        <p14:creationId xmlns:p14="http://schemas.microsoft.com/office/powerpoint/2010/main" val="20998561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Like mobile devices, the problem with removable media such as USB drives, memory cards and DVDs is that they are easily lost or stolen. These types of media must not be used to store company information unless prior permission has been given. Strict controls such as encryption will be used if sensitive information must be stored on removable media and it is essential that procedures in this area are carefully</a:t>
            </a:r>
            <a:r>
              <a:rPr lang="en-GB" baseline="0" dirty="0"/>
              <a:t> followed.</a:t>
            </a:r>
          </a:p>
          <a:p>
            <a:endParaRPr lang="en-GB" baseline="0" dirty="0"/>
          </a:p>
          <a:p>
            <a:r>
              <a:rPr lang="en-GB" baseline="0" dirty="0"/>
              <a:t>If you obtain removable media from outside the organisation you must exercise due care in what you do with it as tricking someone into plugging a USB drive into their computer has been used many times as a way of introducing viruses to a network.</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21</a:t>
            </a:fld>
            <a:endParaRPr lang="en-GB"/>
          </a:p>
        </p:txBody>
      </p:sp>
    </p:spTree>
    <p:extLst>
      <p:ext uri="{BB962C8B-B14F-4D97-AF65-F5344CB8AC3E}">
        <p14:creationId xmlns:p14="http://schemas.microsoft.com/office/powerpoint/2010/main" val="22869908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The way that we dispose of information must be appropriate. The key purpose is to ensure that information that is sensitive or confidential is disposed of in a way that means it can’t be</a:t>
            </a:r>
            <a:r>
              <a:rPr lang="en-GB" baseline="0" dirty="0"/>
              <a:t> reconstructed. For paper this means using an approved shredder and for electronic devices there are various techniques we can use to wipe the data securely (simply deleting it is nowhere near good enough). Where possible some hardware e.g. hard disks may be put through a shredding machine that completely destroys it.</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22</a:t>
            </a:fld>
            <a:endParaRPr lang="en-GB"/>
          </a:p>
        </p:txBody>
      </p:sp>
    </p:spTree>
    <p:extLst>
      <p:ext uri="{BB962C8B-B14F-4D97-AF65-F5344CB8AC3E}">
        <p14:creationId xmlns:p14="http://schemas.microsoft.com/office/powerpoint/2010/main" val="3875167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Even with all of the precautions we have in place, it is likely that we will still suffer an</a:t>
            </a:r>
            <a:r>
              <a:rPr lang="en-GB" baseline="0" dirty="0"/>
              <a:t> information security incident at some stage. An incident means that we become aware that our information has been compromised in some way e.g. it has been stolen or accidentally given to the wrong people or it has been lost. We have procedures in place to manage these but every one will be different. Some incidents may be minor in that little harm results, but we must also be prepared for a situation which is more serious, possibly resulting in criminal prosecution or legal action being taken. </a:t>
            </a:r>
          </a:p>
          <a:p>
            <a:endParaRPr lang="en-GB" baseline="0" dirty="0"/>
          </a:p>
          <a:p>
            <a:r>
              <a:rPr lang="en-GB" baseline="0" dirty="0"/>
              <a:t>Because of this you must exercise care if you become aware of a potential information security incident. In the first instance, inform your manager or the information security function and then take their advice about what to do next. The key thing from an evidence point of view is that nothing is changed so try to leave things as they are unless instructed otherwise. If appropriate it may be useful to take photographs or video of the scene as long as that doesn’t interfere with it. </a:t>
            </a:r>
          </a:p>
          <a:p>
            <a:endParaRPr lang="en-GB" baseline="0" dirty="0"/>
          </a:p>
          <a:p>
            <a:r>
              <a:rPr lang="en-GB" baseline="0" dirty="0"/>
              <a:t>Note that for GDPR purposes, there are timeframe targets for breach notification, so potentially serious issues must be escalated quickly as soon as you become aware of them.</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23</a:t>
            </a:fld>
            <a:endParaRPr lang="en-GB"/>
          </a:p>
        </p:txBody>
      </p:sp>
    </p:spTree>
    <p:extLst>
      <p:ext uri="{BB962C8B-B14F-4D97-AF65-F5344CB8AC3E}">
        <p14:creationId xmlns:p14="http://schemas.microsoft.com/office/powerpoint/2010/main" val="3555712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In summary,</a:t>
            </a:r>
            <a:r>
              <a:rPr lang="en-GB" baseline="0" dirty="0"/>
              <a:t> we hope you can see that information security is extremely important to the success of our organisation and that management are completely behind the approach being taken to manage it. You have a key part to play in our defences and we ask you to remain vigilant at all times. The set of policies are available for review at any time and will be updated regularly. We will keep you informed about information security issues and we hope that together we can keep our organization’s information safe. </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24</a:t>
            </a:fld>
            <a:endParaRPr lang="en-GB"/>
          </a:p>
        </p:txBody>
      </p:sp>
    </p:spTree>
    <p:extLst>
      <p:ext uri="{BB962C8B-B14F-4D97-AF65-F5344CB8AC3E}">
        <p14:creationId xmlns:p14="http://schemas.microsoft.com/office/powerpoint/2010/main" val="15171164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dirty="0"/>
              <a:t>Ask if there are any questions</a:t>
            </a:r>
            <a:r>
              <a:rPr lang="en-GB" baseline="0" dirty="0"/>
              <a:t> about the subject of the presentation.</a:t>
            </a:r>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25</a:t>
            </a:fld>
            <a:endParaRPr lang="en-GB"/>
          </a:p>
        </p:txBody>
      </p:sp>
    </p:spTree>
    <p:extLst>
      <p:ext uri="{BB962C8B-B14F-4D97-AF65-F5344CB8AC3E}">
        <p14:creationId xmlns:p14="http://schemas.microsoft.com/office/powerpoint/2010/main" val="34449782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 typeface="Calibri" pitchFamily="34" charset="0"/>
              <a:buNone/>
              <a:tabLst/>
              <a:defRPr/>
            </a:pPr>
            <a:r>
              <a:rPr lang="en-GB" b="1" dirty="0"/>
              <a:t>Notes to Presenter:</a:t>
            </a:r>
          </a:p>
          <a:p>
            <a:pPr marL="0" indent="0">
              <a:buFont typeface="Calibri" pitchFamily="34" charset="0"/>
              <a:buNone/>
            </a:pPr>
            <a:endParaRPr lang="en-GB" altLang="en-US" dirty="0">
              <a:latin typeface="Arial" charset="0"/>
              <a:cs typeface="Arial" charset="0"/>
            </a:endParaRPr>
          </a:p>
          <a:p>
            <a:pPr marL="0" indent="0">
              <a:buFont typeface="Calibri" pitchFamily="34" charset="0"/>
              <a:buNone/>
            </a:pPr>
            <a:r>
              <a:rPr lang="en-GB" altLang="en-US" dirty="0">
                <a:latin typeface="Arial" charset="0"/>
                <a:cs typeface="Arial" charset="0"/>
              </a:rPr>
              <a:t>This quiz is intended to be an easy finale to round off the session. It may be delivered as a group quiz or you could ask people to complete it individually and then score</a:t>
            </a:r>
            <a:r>
              <a:rPr lang="en-GB" altLang="en-US" baseline="0" dirty="0">
                <a:latin typeface="Arial" charset="0"/>
                <a:cs typeface="Arial" charset="0"/>
              </a:rPr>
              <a:t> the results, even offering a prize if the budget will allow it! Answers below.</a:t>
            </a:r>
            <a:endParaRPr lang="en-GB" altLang="en-US" dirty="0">
              <a:latin typeface="Arial" charset="0"/>
              <a:cs typeface="Arial" charset="0"/>
            </a:endParaRPr>
          </a:p>
          <a:p>
            <a:pPr marL="0" indent="0">
              <a:buFont typeface="Calibri" pitchFamily="34" charset="0"/>
              <a:buNone/>
            </a:pPr>
            <a:endParaRPr lang="en-GB" altLang="en-US" dirty="0">
              <a:latin typeface="Arial" charset="0"/>
              <a:cs typeface="Arial" charset="0"/>
            </a:endParaRPr>
          </a:p>
          <a:p>
            <a:pPr marL="0" indent="0">
              <a:buFont typeface="Calibri" pitchFamily="34" charset="0"/>
              <a:buNone/>
            </a:pPr>
            <a:r>
              <a:rPr lang="en-GB" altLang="en-US" i="1" dirty="0">
                <a:latin typeface="Arial" charset="0"/>
                <a:cs typeface="Arial" charset="0"/>
              </a:rPr>
              <a:t>1. Name three of our information assets</a:t>
            </a:r>
          </a:p>
          <a:p>
            <a:pPr marL="514350" indent="-514350">
              <a:buFont typeface="Calibri" pitchFamily="34" charset="0"/>
              <a:buAutoNum type="arabicPeriod"/>
            </a:pPr>
            <a:endParaRPr lang="en-GB" altLang="en-US" dirty="0">
              <a:latin typeface="Arial" charset="0"/>
              <a:cs typeface="Arial" charset="0"/>
            </a:endParaRPr>
          </a:p>
          <a:p>
            <a:pPr marL="0" indent="0">
              <a:buFont typeface="Calibri" pitchFamily="34" charset="0"/>
              <a:buNone/>
            </a:pPr>
            <a:r>
              <a:rPr lang="en-GB" altLang="en-US" dirty="0">
                <a:latin typeface="Arial" charset="0"/>
                <a:cs typeface="Arial" charset="0"/>
              </a:rPr>
              <a:t>The list from the slide is as follows, but if possible use specific</a:t>
            </a:r>
            <a:r>
              <a:rPr lang="en-GB" altLang="en-US" baseline="0" dirty="0">
                <a:latin typeface="Arial" charset="0"/>
                <a:cs typeface="Arial" charset="0"/>
              </a:rPr>
              <a:t> instances from your organization.</a:t>
            </a:r>
          </a:p>
          <a:p>
            <a:pPr marL="0" indent="0">
              <a:buFont typeface="Calibri" pitchFamily="34" charset="0"/>
              <a:buNone/>
            </a:pPr>
            <a:endParaRPr lang="en-GB" altLang="en-US" dirty="0">
              <a:latin typeface="Arial" charset="0"/>
              <a:cs typeface="Arial" charset="0"/>
            </a:endParaRPr>
          </a:p>
          <a:p>
            <a:pPr marL="514350" indent="-514350">
              <a:buFont typeface="Arial" panose="020B0604020202020204" pitchFamily="34" charset="0"/>
              <a:buChar char="•"/>
            </a:pPr>
            <a:r>
              <a:rPr lang="en-GB" altLang="en-US" dirty="0">
                <a:latin typeface="Arial" charset="0"/>
                <a:cs typeface="Arial" charset="0"/>
              </a:rPr>
              <a:t>Personal information</a:t>
            </a:r>
          </a:p>
          <a:p>
            <a:pPr marL="514350" indent="-514350">
              <a:buFont typeface="Arial" panose="020B0604020202020204" pitchFamily="34" charset="0"/>
              <a:buChar char="•"/>
            </a:pPr>
            <a:r>
              <a:rPr lang="en-GB" altLang="en-US" dirty="0">
                <a:latin typeface="Arial" charset="0"/>
                <a:cs typeface="Arial" charset="0"/>
              </a:rPr>
              <a:t>Budgets</a:t>
            </a:r>
          </a:p>
          <a:p>
            <a:pPr marL="514350" indent="-514350">
              <a:buFont typeface="Arial" panose="020B0604020202020204" pitchFamily="34" charset="0"/>
              <a:buChar char="•"/>
            </a:pPr>
            <a:r>
              <a:rPr lang="en-GB" altLang="en-US" dirty="0">
                <a:latin typeface="Arial" charset="0"/>
                <a:cs typeface="Arial" charset="0"/>
              </a:rPr>
              <a:t>Business plans</a:t>
            </a:r>
          </a:p>
          <a:p>
            <a:pPr marL="514350" indent="-514350">
              <a:buFont typeface="Arial" panose="020B0604020202020204" pitchFamily="34" charset="0"/>
              <a:buChar char="•"/>
            </a:pPr>
            <a:r>
              <a:rPr lang="en-GB" altLang="en-US" dirty="0">
                <a:latin typeface="Arial" charset="0"/>
                <a:cs typeface="Arial" charset="0"/>
              </a:rPr>
              <a:t>Human resources</a:t>
            </a:r>
          </a:p>
          <a:p>
            <a:pPr marL="514350" indent="-514350">
              <a:buFont typeface="Arial" panose="020B0604020202020204" pitchFamily="34" charset="0"/>
              <a:buChar char="•"/>
            </a:pPr>
            <a:r>
              <a:rPr lang="en-GB" altLang="en-US" dirty="0">
                <a:latin typeface="Arial" charset="0"/>
                <a:cs typeface="Arial" charset="0"/>
              </a:rPr>
              <a:t>Customer records</a:t>
            </a:r>
          </a:p>
          <a:p>
            <a:pPr marL="514350" indent="-514350">
              <a:buFont typeface="Arial" panose="020B0604020202020204" pitchFamily="34" charset="0"/>
              <a:buChar char="•"/>
            </a:pPr>
            <a:r>
              <a:rPr lang="en-GB" altLang="en-US" dirty="0">
                <a:latin typeface="Arial" charset="0"/>
                <a:cs typeface="Arial" charset="0"/>
              </a:rPr>
              <a:t>Intellectual property</a:t>
            </a:r>
          </a:p>
          <a:p>
            <a:pPr marL="514350" indent="-514350">
              <a:buFont typeface="Arial" panose="020B0604020202020204" pitchFamily="34" charset="0"/>
              <a:buChar char="•"/>
            </a:pPr>
            <a:r>
              <a:rPr lang="en-GB" altLang="en-US" dirty="0">
                <a:latin typeface="Arial" charset="0"/>
                <a:cs typeface="Arial" charset="0"/>
              </a:rPr>
              <a:t>Legal</a:t>
            </a:r>
          </a:p>
          <a:p>
            <a:pPr marL="514350" indent="-514350">
              <a:buFont typeface="Arial" panose="020B0604020202020204" pitchFamily="34" charset="0"/>
              <a:buChar char="•"/>
            </a:pPr>
            <a:r>
              <a:rPr lang="en-GB" altLang="en-US" dirty="0">
                <a:latin typeface="Arial" charset="0"/>
                <a:cs typeface="Arial" charset="0"/>
              </a:rPr>
              <a:t>Product specs</a:t>
            </a:r>
          </a:p>
          <a:p>
            <a:pPr marL="514350" indent="-514350">
              <a:buFont typeface="Arial" panose="020B0604020202020204" pitchFamily="34" charset="0"/>
              <a:buChar char="•"/>
            </a:pPr>
            <a:r>
              <a:rPr lang="en-GB" altLang="en-US" dirty="0">
                <a:latin typeface="Arial" charset="0"/>
                <a:cs typeface="Arial" charset="0"/>
              </a:rPr>
              <a:t>Financial</a:t>
            </a:r>
          </a:p>
          <a:p>
            <a:pPr marL="514350" indent="-514350">
              <a:buFont typeface="Arial" panose="020B0604020202020204" pitchFamily="34" charset="0"/>
              <a:buChar char="•"/>
            </a:pPr>
            <a:r>
              <a:rPr lang="en-GB" altLang="en-US" dirty="0">
                <a:latin typeface="Arial" charset="0"/>
                <a:cs typeface="Arial" charset="0"/>
              </a:rPr>
              <a:t>Contractual</a:t>
            </a:r>
          </a:p>
          <a:p>
            <a:pPr marL="514350" indent="-514350">
              <a:buFont typeface="Arial" panose="020B0604020202020204" pitchFamily="34" charset="0"/>
              <a:buChar char="•"/>
            </a:pPr>
            <a:r>
              <a:rPr lang="en-GB" altLang="en-US" dirty="0">
                <a:latin typeface="Arial" charset="0"/>
                <a:cs typeface="Arial" charset="0"/>
              </a:rPr>
              <a:t>Suppliers</a:t>
            </a:r>
          </a:p>
          <a:p>
            <a:pPr marL="514350" indent="-514350">
              <a:buFont typeface="Arial" panose="020B0604020202020204" pitchFamily="34" charset="0"/>
              <a:buChar char="•"/>
            </a:pPr>
            <a:r>
              <a:rPr lang="en-GB" altLang="en-US" dirty="0">
                <a:latin typeface="Arial" charset="0"/>
                <a:cs typeface="Arial" charset="0"/>
              </a:rPr>
              <a:t>Physical</a:t>
            </a:r>
          </a:p>
          <a:p>
            <a:pPr marL="514350" indent="-514350">
              <a:buFont typeface="Arial" panose="020B0604020202020204" pitchFamily="34" charset="0"/>
              <a:buChar char="•"/>
            </a:pPr>
            <a:r>
              <a:rPr lang="en-GB" altLang="en-US" dirty="0">
                <a:latin typeface="Arial" charset="0"/>
                <a:cs typeface="Arial" charset="0"/>
              </a:rPr>
              <a:t>People</a:t>
            </a:r>
          </a:p>
          <a:p>
            <a:pPr marL="514350" indent="-514350">
              <a:buFont typeface="Arial" panose="020B0604020202020204" pitchFamily="34" charset="0"/>
              <a:buChar char="•"/>
            </a:pPr>
            <a:r>
              <a:rPr lang="en-GB" altLang="en-US" dirty="0">
                <a:latin typeface="Arial" charset="0"/>
                <a:cs typeface="Arial" charset="0"/>
              </a:rPr>
              <a:t>Tax</a:t>
            </a:r>
          </a:p>
          <a:p>
            <a:pPr marL="514350" indent="-514350">
              <a:buFont typeface="Arial" panose="020B0604020202020204" pitchFamily="34" charset="0"/>
              <a:buChar char="•"/>
            </a:pPr>
            <a:r>
              <a:rPr lang="en-GB" altLang="en-US" dirty="0">
                <a:latin typeface="Arial" charset="0"/>
                <a:cs typeface="Arial" charset="0"/>
              </a:rPr>
              <a:t>Commercial terms</a:t>
            </a:r>
          </a:p>
          <a:p>
            <a:pPr marL="514350" indent="-514350">
              <a:buFont typeface="Arial" panose="020B0604020202020204" pitchFamily="34" charset="0"/>
              <a:buChar char="•"/>
            </a:pPr>
            <a:r>
              <a:rPr lang="en-GB" altLang="en-US" dirty="0">
                <a:latin typeface="Arial" charset="0"/>
                <a:cs typeface="Arial" charset="0"/>
              </a:rPr>
              <a:t>Operational procedures</a:t>
            </a:r>
          </a:p>
          <a:p>
            <a:pPr marL="514350" indent="-514350">
              <a:buFont typeface="Calibri" pitchFamily="34" charset="0"/>
              <a:buAutoNum type="arabicPeriod"/>
            </a:pPr>
            <a:endParaRPr lang="en-GB" altLang="en-US" dirty="0">
              <a:latin typeface="Arial" charset="0"/>
              <a:cs typeface="Arial" charset="0"/>
            </a:endParaRPr>
          </a:p>
          <a:p>
            <a:pPr marL="0" indent="0">
              <a:buFont typeface="+mj-lt"/>
              <a:buNone/>
            </a:pPr>
            <a:r>
              <a:rPr lang="en-GB" altLang="en-US" i="1" dirty="0">
                <a:latin typeface="Arial" charset="0"/>
                <a:cs typeface="Arial" charset="0"/>
              </a:rPr>
              <a:t>2. Name two groups who may try to gain unauthorised access to our information assets</a:t>
            </a:r>
          </a:p>
          <a:p>
            <a:pPr marL="228600" indent="-228600">
              <a:buFont typeface="+mj-lt"/>
              <a:buAutoNum type="arabicPeriod" startAt="2"/>
            </a:pPr>
            <a:endParaRPr lang="en-GB" altLang="en-US" dirty="0">
              <a:latin typeface="Arial" charset="0"/>
              <a:cs typeface="Arial" charset="0"/>
            </a:endParaRPr>
          </a:p>
          <a:p>
            <a:pPr marL="0" indent="0">
              <a:buFont typeface="+mj-lt"/>
              <a:buNone/>
            </a:pPr>
            <a:r>
              <a:rPr lang="en-GB" altLang="en-US" dirty="0">
                <a:latin typeface="Arial" charset="0"/>
                <a:cs typeface="Arial" charset="0"/>
              </a:rPr>
              <a:t>Choice of:</a:t>
            </a:r>
          </a:p>
          <a:p>
            <a:pPr marL="0" indent="0">
              <a:buFont typeface="+mj-lt"/>
              <a:buNone/>
            </a:pPr>
            <a:endParaRPr lang="en-GB" altLang="en-US" dirty="0">
              <a:latin typeface="Arial" charset="0"/>
              <a:cs typeface="Arial" charset="0"/>
            </a:endParaRPr>
          </a:p>
          <a:p>
            <a:pPr marL="0" indent="0">
              <a:buFont typeface="+mj-lt"/>
              <a:buNone/>
            </a:pPr>
            <a:r>
              <a:rPr lang="en-GB" altLang="en-US" dirty="0">
                <a:latin typeface="Arial" charset="0"/>
                <a:cs typeface="Arial" charset="0"/>
              </a:rPr>
              <a:t>Cyber-criminals – organised gangs</a:t>
            </a:r>
          </a:p>
          <a:p>
            <a:pPr marL="0" indent="0">
              <a:buFont typeface="+mj-lt"/>
              <a:buNone/>
            </a:pPr>
            <a:r>
              <a:rPr lang="en-GB" altLang="en-US" dirty="0">
                <a:latin typeface="Arial" charset="0"/>
                <a:cs typeface="Arial" charset="0"/>
              </a:rPr>
              <a:t>Competitors – at home and abroad</a:t>
            </a:r>
          </a:p>
          <a:p>
            <a:pPr marL="0" indent="0">
              <a:buFont typeface="+mj-lt"/>
              <a:buNone/>
            </a:pPr>
            <a:r>
              <a:rPr lang="en-GB" altLang="en-US" dirty="0">
                <a:latin typeface="Arial" charset="0"/>
                <a:cs typeface="Arial" charset="0"/>
              </a:rPr>
              <a:t>Hacktivists – politically motivated</a:t>
            </a:r>
          </a:p>
          <a:p>
            <a:pPr marL="0" indent="0">
              <a:buFont typeface="+mj-lt"/>
              <a:buNone/>
            </a:pPr>
            <a:r>
              <a:rPr lang="en-GB" altLang="en-US" dirty="0">
                <a:latin typeface="Arial" charset="0"/>
                <a:cs typeface="Arial" charset="0"/>
              </a:rPr>
              <a:t>Nation states – cyber-warfare</a:t>
            </a:r>
          </a:p>
          <a:p>
            <a:pPr marL="0" indent="0">
              <a:buFont typeface="+mj-lt"/>
              <a:buNone/>
            </a:pPr>
            <a:r>
              <a:rPr lang="en-GB" altLang="en-US" dirty="0">
                <a:latin typeface="Arial" charset="0"/>
                <a:cs typeface="Arial" charset="0"/>
              </a:rPr>
              <a:t>Fraudsters – individuals inside or outside the organisation</a:t>
            </a:r>
          </a:p>
          <a:p>
            <a:pPr marL="228600" indent="-228600">
              <a:buFont typeface="+mj-lt"/>
              <a:buAutoNum type="arabicPeriod" startAt="2"/>
            </a:pPr>
            <a:endParaRPr lang="en-GB" altLang="en-US" dirty="0">
              <a:latin typeface="Arial" charset="0"/>
              <a:cs typeface="Arial" charset="0"/>
            </a:endParaRPr>
          </a:p>
          <a:p>
            <a:pPr marL="0" indent="0">
              <a:buFont typeface="+mj-lt"/>
              <a:buNone/>
            </a:pPr>
            <a:r>
              <a:rPr lang="en-GB" altLang="en-US" i="1" dirty="0">
                <a:latin typeface="Arial" charset="0"/>
                <a:cs typeface="Arial" charset="0"/>
              </a:rPr>
              <a:t>3. Give two ways in which the organisation may be affected by an information security breach</a:t>
            </a:r>
          </a:p>
          <a:p>
            <a:pPr marL="514350" indent="-514350">
              <a:buFont typeface="+mj-lt"/>
              <a:buAutoNum type="arabicPeriod" startAt="3"/>
            </a:pPr>
            <a:endParaRPr lang="en-GB" altLang="en-US" dirty="0">
              <a:latin typeface="Arial" charset="0"/>
              <a:cs typeface="Arial" charset="0"/>
            </a:endParaRPr>
          </a:p>
          <a:p>
            <a:pPr marL="0" indent="0">
              <a:buFont typeface="+mj-lt"/>
              <a:buNone/>
            </a:pPr>
            <a:r>
              <a:rPr lang="en-GB" altLang="en-US" dirty="0">
                <a:latin typeface="Arial" charset="0"/>
                <a:cs typeface="Arial" charset="0"/>
              </a:rPr>
              <a:t>Any genuine impacts are acceptable e.g. loss of reputation, loss of revenue, legal action, having to pay a ransom,</a:t>
            </a:r>
            <a:r>
              <a:rPr lang="en-GB" altLang="en-US" baseline="0" dirty="0">
                <a:latin typeface="Arial" charset="0"/>
                <a:cs typeface="Arial" charset="0"/>
              </a:rPr>
              <a:t> loss of customers, employees put at risk etc.</a:t>
            </a:r>
            <a:endParaRPr lang="en-GB" altLang="en-US" dirty="0">
              <a:latin typeface="Arial" charset="0"/>
              <a:cs typeface="Arial" charset="0"/>
            </a:endParaRPr>
          </a:p>
          <a:p>
            <a:pPr marL="514350" indent="-514350">
              <a:buFont typeface="+mj-lt"/>
              <a:buAutoNum type="arabicPeriod" startAt="3"/>
            </a:pPr>
            <a:endParaRPr lang="en-GB" altLang="en-US" dirty="0">
              <a:latin typeface="Arial" charset="0"/>
              <a:cs typeface="Arial" charset="0"/>
            </a:endParaRPr>
          </a:p>
          <a:p>
            <a:pPr marL="0" indent="0">
              <a:buFont typeface="+mj-lt"/>
              <a:buNone/>
            </a:pPr>
            <a:r>
              <a:rPr lang="en-GB" altLang="en-US" i="1" dirty="0">
                <a:latin typeface="Arial" charset="0"/>
                <a:cs typeface="Arial" charset="0"/>
              </a:rPr>
              <a:t>4. What does “GDPR” stand for?</a:t>
            </a:r>
          </a:p>
          <a:p>
            <a:pPr marL="514350" indent="-514350">
              <a:buFont typeface="Calibri" pitchFamily="34" charset="0"/>
              <a:buAutoNum type="arabicPeriod" startAt="4"/>
            </a:pPr>
            <a:endParaRPr lang="en-GB" altLang="en-US" dirty="0">
              <a:latin typeface="Arial" charset="0"/>
              <a:cs typeface="Arial" charset="0"/>
            </a:endParaRPr>
          </a:p>
          <a:p>
            <a:pPr marL="0" indent="0">
              <a:buFont typeface="Calibri" pitchFamily="34" charset="0"/>
              <a:buNone/>
            </a:pPr>
            <a:r>
              <a:rPr lang="en-GB" altLang="en-US" dirty="0">
                <a:latin typeface="Arial" charset="0"/>
                <a:cs typeface="Arial" charset="0"/>
              </a:rPr>
              <a:t>General Data Protection Regulation</a:t>
            </a:r>
          </a:p>
          <a:p>
            <a:pPr marL="0" indent="0">
              <a:buFont typeface="Calibri" pitchFamily="34" charset="0"/>
              <a:buNone/>
            </a:pPr>
            <a:endParaRPr lang="en-GB" altLang="en-US" dirty="0">
              <a:latin typeface="Arial" charset="0"/>
              <a:cs typeface="Arial" charset="0"/>
            </a:endParaRPr>
          </a:p>
          <a:p>
            <a:pPr marL="0" indent="0">
              <a:buFont typeface="+mj-lt"/>
              <a:buNone/>
            </a:pPr>
            <a:r>
              <a:rPr lang="en-GB" altLang="en-US" i="1" dirty="0">
                <a:latin typeface="Arial" charset="0"/>
                <a:cs typeface="Arial" charset="0"/>
              </a:rPr>
              <a:t>5. Give an example of a “strong password”</a:t>
            </a:r>
          </a:p>
          <a:p>
            <a:pPr marL="514350" indent="-514350">
              <a:buFont typeface="Calibri" pitchFamily="34" charset="0"/>
              <a:buAutoNum type="arabicPeriod" startAt="5"/>
            </a:pPr>
            <a:endParaRPr lang="en-GB" altLang="en-US" dirty="0">
              <a:latin typeface="Arial" charset="0"/>
              <a:cs typeface="Arial" charset="0"/>
            </a:endParaRPr>
          </a:p>
          <a:p>
            <a:pPr marL="0" indent="0">
              <a:buFont typeface="Calibri" pitchFamily="34" charset="0"/>
              <a:buNone/>
            </a:pPr>
            <a:r>
              <a:rPr lang="en-GB" altLang="en-US" dirty="0">
                <a:latin typeface="Arial" charset="0"/>
                <a:cs typeface="Arial" charset="0"/>
              </a:rPr>
              <a:t>Any</a:t>
            </a:r>
            <a:r>
              <a:rPr lang="en-GB" altLang="en-US" baseline="0" dirty="0">
                <a:latin typeface="Arial" charset="0"/>
                <a:cs typeface="Arial" charset="0"/>
              </a:rPr>
              <a:t> password that’s long, has numbers and special characters in it, not a dictionary word e.g. Tiavhqfm3$ (example based on first letters from the phrase “This is a very hard quiz for me”)</a:t>
            </a:r>
            <a:endParaRPr lang="en-GB" altLang="en-US" dirty="0">
              <a:latin typeface="Arial" charset="0"/>
              <a:cs typeface="Arial" charset="0"/>
            </a:endParaRPr>
          </a:p>
          <a:p>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26</a:t>
            </a:fld>
            <a:endParaRPr lang="en-GB"/>
          </a:p>
        </p:txBody>
      </p:sp>
    </p:spTree>
    <p:extLst>
      <p:ext uri="{BB962C8B-B14F-4D97-AF65-F5344CB8AC3E}">
        <p14:creationId xmlns:p14="http://schemas.microsoft.com/office/powerpoint/2010/main" val="3988243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b="1" dirty="0"/>
              <a:t>Notes to Presenter:</a:t>
            </a:r>
          </a:p>
          <a:p>
            <a:endParaRPr lang="en-GB" dirty="0"/>
          </a:p>
          <a:p>
            <a:r>
              <a:rPr lang="en-GB" i="1" dirty="0"/>
              <a:t>6. If you recognise a “Phishing” email what should you do with it?</a:t>
            </a:r>
          </a:p>
          <a:p>
            <a:endParaRPr lang="en-GB" dirty="0"/>
          </a:p>
          <a:p>
            <a:r>
              <a:rPr lang="en-GB" dirty="0"/>
              <a:t>Don’t open it,</a:t>
            </a:r>
            <a:r>
              <a:rPr lang="en-GB" baseline="0" dirty="0"/>
              <a:t> click on links or open attachments. Report it to the IT help desk.</a:t>
            </a:r>
            <a:endParaRPr lang="en-GB" dirty="0"/>
          </a:p>
          <a:p>
            <a:endParaRPr lang="en-GB" dirty="0"/>
          </a:p>
          <a:p>
            <a:r>
              <a:rPr lang="en-GB" i="1" dirty="0"/>
              <a:t>7. If you find a USB memory stick in the car park what action should you take?</a:t>
            </a:r>
          </a:p>
          <a:p>
            <a:endParaRPr lang="en-GB" dirty="0"/>
          </a:p>
          <a:p>
            <a:r>
              <a:rPr lang="en-GB" dirty="0"/>
              <a:t>Don’t put it in your computer! Hand it in to your manager or appropriate authority.</a:t>
            </a:r>
          </a:p>
          <a:p>
            <a:endParaRPr lang="en-GB" dirty="0"/>
          </a:p>
          <a:p>
            <a:r>
              <a:rPr lang="en-GB" i="1" dirty="0"/>
              <a:t>8. What are your responsibilities when you have a visitor?</a:t>
            </a:r>
          </a:p>
          <a:p>
            <a:endParaRPr lang="en-GB" dirty="0"/>
          </a:p>
          <a:p>
            <a:r>
              <a:rPr lang="en-GB" dirty="0"/>
              <a:t>Make sure they have signed in and are wearing their badge. Escort them at all times.</a:t>
            </a:r>
          </a:p>
          <a:p>
            <a:endParaRPr lang="en-GB" dirty="0"/>
          </a:p>
          <a:p>
            <a:r>
              <a:rPr lang="en-GB" i="1" dirty="0"/>
              <a:t>9. Who would you report an information security incident to?</a:t>
            </a:r>
          </a:p>
          <a:p>
            <a:endParaRPr lang="en-GB" dirty="0"/>
          </a:p>
          <a:p>
            <a:r>
              <a:rPr lang="en-GB" dirty="0"/>
              <a:t>Your manager and/or the IT help desk.</a:t>
            </a:r>
          </a:p>
          <a:p>
            <a:endParaRPr lang="en-GB" dirty="0"/>
          </a:p>
          <a:p>
            <a:r>
              <a:rPr lang="en-GB" i="1" dirty="0"/>
              <a:t>10. Whose responsibility is information security within our organisation?</a:t>
            </a:r>
          </a:p>
          <a:p>
            <a:endParaRPr lang="en-GB" dirty="0"/>
          </a:p>
          <a:p>
            <a:r>
              <a:rPr lang="en-GB" dirty="0"/>
              <a:t>Everyone’s!</a:t>
            </a:r>
          </a:p>
          <a:p>
            <a:endParaRPr lang="en-GB" dirty="0"/>
          </a:p>
        </p:txBody>
      </p:sp>
      <p:sp>
        <p:nvSpPr>
          <p:cNvPr id="4" name="Slide Number Placeholder 3"/>
          <p:cNvSpPr>
            <a:spLocks noGrp="1"/>
          </p:cNvSpPr>
          <p:nvPr>
            <p:ph type="sldNum" sz="quarter" idx="10"/>
          </p:nvPr>
        </p:nvSpPr>
        <p:spPr/>
        <p:txBody>
          <a:bodyPr/>
          <a:lstStyle/>
          <a:p>
            <a:fld id="{15572EC6-E22D-4314-BD35-0F32D91EA534}" type="slidenum">
              <a:rPr lang="en-GB" smtClean="0"/>
              <a:t>27</a:t>
            </a:fld>
            <a:endParaRPr lang="en-GB"/>
          </a:p>
        </p:txBody>
      </p:sp>
    </p:spTree>
    <p:extLst>
      <p:ext uri="{BB962C8B-B14F-4D97-AF65-F5344CB8AC3E}">
        <p14:creationId xmlns:p14="http://schemas.microsoft.com/office/powerpoint/2010/main" val="342057589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fontAlgn="auto">
              <a:spcBef>
                <a:spcPts val="0"/>
              </a:spcBef>
              <a:spcAft>
                <a:spcPts val="0"/>
              </a:spcAft>
              <a:defRPr>
                <a:solidFill>
                  <a:srgbClr val="DBF5F9">
                    <a:shade val="90000"/>
                  </a:srgbClr>
                </a:solidFill>
                <a:latin typeface="+mn-lt"/>
              </a:defRPr>
            </a:lvl1pPr>
          </a:lstStyle>
          <a:p>
            <a:pPr>
              <a:defRPr/>
            </a:pPr>
            <a:endParaRPr lang="en-US"/>
          </a:p>
        </p:txBody>
      </p:sp>
      <p:sp>
        <p:nvSpPr>
          <p:cNvPr id="5" name="Footer Placeholder 18"/>
          <p:cNvSpPr>
            <a:spLocks noGrp="1"/>
          </p:cNvSpPr>
          <p:nvPr>
            <p:ph type="ftr" sz="quarter" idx="11"/>
          </p:nvPr>
        </p:nvSpPr>
        <p:spPr/>
        <p:txBody>
          <a:bodyPr/>
          <a:lstStyle>
            <a:lvl1pPr fontAlgn="auto">
              <a:spcBef>
                <a:spcPts val="0"/>
              </a:spcBef>
              <a:spcAft>
                <a:spcPts val="0"/>
              </a:spcAft>
              <a:defRPr>
                <a:solidFill>
                  <a:srgbClr val="DBF5F9">
                    <a:shade val="90000"/>
                  </a:srgbClr>
                </a:solidFill>
                <a:latin typeface="+mn-lt"/>
              </a:defRPr>
            </a:lvl1pPr>
          </a:lstStyle>
          <a:p>
            <a:pPr>
              <a:defRPr/>
            </a:pPr>
            <a:r>
              <a:rPr lang="en-GB"/>
              <a:t>(c) Public IT Limited</a:t>
            </a:r>
            <a:endParaRPr lang="en-US"/>
          </a:p>
        </p:txBody>
      </p:sp>
      <p:sp>
        <p:nvSpPr>
          <p:cNvPr id="6" name="Slide Number Placeholder 26"/>
          <p:cNvSpPr>
            <a:spLocks noGrp="1"/>
          </p:cNvSpPr>
          <p:nvPr>
            <p:ph type="sldNum" sz="quarter" idx="12"/>
          </p:nvPr>
        </p:nvSpPr>
        <p:spPr/>
        <p:txBody>
          <a:bodyPr/>
          <a:lstStyle>
            <a:lvl1pPr fontAlgn="auto">
              <a:spcBef>
                <a:spcPts val="0"/>
              </a:spcBef>
              <a:spcAft>
                <a:spcPts val="0"/>
              </a:spcAft>
              <a:defRPr>
                <a:solidFill>
                  <a:srgbClr val="DBF5F9">
                    <a:shade val="90000"/>
                  </a:srgbClr>
                </a:solidFill>
                <a:latin typeface="+mn-lt"/>
              </a:defRPr>
            </a:lvl1pPr>
          </a:lstStyle>
          <a:p>
            <a:pPr>
              <a:defRPr/>
            </a:pPr>
            <a:fld id="{174053E0-CC06-42E1-A40F-26F01C7D723E}" type="slidenum">
              <a:rPr lang="en-US"/>
              <a:pPr>
                <a:defRPr/>
              </a:pPr>
              <a:t>‹#›</a:t>
            </a:fld>
            <a:endParaRPr lang="en-US"/>
          </a:p>
        </p:txBody>
      </p:sp>
    </p:spTree>
    <p:extLst>
      <p:ext uri="{BB962C8B-B14F-4D97-AF65-F5344CB8AC3E}">
        <p14:creationId xmlns:p14="http://schemas.microsoft.com/office/powerpoint/2010/main" val="103963110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86C82261-A946-46B9-8BD1-B2900C55ED35}" type="slidenum">
              <a:rPr lang="en-US"/>
              <a:pPr>
                <a:defRPr/>
              </a:pPr>
              <a:t>‹#›</a:t>
            </a:fld>
            <a:endParaRPr lang="en-US"/>
          </a:p>
        </p:txBody>
      </p:sp>
    </p:spTree>
    <p:extLst>
      <p:ext uri="{BB962C8B-B14F-4D97-AF65-F5344CB8AC3E}">
        <p14:creationId xmlns:p14="http://schemas.microsoft.com/office/powerpoint/2010/main" val="3326759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fontAlgn="auto">
              <a:spcBef>
                <a:spcPts val="0"/>
              </a:spcBef>
              <a:spcAft>
                <a:spcPts val="0"/>
              </a:spcAft>
              <a:defRPr>
                <a:solidFill>
                  <a:srgbClr val="DBF5F9">
                    <a:shade val="90000"/>
                  </a:srgbClr>
                </a:solidFill>
                <a:latin typeface="+mn-lt"/>
              </a:defRPr>
            </a:lvl1pPr>
          </a:lstStyle>
          <a:p>
            <a:pPr>
              <a:defRPr/>
            </a:pPr>
            <a:endParaRPr lang="en-US"/>
          </a:p>
        </p:txBody>
      </p:sp>
      <p:sp>
        <p:nvSpPr>
          <p:cNvPr id="5" name="Footer Placeholder 4"/>
          <p:cNvSpPr>
            <a:spLocks noGrp="1"/>
          </p:cNvSpPr>
          <p:nvPr>
            <p:ph type="ftr" sz="quarter" idx="11"/>
          </p:nvPr>
        </p:nvSpPr>
        <p:spPr/>
        <p:txBody>
          <a:bodyPr/>
          <a:lstStyle>
            <a:lvl1pPr fontAlgn="auto">
              <a:spcBef>
                <a:spcPts val="0"/>
              </a:spcBef>
              <a:spcAft>
                <a:spcPts val="0"/>
              </a:spcAft>
              <a:defRPr>
                <a:solidFill>
                  <a:srgbClr val="DBF5F9">
                    <a:shade val="90000"/>
                  </a:srgbClr>
                </a:solidFill>
                <a:latin typeface="+mn-lt"/>
              </a:defRPr>
            </a:lvl1pPr>
          </a:lstStyle>
          <a:p>
            <a:pPr>
              <a:defRPr/>
            </a:pPr>
            <a:r>
              <a:rPr lang="en-GB"/>
              <a:t>(c) Public IT Limited</a:t>
            </a:r>
            <a:endParaRPr lang="en-US"/>
          </a:p>
        </p:txBody>
      </p:sp>
      <p:sp>
        <p:nvSpPr>
          <p:cNvPr id="6" name="Slide Number Placeholder 5"/>
          <p:cNvSpPr>
            <a:spLocks noGrp="1"/>
          </p:cNvSpPr>
          <p:nvPr>
            <p:ph type="sldNum" sz="quarter" idx="12"/>
          </p:nvPr>
        </p:nvSpPr>
        <p:spPr/>
        <p:txBody>
          <a:bodyPr/>
          <a:lstStyle>
            <a:lvl1pPr fontAlgn="auto">
              <a:spcBef>
                <a:spcPts val="0"/>
              </a:spcBef>
              <a:spcAft>
                <a:spcPts val="0"/>
              </a:spcAft>
              <a:defRPr>
                <a:solidFill>
                  <a:srgbClr val="DBF5F9">
                    <a:shade val="90000"/>
                  </a:srgbClr>
                </a:solidFill>
                <a:latin typeface="+mn-lt"/>
              </a:defRPr>
            </a:lvl1pPr>
          </a:lstStyle>
          <a:p>
            <a:pPr>
              <a:defRPr/>
            </a:pPr>
            <a:fld id="{A18EB8E6-087A-4C06-9F47-AF91B67AAA23}" type="slidenum">
              <a:rPr lang="en-US"/>
              <a:pPr>
                <a:defRPr/>
              </a:pPr>
              <a:t>‹#›</a:t>
            </a:fld>
            <a:endParaRPr lang="en-US"/>
          </a:p>
        </p:txBody>
      </p:sp>
    </p:spTree>
    <p:extLst>
      <p:ext uri="{BB962C8B-B14F-4D97-AF65-F5344CB8AC3E}">
        <p14:creationId xmlns:p14="http://schemas.microsoft.com/office/powerpoint/2010/main" val="172146367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6"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7"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406D1F0D-5DEA-40AD-BFE0-08DA0962456B}" type="slidenum">
              <a:rPr lang="en-US"/>
              <a:pPr>
                <a:defRPr/>
              </a:pPr>
              <a:t>‹#›</a:t>
            </a:fld>
            <a:endParaRPr lang="en-US"/>
          </a:p>
        </p:txBody>
      </p:sp>
    </p:spTree>
    <p:extLst>
      <p:ext uri="{BB962C8B-B14F-4D97-AF65-F5344CB8AC3E}">
        <p14:creationId xmlns:p14="http://schemas.microsoft.com/office/powerpoint/2010/main" val="1011234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8"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9"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BCD9DDA-DBC9-4275-A908-A97C505D7F98}" type="slidenum">
              <a:rPr lang="en-US"/>
              <a:pPr>
                <a:defRPr/>
              </a:pPr>
              <a:t>‹#›</a:t>
            </a:fld>
            <a:endParaRPr lang="en-US"/>
          </a:p>
        </p:txBody>
      </p:sp>
    </p:spTree>
    <p:extLst>
      <p:ext uri="{BB962C8B-B14F-4D97-AF65-F5344CB8AC3E}">
        <p14:creationId xmlns:p14="http://schemas.microsoft.com/office/powerpoint/2010/main" val="4177215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4"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5"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37F6A813-5E33-4022-9582-F7BDAAB923D4}" type="slidenum">
              <a:rPr lang="en-US"/>
              <a:pPr>
                <a:defRPr/>
              </a:pPr>
              <a:t>‹#›</a:t>
            </a:fld>
            <a:endParaRPr lang="en-US"/>
          </a:p>
        </p:txBody>
      </p:sp>
    </p:spTree>
    <p:extLst>
      <p:ext uri="{BB962C8B-B14F-4D97-AF65-F5344CB8AC3E}">
        <p14:creationId xmlns:p14="http://schemas.microsoft.com/office/powerpoint/2010/main" val="136513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3"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4"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E19B362-6F58-4376-B76A-ED945AA68620}" type="slidenum">
              <a:rPr lang="en-US"/>
              <a:pPr>
                <a:defRPr/>
              </a:pPr>
              <a:t>‹#›</a:t>
            </a:fld>
            <a:endParaRPr lang="en-US"/>
          </a:p>
        </p:txBody>
      </p:sp>
    </p:spTree>
    <p:extLst>
      <p:ext uri="{BB962C8B-B14F-4D97-AF65-F5344CB8AC3E}">
        <p14:creationId xmlns:p14="http://schemas.microsoft.com/office/powerpoint/2010/main" val="1009474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6"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7"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A7EEE483-3709-4738-96AA-DB53D76BC4CA}" type="slidenum">
              <a:rPr lang="en-US"/>
              <a:pPr>
                <a:defRPr/>
              </a:pPr>
              <a:t>‹#›</a:t>
            </a:fld>
            <a:endParaRPr lang="en-US"/>
          </a:p>
        </p:txBody>
      </p:sp>
    </p:spTree>
    <p:extLst>
      <p:ext uri="{BB962C8B-B14F-4D97-AF65-F5344CB8AC3E}">
        <p14:creationId xmlns:p14="http://schemas.microsoft.com/office/powerpoint/2010/main" val="266018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2400">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sz="2400">
              <a:solidFill>
                <a:prstClr val="white"/>
              </a:solidFill>
            </a:endParaRPr>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10" name="Footer Placeholder 5"/>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11" name="Slide Number Placeholder 6"/>
          <p:cNvSpPr>
            <a:spLocks noGrp="1"/>
          </p:cNvSpPr>
          <p:nvPr>
            <p:ph type="sldNum" sz="quarter" idx="12"/>
          </p:nvPr>
        </p:nvSpPr>
        <p:spPr>
          <a:xfrm>
            <a:off x="8077200" y="6356350"/>
            <a:ext cx="609600" cy="365125"/>
          </a:xfrm>
        </p:spPr>
        <p:txBody>
          <a:bodyPr/>
          <a:lstStyle>
            <a:lvl1pPr fontAlgn="auto">
              <a:spcBef>
                <a:spcPts val="0"/>
              </a:spcBef>
              <a:spcAft>
                <a:spcPts val="0"/>
              </a:spcAft>
              <a:defRPr>
                <a:latin typeface="+mn-lt"/>
              </a:defRPr>
            </a:lvl1pPr>
          </a:lstStyle>
          <a:p>
            <a:pPr>
              <a:defRPr/>
            </a:pPr>
            <a:fld id="{A5FA681F-B83A-4CD6-B0D3-2D45B849C742}" type="slidenum">
              <a:rPr lang="en-US"/>
              <a:pPr>
                <a:defRPr/>
              </a:pPr>
              <a:t>‹#›</a:t>
            </a:fld>
            <a:endParaRPr lang="en-US"/>
          </a:p>
        </p:txBody>
      </p:sp>
    </p:spTree>
    <p:extLst>
      <p:ext uri="{BB962C8B-B14F-4D97-AF65-F5344CB8AC3E}">
        <p14:creationId xmlns:p14="http://schemas.microsoft.com/office/powerpoint/2010/main" val="4201671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2071AE01-5008-4016-BEE3-58A65C5DCFF7}" type="slidenum">
              <a:rPr lang="en-US"/>
              <a:pPr>
                <a:defRPr/>
              </a:pPr>
              <a:t>‹#›</a:t>
            </a:fld>
            <a:endParaRPr lang="en-US"/>
          </a:p>
        </p:txBody>
      </p:sp>
    </p:spTree>
    <p:extLst>
      <p:ext uri="{BB962C8B-B14F-4D97-AF65-F5344CB8AC3E}">
        <p14:creationId xmlns:p14="http://schemas.microsoft.com/office/powerpoint/2010/main" val="987217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fontAlgn="auto">
              <a:spcBef>
                <a:spcPts val="0"/>
              </a:spcBef>
              <a:spcAft>
                <a:spcPts val="0"/>
              </a:spcAft>
              <a:defRPr>
                <a:latin typeface="+mn-lt"/>
              </a:defRPr>
            </a:lvl1pPr>
          </a:lstStyle>
          <a:p>
            <a:pPr>
              <a:defRPr/>
            </a:pPr>
            <a:endParaRPr lang="en-US"/>
          </a:p>
        </p:txBody>
      </p:sp>
      <p:sp>
        <p:nvSpPr>
          <p:cNvPr id="5" name="Footer Placeholder 21"/>
          <p:cNvSpPr>
            <a:spLocks noGrp="1"/>
          </p:cNvSpPr>
          <p:nvPr>
            <p:ph type="ftr" sz="quarter" idx="11"/>
          </p:nvPr>
        </p:nvSpPr>
        <p:spPr/>
        <p:txBody>
          <a:bodyPr/>
          <a:lstStyle>
            <a:lvl1pPr fontAlgn="auto">
              <a:spcBef>
                <a:spcPts val="0"/>
              </a:spcBef>
              <a:spcAft>
                <a:spcPts val="0"/>
              </a:spcAft>
              <a:defRPr>
                <a:latin typeface="+mn-lt"/>
              </a:defRPr>
            </a:lvl1pPr>
          </a:lstStyle>
          <a:p>
            <a:pPr>
              <a:defRPr/>
            </a:pPr>
            <a:r>
              <a:rPr lang="en-GB"/>
              <a:t>(c) Public IT Limited</a:t>
            </a:r>
            <a:endParaRPr lang="en-US"/>
          </a:p>
        </p:txBody>
      </p:sp>
      <p:sp>
        <p:nvSpPr>
          <p:cNvPr id="6" name="Slide Number Placeholder 17"/>
          <p:cNvSpPr>
            <a:spLocks noGrp="1"/>
          </p:cNvSpPr>
          <p:nvPr>
            <p:ph type="sldNum" sz="quarter" idx="12"/>
          </p:nvPr>
        </p:nvSpPr>
        <p:spPr/>
        <p:txBody>
          <a:bodyPr/>
          <a:lstStyle>
            <a:lvl1pPr fontAlgn="auto">
              <a:spcBef>
                <a:spcPts val="0"/>
              </a:spcBef>
              <a:spcAft>
                <a:spcPts val="0"/>
              </a:spcAft>
              <a:defRPr>
                <a:latin typeface="+mn-lt"/>
              </a:defRPr>
            </a:lvl1pPr>
          </a:lstStyle>
          <a:p>
            <a:pPr>
              <a:defRPr/>
            </a:pPr>
            <a:fld id="{7216F04B-2E82-414C-A239-304ED9DAFA0C}" type="slidenum">
              <a:rPr lang="en-US"/>
              <a:pPr>
                <a:defRPr/>
              </a:pPr>
              <a:t>‹#›</a:t>
            </a:fld>
            <a:endParaRPr lang="en-US"/>
          </a:p>
        </p:txBody>
      </p:sp>
    </p:spTree>
    <p:extLst>
      <p:ext uri="{BB962C8B-B14F-4D97-AF65-F5344CB8AC3E}">
        <p14:creationId xmlns:p14="http://schemas.microsoft.com/office/powerpoint/2010/main" val="2147683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sz="2400">
              <a:solidFill>
                <a:prstClr val="black"/>
              </a:solidFill>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alt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rgbClr val="04617B">
                    <a:shade val="90000"/>
                  </a:srgbClr>
                </a:solidFill>
                <a:latin typeface="Times New Roman" pitchFamily="18" charset="0"/>
                <a:cs typeface="+mn-cs"/>
              </a:defRPr>
            </a:lvl1pPr>
          </a:lstStyle>
          <a:p>
            <a:pPr>
              <a:defRPr/>
            </a:pPr>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rgbClr val="04617B">
                    <a:shade val="90000"/>
                  </a:srgbClr>
                </a:solidFill>
                <a:latin typeface="Times New Roman" pitchFamily="18" charset="0"/>
                <a:cs typeface="+mn-cs"/>
              </a:defRPr>
            </a:lvl1pPr>
          </a:lstStyle>
          <a:p>
            <a:pPr>
              <a:defRPr/>
            </a:pPr>
            <a:r>
              <a:rPr lang="en-GB"/>
              <a:t>(c) Public IT Limited</a:t>
            </a:r>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rgbClr val="04617B">
                    <a:shade val="90000"/>
                  </a:srgbClr>
                </a:solidFill>
                <a:latin typeface="Times New Roman" pitchFamily="18" charset="0"/>
                <a:cs typeface="+mn-cs"/>
              </a:defRPr>
            </a:lvl1pPr>
          </a:lstStyle>
          <a:p>
            <a:pPr>
              <a:defRPr/>
            </a:pPr>
            <a:fld id="{4FC3970E-270E-47E7-B6B7-78D88A610954}" type="slidenum">
              <a:rPr lang="en-US"/>
              <a:pPr>
                <a:defRPr/>
              </a:pPr>
              <a:t>‹#›</a:t>
            </a:fld>
            <a:endParaRPr lang="en-US"/>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eaLnBrk="0" hangingPunct="0">
                <a:defRPr/>
              </a:pPr>
              <a:endParaRPr lang="en-US" sz="2400">
                <a:solidFill>
                  <a:prstClr val="black"/>
                </a:solidFill>
                <a:latin typeface="Times New Roman" pitchFamily="18" charset="0"/>
                <a:cs typeface="+mn-cs"/>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eaLnBrk="0" hangingPunct="0">
                <a:defRPr/>
              </a:pPr>
              <a:endParaRPr lang="en-US" sz="2400">
                <a:solidFill>
                  <a:prstClr val="black"/>
                </a:solidFill>
                <a:latin typeface="Times New Roman" pitchFamily="18" charset="0"/>
                <a:cs typeface="+mn-cs"/>
              </a:endParaRPr>
            </a:p>
          </p:txBody>
        </p:sp>
      </p:gr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sldNum="0" hdr="0" ftr="0" dt="0"/>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2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Subtitle 2"/>
          <p:cNvSpPr>
            <a:spLocks noGrp="1"/>
          </p:cNvSpPr>
          <p:nvPr>
            <p:ph idx="4294967295"/>
          </p:nvPr>
        </p:nvSpPr>
        <p:spPr>
          <a:xfrm>
            <a:off x="2091526" y="2564904"/>
            <a:ext cx="4592688" cy="1205805"/>
          </a:xfrm>
        </p:spPr>
        <p:txBody>
          <a:bodyPr/>
          <a:lstStyle/>
          <a:p>
            <a:pPr marL="0" marR="0" indent="0" algn="ctr">
              <a:buNone/>
            </a:pPr>
            <a:r>
              <a:rPr lang="en-GB" altLang="en-US" sz="2800" b="1" dirty="0">
                <a:latin typeface="Arial" charset="0"/>
                <a:cs typeface="Arial" charset="0"/>
              </a:rPr>
              <a:t>Information Security </a:t>
            </a:r>
          </a:p>
          <a:p>
            <a:pPr marL="0" marR="0" indent="0" algn="ctr">
              <a:buNone/>
            </a:pPr>
            <a:r>
              <a:rPr lang="en-GB" altLang="en-US" sz="2800" b="1" dirty="0">
                <a:latin typeface="Arial" charset="0"/>
                <a:cs typeface="Arial" charset="0"/>
              </a:rPr>
              <a:t>User Awareness Training</a:t>
            </a: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3131840" y="1695465"/>
            <a:ext cx="2512060" cy="6534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68313" y="549275"/>
            <a:ext cx="8229600" cy="1143000"/>
          </a:xfrm>
        </p:spPr>
        <p:txBody>
          <a:bodyPr/>
          <a:lstStyle/>
          <a:p>
            <a:r>
              <a:rPr lang="en-GB" altLang="en-US"/>
              <a:t>Agenda</a:t>
            </a:r>
          </a:p>
        </p:txBody>
      </p:sp>
      <p:sp>
        <p:nvSpPr>
          <p:cNvPr id="14339" name="Content Placeholder 2"/>
          <p:cNvSpPr>
            <a:spLocks noGrp="1"/>
          </p:cNvSpPr>
          <p:nvPr>
            <p:ph idx="1"/>
          </p:nvPr>
        </p:nvSpPr>
        <p:spPr/>
        <p:txBody>
          <a:bodyPr/>
          <a:lstStyle/>
          <a:p>
            <a:r>
              <a:rPr lang="en-GB" altLang="en-US">
                <a:latin typeface="Arial" charset="0"/>
                <a:cs typeface="Arial" charset="0"/>
              </a:rPr>
              <a:t>What do we have that is of value?</a:t>
            </a:r>
          </a:p>
          <a:p>
            <a:r>
              <a:rPr lang="en-GB" altLang="en-US">
                <a:latin typeface="Arial" charset="0"/>
                <a:cs typeface="Arial" charset="0"/>
              </a:rPr>
              <a:t>Who else may it be valuable to?</a:t>
            </a:r>
          </a:p>
          <a:p>
            <a:r>
              <a:rPr lang="en-GB" altLang="en-US">
                <a:latin typeface="Arial" charset="0"/>
                <a:cs typeface="Arial" charset="0"/>
              </a:rPr>
              <a:t>What would happen if…</a:t>
            </a:r>
          </a:p>
          <a:p>
            <a:r>
              <a:rPr lang="en-GB" altLang="en-US">
                <a:latin typeface="Arial" charset="0"/>
                <a:cs typeface="Arial" charset="0"/>
              </a:rPr>
              <a:t>What the law says</a:t>
            </a:r>
          </a:p>
          <a:p>
            <a:r>
              <a:rPr lang="en-GB" altLang="en-US">
                <a:latin typeface="Arial" charset="0"/>
                <a:cs typeface="Arial" charset="0"/>
              </a:rPr>
              <a:t>How we aim to protect our assets</a:t>
            </a:r>
          </a:p>
          <a:p>
            <a:r>
              <a:rPr lang="en-GB" altLang="en-US">
                <a:latin typeface="Arial" charset="0"/>
                <a:cs typeface="Arial" charset="0"/>
              </a:rPr>
              <a:t>What part do I play in keeping our assets safe?</a:t>
            </a:r>
          </a:p>
          <a:p>
            <a:r>
              <a:rPr lang="en-GB" altLang="en-US">
                <a:latin typeface="Arial" charset="0"/>
                <a:cs typeface="Arial" charset="0"/>
              </a:rPr>
              <a:t>Summary and Questions</a:t>
            </a:r>
          </a:p>
          <a:p>
            <a:r>
              <a:rPr lang="en-GB" altLang="en-US">
                <a:latin typeface="Arial" charset="0"/>
                <a:cs typeface="Arial" charset="0"/>
              </a:rPr>
              <a:t>Quiz</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68313" y="404813"/>
            <a:ext cx="8229600" cy="1143000"/>
          </a:xfrm>
        </p:spPr>
        <p:txBody>
          <a:bodyPr/>
          <a:lstStyle/>
          <a:p>
            <a:r>
              <a:rPr lang="en-GB" altLang="en-US"/>
              <a:t>Our Information Assets</a:t>
            </a:r>
          </a:p>
        </p:txBody>
      </p:sp>
      <p:sp>
        <p:nvSpPr>
          <p:cNvPr id="15363" name="Content Placeholder 2"/>
          <p:cNvSpPr>
            <a:spLocks noGrp="1"/>
          </p:cNvSpPr>
          <p:nvPr>
            <p:ph sz="half" idx="1"/>
          </p:nvPr>
        </p:nvSpPr>
        <p:spPr>
          <a:xfrm>
            <a:off x="457200" y="1920875"/>
            <a:ext cx="4038600" cy="4433888"/>
          </a:xfrm>
        </p:spPr>
        <p:txBody>
          <a:bodyPr/>
          <a:lstStyle/>
          <a:p>
            <a:r>
              <a:rPr lang="en-GB" altLang="en-US" dirty="0">
                <a:latin typeface="Arial" charset="0"/>
                <a:cs typeface="Arial" charset="0"/>
              </a:rPr>
              <a:t>Personal data</a:t>
            </a:r>
          </a:p>
          <a:p>
            <a:r>
              <a:rPr lang="en-GB" altLang="en-US" dirty="0">
                <a:latin typeface="Arial" charset="0"/>
                <a:cs typeface="Arial" charset="0"/>
              </a:rPr>
              <a:t>Cloud customer information</a:t>
            </a:r>
          </a:p>
          <a:p>
            <a:r>
              <a:rPr lang="en-GB" altLang="en-US" dirty="0">
                <a:latin typeface="Arial" charset="0"/>
                <a:cs typeface="Arial" charset="0"/>
              </a:rPr>
              <a:t>Budgets</a:t>
            </a:r>
          </a:p>
          <a:p>
            <a:r>
              <a:rPr lang="en-GB" altLang="en-US" dirty="0">
                <a:latin typeface="Arial" charset="0"/>
                <a:cs typeface="Arial" charset="0"/>
              </a:rPr>
              <a:t>Business plans</a:t>
            </a:r>
          </a:p>
          <a:p>
            <a:r>
              <a:rPr lang="en-GB" altLang="en-US" dirty="0">
                <a:latin typeface="Arial" charset="0"/>
                <a:cs typeface="Arial" charset="0"/>
              </a:rPr>
              <a:t>Human resources</a:t>
            </a:r>
          </a:p>
          <a:p>
            <a:r>
              <a:rPr lang="en-GB" altLang="en-US" dirty="0">
                <a:latin typeface="Arial" charset="0"/>
                <a:cs typeface="Arial" charset="0"/>
              </a:rPr>
              <a:t>Customer records</a:t>
            </a:r>
          </a:p>
          <a:p>
            <a:r>
              <a:rPr lang="en-GB" altLang="en-US" dirty="0">
                <a:latin typeface="Arial" charset="0"/>
                <a:cs typeface="Arial" charset="0"/>
              </a:rPr>
              <a:t>Intellectual property</a:t>
            </a:r>
          </a:p>
          <a:p>
            <a:r>
              <a:rPr lang="en-GB" altLang="en-US" dirty="0">
                <a:latin typeface="Arial" charset="0"/>
                <a:cs typeface="Arial" charset="0"/>
              </a:rPr>
              <a:t>Legal</a:t>
            </a:r>
          </a:p>
          <a:p>
            <a:endParaRPr lang="en-GB" altLang="en-US" dirty="0"/>
          </a:p>
        </p:txBody>
      </p:sp>
      <p:sp>
        <p:nvSpPr>
          <p:cNvPr id="15364" name="Content Placeholder 3"/>
          <p:cNvSpPr>
            <a:spLocks noGrp="1"/>
          </p:cNvSpPr>
          <p:nvPr>
            <p:ph sz="half" idx="2"/>
          </p:nvPr>
        </p:nvSpPr>
        <p:spPr>
          <a:xfrm>
            <a:off x="4648200" y="1920875"/>
            <a:ext cx="4038600" cy="4433888"/>
          </a:xfrm>
        </p:spPr>
        <p:txBody>
          <a:bodyPr/>
          <a:lstStyle/>
          <a:p>
            <a:r>
              <a:rPr lang="en-GB" altLang="en-US" dirty="0">
                <a:latin typeface="Arial" charset="0"/>
                <a:cs typeface="Arial" charset="0"/>
              </a:rPr>
              <a:t>Product specs</a:t>
            </a:r>
          </a:p>
          <a:p>
            <a:r>
              <a:rPr lang="en-GB" altLang="en-US" dirty="0">
                <a:latin typeface="Arial" charset="0"/>
                <a:cs typeface="Arial" charset="0"/>
              </a:rPr>
              <a:t>Financial</a:t>
            </a:r>
          </a:p>
          <a:p>
            <a:r>
              <a:rPr lang="en-GB" altLang="en-US" dirty="0">
                <a:latin typeface="Arial" charset="0"/>
                <a:cs typeface="Arial" charset="0"/>
              </a:rPr>
              <a:t>Contractual</a:t>
            </a:r>
          </a:p>
          <a:p>
            <a:r>
              <a:rPr lang="en-GB" altLang="en-US" dirty="0">
                <a:latin typeface="Arial" charset="0"/>
                <a:cs typeface="Arial" charset="0"/>
              </a:rPr>
              <a:t>Suppliers</a:t>
            </a:r>
          </a:p>
          <a:p>
            <a:r>
              <a:rPr lang="en-GB" altLang="en-US" dirty="0">
                <a:latin typeface="Arial" charset="0"/>
                <a:cs typeface="Arial" charset="0"/>
              </a:rPr>
              <a:t>Physical</a:t>
            </a:r>
          </a:p>
          <a:p>
            <a:r>
              <a:rPr lang="en-GB" altLang="en-US" dirty="0">
                <a:latin typeface="Arial" charset="0"/>
                <a:cs typeface="Arial" charset="0"/>
              </a:rPr>
              <a:t>People</a:t>
            </a:r>
          </a:p>
          <a:p>
            <a:r>
              <a:rPr lang="en-GB" altLang="en-US" dirty="0">
                <a:latin typeface="Arial" charset="0"/>
                <a:cs typeface="Arial" charset="0"/>
              </a:rPr>
              <a:t>Tax</a:t>
            </a:r>
          </a:p>
          <a:p>
            <a:r>
              <a:rPr lang="en-GB" altLang="en-US" dirty="0">
                <a:latin typeface="Arial" charset="0"/>
                <a:cs typeface="Arial" charset="0"/>
              </a:rPr>
              <a:t>Commercial terms</a:t>
            </a:r>
          </a:p>
          <a:p>
            <a:r>
              <a:rPr lang="en-GB" altLang="en-US" dirty="0">
                <a:latin typeface="Arial" charset="0"/>
                <a:cs typeface="Arial" charset="0"/>
              </a:rPr>
              <a:t>Operational procedures</a:t>
            </a:r>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GB" altLang="en-US"/>
              <a:t>Who may be interested in our information assets?</a:t>
            </a:r>
          </a:p>
        </p:txBody>
      </p:sp>
      <p:sp>
        <p:nvSpPr>
          <p:cNvPr id="16387" name="Content Placeholder 2"/>
          <p:cNvSpPr>
            <a:spLocks noGrp="1"/>
          </p:cNvSpPr>
          <p:nvPr>
            <p:ph idx="1"/>
          </p:nvPr>
        </p:nvSpPr>
        <p:spPr/>
        <p:txBody>
          <a:bodyPr/>
          <a:lstStyle/>
          <a:p>
            <a:endParaRPr lang="en-GB" altLang="en-US" dirty="0">
              <a:latin typeface="Arial" charset="0"/>
              <a:cs typeface="Arial" charset="0"/>
            </a:endParaRPr>
          </a:p>
          <a:p>
            <a:r>
              <a:rPr lang="en-GB" altLang="en-US" sz="2800" dirty="0">
                <a:latin typeface="Arial" charset="0"/>
                <a:cs typeface="Arial" charset="0"/>
              </a:rPr>
              <a:t>Cyber-criminals – organised gangs</a:t>
            </a:r>
          </a:p>
          <a:p>
            <a:r>
              <a:rPr lang="en-GB" altLang="en-US" sz="2800" dirty="0">
                <a:latin typeface="Arial" charset="0"/>
                <a:cs typeface="Arial" charset="0"/>
              </a:rPr>
              <a:t>Competitors – at home and abroad</a:t>
            </a:r>
          </a:p>
          <a:p>
            <a:r>
              <a:rPr lang="en-GB" altLang="en-US" sz="2800" dirty="0">
                <a:latin typeface="Arial" charset="0"/>
                <a:cs typeface="Arial" charset="0"/>
              </a:rPr>
              <a:t>Hacktivists – politically motivated</a:t>
            </a:r>
          </a:p>
          <a:p>
            <a:r>
              <a:rPr lang="en-GB" altLang="en-US" sz="2800" dirty="0">
                <a:latin typeface="Arial" charset="0"/>
                <a:cs typeface="Arial" charset="0"/>
              </a:rPr>
              <a:t>Nation states – cyber-warfare</a:t>
            </a:r>
          </a:p>
          <a:p>
            <a:r>
              <a:rPr lang="en-GB" altLang="en-US" sz="2800" dirty="0">
                <a:latin typeface="Arial" charset="0"/>
                <a:cs typeface="Arial" charset="0"/>
              </a:rPr>
              <a:t>Fraudsters – individuals inside or outside the organisation</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468313" y="333375"/>
            <a:ext cx="8229600" cy="1143000"/>
          </a:xfrm>
        </p:spPr>
        <p:txBody>
          <a:bodyPr/>
          <a:lstStyle/>
          <a:p>
            <a:r>
              <a:rPr lang="en-GB" altLang="en-US"/>
              <a:t>What would happen if…</a:t>
            </a:r>
          </a:p>
        </p:txBody>
      </p:sp>
      <p:sp>
        <p:nvSpPr>
          <p:cNvPr id="17411" name="Content Placeholder 2"/>
          <p:cNvSpPr>
            <a:spLocks noGrp="1"/>
          </p:cNvSpPr>
          <p:nvPr>
            <p:ph sz="half" idx="1"/>
          </p:nvPr>
        </p:nvSpPr>
        <p:spPr>
          <a:xfrm>
            <a:off x="468313" y="1773238"/>
            <a:ext cx="4038600" cy="4433887"/>
          </a:xfrm>
        </p:spPr>
        <p:txBody>
          <a:bodyPr/>
          <a:lstStyle/>
          <a:p>
            <a:r>
              <a:rPr lang="en-GB" altLang="en-US">
                <a:latin typeface="Arial" charset="0"/>
                <a:cs typeface="Arial" charset="0"/>
              </a:rPr>
              <a:t>Someone else gained access to our assets</a:t>
            </a:r>
          </a:p>
          <a:p>
            <a:pPr lvl="1"/>
            <a:r>
              <a:rPr lang="en-GB" altLang="en-US">
                <a:latin typeface="Arial" charset="0"/>
                <a:cs typeface="Arial" charset="0"/>
              </a:rPr>
              <a:t>(loss of Confidentiality)</a:t>
            </a:r>
          </a:p>
          <a:p>
            <a:r>
              <a:rPr lang="en-GB" altLang="en-US">
                <a:latin typeface="Arial" charset="0"/>
                <a:cs typeface="Arial" charset="0"/>
              </a:rPr>
              <a:t>Our assets were corrupted in some way</a:t>
            </a:r>
          </a:p>
          <a:p>
            <a:pPr lvl="1"/>
            <a:r>
              <a:rPr lang="en-GB" altLang="en-US">
                <a:latin typeface="Arial" charset="0"/>
                <a:cs typeface="Arial" charset="0"/>
              </a:rPr>
              <a:t>(loss of Integrity)</a:t>
            </a:r>
          </a:p>
          <a:p>
            <a:r>
              <a:rPr lang="en-GB" altLang="en-US">
                <a:latin typeface="Arial" charset="0"/>
                <a:cs typeface="Arial" charset="0"/>
              </a:rPr>
              <a:t>We couldn’t access our assets</a:t>
            </a:r>
          </a:p>
          <a:p>
            <a:pPr lvl="1"/>
            <a:r>
              <a:rPr lang="en-GB" altLang="en-US">
                <a:latin typeface="Arial" charset="0"/>
                <a:cs typeface="Arial" charset="0"/>
              </a:rPr>
              <a:t>(loss of Availability)</a:t>
            </a:r>
          </a:p>
        </p:txBody>
      </p:sp>
      <p:sp>
        <p:nvSpPr>
          <p:cNvPr id="5" name="Content Placeholder 4"/>
          <p:cNvSpPr>
            <a:spLocks noGrp="1"/>
          </p:cNvSpPr>
          <p:nvPr>
            <p:ph sz="half" idx="2"/>
          </p:nvPr>
        </p:nvSpPr>
        <p:spPr>
          <a:xfrm>
            <a:off x="4643438" y="1773238"/>
            <a:ext cx="4038600" cy="4433887"/>
          </a:xfrm>
        </p:spPr>
        <p:txBody>
          <a:bodyPr/>
          <a:lstStyle/>
          <a:p>
            <a:pPr>
              <a:defRPr/>
            </a:pPr>
            <a:r>
              <a:rPr lang="en-GB" dirty="0">
                <a:latin typeface="Arial" panose="020B0604020202020204" pitchFamily="34" charset="0"/>
                <a:cs typeface="Arial" panose="020B0604020202020204" pitchFamily="34" charset="0"/>
              </a:rPr>
              <a:t>How would it affect our:</a:t>
            </a:r>
          </a:p>
          <a:p>
            <a:pPr marL="285750" indent="-285750">
              <a:buFont typeface="Arial" panose="020B0604020202020204" pitchFamily="34" charset="0"/>
              <a:buChar char="•"/>
              <a:defRPr/>
            </a:pPr>
            <a:r>
              <a:rPr lang="en-GB" dirty="0">
                <a:latin typeface="Arial" panose="020B0604020202020204" pitchFamily="34" charset="0"/>
                <a:cs typeface="Arial" panose="020B0604020202020204" pitchFamily="34" charset="0"/>
              </a:rPr>
              <a:t>Customers</a:t>
            </a:r>
          </a:p>
          <a:p>
            <a:pPr marL="285750" indent="-285750">
              <a:buFont typeface="Arial" panose="020B0604020202020204" pitchFamily="34" charset="0"/>
              <a:buChar char="•"/>
              <a:defRPr/>
            </a:pPr>
            <a:r>
              <a:rPr lang="en-GB" dirty="0">
                <a:latin typeface="Arial" panose="020B0604020202020204" pitchFamily="34" charset="0"/>
                <a:cs typeface="Arial" panose="020B0604020202020204" pitchFamily="34" charset="0"/>
              </a:rPr>
              <a:t>Employees</a:t>
            </a:r>
          </a:p>
          <a:p>
            <a:pPr marL="285750" indent="-285750">
              <a:buFont typeface="Arial" panose="020B0604020202020204" pitchFamily="34" charset="0"/>
              <a:buChar char="•"/>
              <a:defRPr/>
            </a:pPr>
            <a:r>
              <a:rPr lang="en-GB" dirty="0">
                <a:latin typeface="Arial" panose="020B0604020202020204" pitchFamily="34" charset="0"/>
                <a:cs typeface="Arial" panose="020B0604020202020204" pitchFamily="34" charset="0"/>
              </a:rPr>
              <a:t>Reputation</a:t>
            </a:r>
          </a:p>
          <a:p>
            <a:pPr marL="285750" indent="-285750">
              <a:buFont typeface="Arial" panose="020B0604020202020204" pitchFamily="34" charset="0"/>
              <a:buChar char="•"/>
              <a:defRPr/>
            </a:pPr>
            <a:r>
              <a:rPr lang="en-GB" dirty="0">
                <a:latin typeface="Arial" panose="020B0604020202020204" pitchFamily="34" charset="0"/>
                <a:cs typeface="Arial" panose="020B0604020202020204" pitchFamily="34" charset="0"/>
              </a:rPr>
              <a:t>Finances</a:t>
            </a:r>
          </a:p>
          <a:p>
            <a:pPr marL="285750" indent="-285750">
              <a:buFont typeface="Arial" panose="020B0604020202020204" pitchFamily="34" charset="0"/>
              <a:buChar char="•"/>
              <a:defRPr/>
            </a:pPr>
            <a:r>
              <a:rPr lang="en-GB" dirty="0">
                <a:latin typeface="Arial" panose="020B0604020202020204" pitchFamily="34" charset="0"/>
                <a:cs typeface="Arial" panose="020B0604020202020204" pitchFamily="34" charset="0"/>
              </a:rPr>
              <a:t>Compliance with laws</a:t>
            </a:r>
          </a:p>
          <a:p>
            <a:pPr marL="285750" indent="-285750">
              <a:buFont typeface="Arial" panose="020B0604020202020204" pitchFamily="34" charset="0"/>
              <a:buChar char="•"/>
              <a:defRPr/>
            </a:pPr>
            <a:r>
              <a:rPr lang="en-GB" dirty="0">
                <a:latin typeface="Arial" panose="020B0604020202020204" pitchFamily="34" charset="0"/>
                <a:cs typeface="Arial" panose="020B0604020202020204" pitchFamily="34" charset="0"/>
              </a:rPr>
              <a:t>Ability to meet contractual obligations</a:t>
            </a:r>
          </a:p>
          <a:p>
            <a:pPr marL="285750" indent="-285750">
              <a:buFont typeface="Arial" panose="020B0604020202020204" pitchFamily="34" charset="0"/>
              <a:buChar char="•"/>
              <a:defRPr/>
            </a:pPr>
            <a:r>
              <a:rPr lang="en-GB" dirty="0">
                <a:latin typeface="Arial" panose="020B0604020202020204" pitchFamily="34" charset="0"/>
                <a:cs typeface="Arial" panose="020B0604020202020204" pitchFamily="34" charset="0"/>
              </a:rPr>
              <a:t>Health and Safety</a:t>
            </a:r>
          </a:p>
          <a:p>
            <a:pPr>
              <a:defRPr/>
            </a:pPr>
            <a:endParaRPr lang="en-GB" dirty="0"/>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8313" y="476250"/>
            <a:ext cx="8229600" cy="1143000"/>
          </a:xfrm>
        </p:spPr>
        <p:txBody>
          <a:bodyPr/>
          <a:lstStyle/>
          <a:p>
            <a:r>
              <a:rPr lang="en-GB" altLang="en-US"/>
              <a:t>What the law says (UK)</a:t>
            </a:r>
          </a:p>
        </p:txBody>
      </p:sp>
      <p:sp>
        <p:nvSpPr>
          <p:cNvPr id="18435" name="Content Placeholder 2"/>
          <p:cNvSpPr>
            <a:spLocks noGrp="1"/>
          </p:cNvSpPr>
          <p:nvPr>
            <p:ph idx="1"/>
          </p:nvPr>
        </p:nvSpPr>
        <p:spPr/>
        <p:txBody>
          <a:bodyPr/>
          <a:lstStyle/>
          <a:p>
            <a:r>
              <a:rPr lang="en-GB" altLang="en-US" dirty="0">
                <a:latin typeface="Arial" charset="0"/>
                <a:cs typeface="Arial" charset="0"/>
              </a:rPr>
              <a:t>Data Protection Act</a:t>
            </a:r>
          </a:p>
          <a:p>
            <a:r>
              <a:rPr lang="en-GB" altLang="en-US" dirty="0">
                <a:latin typeface="Arial" charset="0"/>
                <a:cs typeface="Arial" charset="0"/>
              </a:rPr>
              <a:t>EU General Data Protection Regulation</a:t>
            </a:r>
          </a:p>
          <a:p>
            <a:r>
              <a:rPr lang="en-GB" altLang="en-US" dirty="0">
                <a:latin typeface="Arial" charset="0"/>
                <a:cs typeface="Arial" charset="0"/>
              </a:rPr>
              <a:t>Copyright, Designs and Patents Act</a:t>
            </a:r>
          </a:p>
          <a:p>
            <a:r>
              <a:rPr lang="en-GB" altLang="en-US" dirty="0">
                <a:latin typeface="Arial" charset="0"/>
                <a:cs typeface="Arial" charset="0"/>
              </a:rPr>
              <a:t>Malicious Communications Act </a:t>
            </a:r>
          </a:p>
          <a:p>
            <a:r>
              <a:rPr lang="en-GB" altLang="en-US" dirty="0">
                <a:latin typeface="Arial" charset="0"/>
                <a:cs typeface="Arial" charset="0"/>
              </a:rPr>
              <a:t>Computer Misuse Act</a:t>
            </a:r>
          </a:p>
          <a:p>
            <a:r>
              <a:rPr lang="en-GB" altLang="en-US" dirty="0">
                <a:latin typeface="Arial" charset="0"/>
                <a:cs typeface="Arial" charset="0"/>
              </a:rPr>
              <a:t>Freedom of Information Act</a:t>
            </a:r>
          </a:p>
          <a:p>
            <a:r>
              <a:rPr lang="en-GB" altLang="en-US" dirty="0">
                <a:latin typeface="Arial" charset="0"/>
                <a:cs typeface="Arial" charset="0"/>
              </a:rPr>
              <a:t>Privacy and Electronic Communications Regulations (PECR)</a:t>
            </a:r>
          </a:p>
          <a:p>
            <a:r>
              <a:rPr lang="en-GB" altLang="en-US" dirty="0">
                <a:latin typeface="Arial" charset="0"/>
                <a:cs typeface="Arial" charset="0"/>
              </a:rPr>
              <a:t>Digital Economy Act</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8313" y="476250"/>
            <a:ext cx="8229600" cy="1143000"/>
          </a:xfrm>
        </p:spPr>
        <p:txBody>
          <a:bodyPr/>
          <a:lstStyle/>
          <a:p>
            <a:r>
              <a:rPr lang="en-GB" altLang="en-US" dirty="0"/>
              <a:t>What the law says (EU)</a:t>
            </a:r>
          </a:p>
        </p:txBody>
      </p:sp>
      <p:sp>
        <p:nvSpPr>
          <p:cNvPr id="18435" name="Content Placeholder 2"/>
          <p:cNvSpPr>
            <a:spLocks noGrp="1"/>
          </p:cNvSpPr>
          <p:nvPr>
            <p:ph idx="1"/>
          </p:nvPr>
        </p:nvSpPr>
        <p:spPr/>
        <p:txBody>
          <a:bodyPr/>
          <a:lstStyle/>
          <a:p>
            <a:r>
              <a:rPr lang="en-GB" altLang="en-US" dirty="0">
                <a:latin typeface="Arial" charset="0"/>
                <a:cs typeface="Arial" charset="0"/>
              </a:rPr>
              <a:t>General Data Protection Regulation (GDPR)</a:t>
            </a:r>
          </a:p>
          <a:p>
            <a:r>
              <a:rPr lang="en-GB" altLang="en-US" dirty="0">
                <a:latin typeface="Arial" charset="0"/>
                <a:cs typeface="Arial" charset="0"/>
              </a:rPr>
              <a:t>Privacy and Electronic Communications Regulations (PECR)</a:t>
            </a:r>
          </a:p>
          <a:p>
            <a:r>
              <a:rPr lang="en-GB" altLang="en-US" dirty="0" err="1">
                <a:latin typeface="Arial" charset="0"/>
                <a:cs typeface="Arial" charset="0"/>
              </a:rPr>
              <a:t>ePrivacy</a:t>
            </a:r>
            <a:r>
              <a:rPr lang="en-GB" altLang="en-US" dirty="0">
                <a:latin typeface="Arial" charset="0"/>
                <a:cs typeface="Arial" charset="0"/>
              </a:rPr>
              <a:t> Directive and Regulation</a:t>
            </a:r>
          </a:p>
          <a:p>
            <a:r>
              <a:rPr lang="en-GB" altLang="en-US" dirty="0">
                <a:latin typeface="Arial" charset="0"/>
                <a:cs typeface="Arial" charset="0"/>
              </a:rPr>
              <a:t>European Convention on Human Rights (ECHR)</a:t>
            </a:r>
          </a:p>
          <a:p>
            <a:endParaRPr lang="en-GB" altLang="en-US" dirty="0">
              <a:latin typeface="Arial" charset="0"/>
              <a:cs typeface="Arial" charset="0"/>
            </a:endParaRPr>
          </a:p>
          <a:p>
            <a:endParaRPr lang="en-GB" altLang="en-US" dirty="0">
              <a:latin typeface="Arial" charset="0"/>
              <a:cs typeface="Arial" charset="0"/>
            </a:endParaRPr>
          </a:p>
          <a:p>
            <a:endParaRPr lang="en-GB" altLang="en-US" dirty="0">
              <a:latin typeface="Arial" charset="0"/>
              <a:cs typeface="Arial"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4084426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8313" y="476250"/>
            <a:ext cx="8229600" cy="1143000"/>
          </a:xfrm>
        </p:spPr>
        <p:txBody>
          <a:bodyPr/>
          <a:lstStyle/>
          <a:p>
            <a:r>
              <a:rPr lang="en-GB" altLang="en-US" dirty="0"/>
              <a:t>What the law says (USA)</a:t>
            </a:r>
          </a:p>
        </p:txBody>
      </p:sp>
      <p:sp>
        <p:nvSpPr>
          <p:cNvPr id="18435" name="Content Placeholder 2"/>
          <p:cNvSpPr>
            <a:spLocks noGrp="1"/>
          </p:cNvSpPr>
          <p:nvPr>
            <p:ph idx="1"/>
          </p:nvPr>
        </p:nvSpPr>
        <p:spPr/>
        <p:txBody>
          <a:bodyPr/>
          <a:lstStyle/>
          <a:p>
            <a:r>
              <a:rPr lang="en-GB" altLang="en-US" sz="2000" dirty="0">
                <a:latin typeface="Arial" charset="0"/>
                <a:cs typeface="Arial" charset="0"/>
              </a:rPr>
              <a:t>Computer Fraud and Abuse Act</a:t>
            </a:r>
          </a:p>
          <a:p>
            <a:r>
              <a:rPr lang="en-GB" altLang="en-US" sz="2000" dirty="0">
                <a:latin typeface="Arial" charset="0"/>
                <a:cs typeface="Arial" charset="0"/>
              </a:rPr>
              <a:t>Electronic Communications Privacy Act (ECPA)</a:t>
            </a:r>
          </a:p>
          <a:p>
            <a:r>
              <a:rPr lang="en-GB" altLang="en-US" sz="2000" dirty="0">
                <a:latin typeface="Arial" charset="0"/>
                <a:cs typeface="Arial" charset="0"/>
              </a:rPr>
              <a:t>Sarbanes-Oxley (SOX)</a:t>
            </a:r>
          </a:p>
          <a:p>
            <a:r>
              <a:rPr lang="en-GB" altLang="en-US" sz="2000" dirty="0">
                <a:latin typeface="Arial" charset="0"/>
                <a:cs typeface="Arial" charset="0"/>
              </a:rPr>
              <a:t>Gramm-Leach-Bliley Act (GLBA)</a:t>
            </a:r>
          </a:p>
          <a:p>
            <a:r>
              <a:rPr lang="en-GB" altLang="en-US" sz="2000" dirty="0">
                <a:latin typeface="Arial" charset="0"/>
                <a:cs typeface="Arial" charset="0"/>
              </a:rPr>
              <a:t>Heath Insurance Portability and Accountability Act (HIPAA)</a:t>
            </a:r>
          </a:p>
          <a:p>
            <a:r>
              <a:rPr lang="en-GB" altLang="en-US" sz="2000" dirty="0" err="1">
                <a:latin typeface="Arial" charset="0"/>
                <a:cs typeface="Arial" charset="0"/>
              </a:rPr>
              <a:t>Childrens</a:t>
            </a:r>
            <a:r>
              <a:rPr lang="en-GB" altLang="en-US" sz="2000" dirty="0">
                <a:latin typeface="Arial" charset="0"/>
                <a:cs typeface="Arial" charset="0"/>
              </a:rPr>
              <a:t> Online Privacy Protection Act (COPPA)</a:t>
            </a:r>
          </a:p>
          <a:p>
            <a:r>
              <a:rPr lang="en-GB" altLang="en-US" sz="2000" dirty="0">
                <a:latin typeface="Arial" charset="0"/>
                <a:cs typeface="Arial" charset="0"/>
              </a:rPr>
              <a:t>Digital Millennium Copyright Act (DMCA)</a:t>
            </a:r>
          </a:p>
          <a:p>
            <a:r>
              <a:rPr lang="en-GB" altLang="en-US" sz="2000" dirty="0">
                <a:latin typeface="Arial" charset="0"/>
                <a:cs typeface="Arial" charset="0"/>
              </a:rPr>
              <a:t>Provide Appropriate Tools Required to Intercept and Obstruct Terrorism (PATRIOT) Act</a:t>
            </a:r>
          </a:p>
          <a:p>
            <a:r>
              <a:rPr lang="en-GB" altLang="en-US" sz="2000" dirty="0">
                <a:latin typeface="Arial" charset="0"/>
                <a:cs typeface="Arial" charset="0"/>
              </a:rPr>
              <a:t>Homeland Security Act (HSA)</a:t>
            </a:r>
          </a:p>
          <a:p>
            <a:r>
              <a:rPr lang="en-GB" altLang="en-US" sz="2000" dirty="0">
                <a:latin typeface="Arial" charset="0"/>
                <a:cs typeface="Arial" charset="0"/>
              </a:rPr>
              <a:t>Federal Information Security Management Act (FISMA)</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2796299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68313" y="476250"/>
            <a:ext cx="8229600" cy="1143000"/>
          </a:xfrm>
        </p:spPr>
        <p:txBody>
          <a:bodyPr/>
          <a:lstStyle/>
          <a:p>
            <a:r>
              <a:rPr lang="en-GB" altLang="en-US" sz="4400" dirty="0"/>
              <a:t>What the law says (other countries)</a:t>
            </a:r>
          </a:p>
        </p:txBody>
      </p:sp>
      <p:sp>
        <p:nvSpPr>
          <p:cNvPr id="18435" name="Content Placeholder 2"/>
          <p:cNvSpPr>
            <a:spLocks noGrp="1"/>
          </p:cNvSpPr>
          <p:nvPr>
            <p:ph idx="1"/>
          </p:nvPr>
        </p:nvSpPr>
        <p:spPr/>
        <p:txBody>
          <a:bodyPr/>
          <a:lstStyle/>
          <a:p>
            <a:r>
              <a:rPr lang="en-GB" altLang="en-US" sz="2400" dirty="0">
                <a:latin typeface="Arial" charset="0"/>
                <a:cs typeface="Arial" charset="0"/>
              </a:rPr>
              <a:t>Information Technology Act (India)</a:t>
            </a:r>
          </a:p>
          <a:p>
            <a:r>
              <a:rPr lang="en-GB" altLang="en-US" sz="2400" dirty="0">
                <a:latin typeface="Arial" charset="0"/>
                <a:cs typeface="Arial" charset="0"/>
              </a:rPr>
              <a:t>Computer Crimes Act (Malaysia)</a:t>
            </a:r>
          </a:p>
          <a:p>
            <a:r>
              <a:rPr lang="en-GB" altLang="en-US" sz="2400" dirty="0">
                <a:latin typeface="Arial" charset="0"/>
                <a:cs typeface="Arial" charset="0"/>
              </a:rPr>
              <a:t>Computer Crimes Act (Thailand)</a:t>
            </a:r>
          </a:p>
          <a:p>
            <a:r>
              <a:rPr lang="en-GB" altLang="en-US" sz="2400" dirty="0">
                <a:latin typeface="Arial" charset="0"/>
                <a:cs typeface="Arial" charset="0"/>
              </a:rPr>
              <a:t>Electronic Transactions Act (Singapore)</a:t>
            </a:r>
          </a:p>
          <a:p>
            <a:r>
              <a:rPr lang="en-GB" altLang="en-US" sz="2400" dirty="0">
                <a:latin typeface="Arial" charset="0"/>
                <a:cs typeface="Arial" charset="0"/>
              </a:rPr>
              <a:t>Personal Information Protection and Electronic Documents Act (PIPEDA) (Canada)</a:t>
            </a:r>
          </a:p>
          <a:p>
            <a:r>
              <a:rPr lang="en-GB" altLang="en-US" sz="2400" dirty="0">
                <a:latin typeface="Arial" charset="0"/>
                <a:cs typeface="Arial" charset="0"/>
              </a:rPr>
              <a:t>Privacy Act (Australia)</a:t>
            </a:r>
          </a:p>
          <a:p>
            <a:r>
              <a:rPr lang="en-GB" altLang="en-US" sz="2400" dirty="0">
                <a:latin typeface="Arial" charset="0"/>
                <a:cs typeface="Arial" charset="0"/>
              </a:rPr>
              <a:t>Privacy Act (New Zealand)</a:t>
            </a:r>
          </a:p>
          <a:p>
            <a:r>
              <a:rPr lang="en-GB" altLang="en-US" sz="2400" dirty="0">
                <a:latin typeface="Arial" charset="0"/>
                <a:cs typeface="Arial" charset="0"/>
              </a:rPr>
              <a:t>Protection of Personal Information Act (POPI) (South Africa)</a:t>
            </a:r>
          </a:p>
          <a:p>
            <a:endParaRPr lang="en-GB" altLang="en-US" dirty="0">
              <a:latin typeface="Arial" charset="0"/>
              <a:cs typeface="Arial" charset="0"/>
            </a:endParaRPr>
          </a:p>
          <a:p>
            <a:endParaRPr lang="en-GB" altLang="en-US" dirty="0">
              <a:latin typeface="Arial" charset="0"/>
              <a:cs typeface="Arial" charset="0"/>
            </a:endParaRPr>
          </a:p>
          <a:p>
            <a:endParaRPr lang="en-GB" altLang="en-US" dirty="0">
              <a:latin typeface="Arial" charset="0"/>
              <a:cs typeface="Arial" charset="0"/>
            </a:endParaRPr>
          </a:p>
          <a:p>
            <a:endParaRPr lang="en-GB" altLang="en-US" dirty="0">
              <a:latin typeface="Arial" charset="0"/>
              <a:cs typeface="Arial" charset="0"/>
            </a:endParaRPr>
          </a:p>
          <a:p>
            <a:endParaRPr lang="en-GB" altLang="en-US" dirty="0">
              <a:latin typeface="Arial" charset="0"/>
              <a:cs typeface="Arial"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466558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68313" y="549275"/>
            <a:ext cx="8229600" cy="1143000"/>
          </a:xfrm>
        </p:spPr>
        <p:txBody>
          <a:bodyPr/>
          <a:lstStyle/>
          <a:p>
            <a:r>
              <a:rPr lang="en-GB" altLang="en-US"/>
              <a:t>How will we protect our assets?</a:t>
            </a:r>
          </a:p>
        </p:txBody>
      </p:sp>
      <p:sp>
        <p:nvSpPr>
          <p:cNvPr id="19459" name="Content Placeholder 2"/>
          <p:cNvSpPr>
            <a:spLocks noGrp="1"/>
          </p:cNvSpPr>
          <p:nvPr>
            <p:ph idx="1"/>
          </p:nvPr>
        </p:nvSpPr>
        <p:spPr/>
        <p:txBody>
          <a:bodyPr/>
          <a:lstStyle/>
          <a:p>
            <a:r>
              <a:rPr lang="en-GB" altLang="en-US" dirty="0">
                <a:latin typeface="Arial" charset="0"/>
                <a:cs typeface="Arial" charset="0"/>
              </a:rPr>
              <a:t>Management Commitment</a:t>
            </a:r>
          </a:p>
          <a:p>
            <a:r>
              <a:rPr lang="en-GB" altLang="en-US" dirty="0">
                <a:latin typeface="Arial" charset="0"/>
                <a:cs typeface="Arial" charset="0"/>
              </a:rPr>
              <a:t>Information security policies</a:t>
            </a:r>
          </a:p>
          <a:p>
            <a:r>
              <a:rPr lang="en-GB" altLang="en-US" dirty="0">
                <a:latin typeface="Arial" charset="0"/>
                <a:cs typeface="Arial" charset="0"/>
              </a:rPr>
              <a:t>Assess our risks</a:t>
            </a:r>
          </a:p>
          <a:p>
            <a:r>
              <a:rPr lang="en-GB" altLang="en-US" dirty="0">
                <a:latin typeface="Arial" charset="0"/>
                <a:cs typeface="Arial" charset="0"/>
              </a:rPr>
              <a:t>Put appropriate controls in place</a:t>
            </a:r>
          </a:p>
          <a:p>
            <a:r>
              <a:rPr lang="en-GB" altLang="en-US" dirty="0">
                <a:latin typeface="Arial" charset="0"/>
                <a:cs typeface="Arial" charset="0"/>
              </a:rPr>
              <a:t>Provide resources, training and awareness</a:t>
            </a:r>
          </a:p>
          <a:p>
            <a:r>
              <a:rPr lang="en-GB" altLang="en-US" dirty="0">
                <a:latin typeface="Arial" charset="0"/>
                <a:cs typeface="Arial" charset="0"/>
              </a:rPr>
              <a:t>Monitor, review and improve</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468313" y="476250"/>
            <a:ext cx="8229600" cy="1143000"/>
          </a:xfrm>
        </p:spPr>
        <p:txBody>
          <a:bodyPr/>
          <a:lstStyle/>
          <a:p>
            <a:r>
              <a:rPr lang="en-GB" altLang="en-US"/>
              <a:t>What part do I play?</a:t>
            </a:r>
          </a:p>
        </p:txBody>
      </p:sp>
      <p:sp>
        <p:nvSpPr>
          <p:cNvPr id="22531" name="Content Placeholder 2"/>
          <p:cNvSpPr>
            <a:spLocks noGrp="1"/>
          </p:cNvSpPr>
          <p:nvPr>
            <p:ph sz="half" idx="1"/>
          </p:nvPr>
        </p:nvSpPr>
        <p:spPr>
          <a:xfrm>
            <a:off x="457200" y="1920875"/>
            <a:ext cx="4038600" cy="2588245"/>
          </a:xfrm>
        </p:spPr>
        <p:txBody>
          <a:bodyPr/>
          <a:lstStyle/>
          <a:p>
            <a:r>
              <a:rPr lang="en-GB" altLang="en-US" sz="2800" dirty="0">
                <a:latin typeface="Arial" charset="0"/>
                <a:cs typeface="Arial" charset="0"/>
              </a:rPr>
              <a:t>Physical security</a:t>
            </a:r>
          </a:p>
          <a:p>
            <a:r>
              <a:rPr lang="en-GB" altLang="en-US" sz="2800" dirty="0">
                <a:latin typeface="Arial" charset="0"/>
                <a:cs typeface="Arial" charset="0"/>
              </a:rPr>
              <a:t>Access and Passwords</a:t>
            </a:r>
          </a:p>
          <a:p>
            <a:r>
              <a:rPr lang="en-GB" altLang="en-US" sz="2800" dirty="0">
                <a:latin typeface="Arial" charset="0"/>
                <a:cs typeface="Arial" charset="0"/>
              </a:rPr>
              <a:t>Email</a:t>
            </a:r>
          </a:p>
          <a:p>
            <a:r>
              <a:rPr lang="en-GB" altLang="en-US" sz="2800" dirty="0">
                <a:latin typeface="Arial" charset="0"/>
                <a:cs typeface="Arial" charset="0"/>
              </a:rPr>
              <a:t>Using the Internet</a:t>
            </a:r>
          </a:p>
          <a:p>
            <a:r>
              <a:rPr lang="en-GB" altLang="en-US" sz="2800" dirty="0">
                <a:latin typeface="Arial" charset="0"/>
                <a:cs typeface="Arial" charset="0"/>
              </a:rPr>
              <a:t>Cloud services</a:t>
            </a:r>
          </a:p>
        </p:txBody>
      </p:sp>
      <p:sp>
        <p:nvSpPr>
          <p:cNvPr id="22532" name="Content Placeholder 3"/>
          <p:cNvSpPr>
            <a:spLocks noGrp="1"/>
          </p:cNvSpPr>
          <p:nvPr>
            <p:ph sz="half" idx="2"/>
          </p:nvPr>
        </p:nvSpPr>
        <p:spPr>
          <a:xfrm>
            <a:off x="4648200" y="1920875"/>
            <a:ext cx="4038600" cy="2660253"/>
          </a:xfrm>
        </p:spPr>
        <p:txBody>
          <a:bodyPr/>
          <a:lstStyle/>
          <a:p>
            <a:r>
              <a:rPr lang="en-GB" altLang="en-US" sz="2800" dirty="0">
                <a:latin typeface="Arial" charset="0"/>
                <a:cs typeface="Arial" charset="0"/>
              </a:rPr>
              <a:t>Anti-Virus</a:t>
            </a:r>
          </a:p>
          <a:p>
            <a:r>
              <a:rPr lang="en-GB" altLang="en-US" sz="2800" dirty="0">
                <a:latin typeface="Arial" charset="0"/>
                <a:cs typeface="Arial" charset="0"/>
              </a:rPr>
              <a:t>Mobile computing</a:t>
            </a:r>
          </a:p>
          <a:p>
            <a:r>
              <a:rPr lang="en-GB" altLang="en-US" sz="2800" dirty="0">
                <a:latin typeface="Arial" charset="0"/>
                <a:cs typeface="Arial" charset="0"/>
              </a:rPr>
              <a:t>Removable media</a:t>
            </a:r>
          </a:p>
          <a:p>
            <a:r>
              <a:rPr lang="en-GB" altLang="en-US" sz="2800" dirty="0">
                <a:latin typeface="Arial" charset="0"/>
                <a:cs typeface="Arial" charset="0"/>
              </a:rPr>
              <a:t>Information disposal</a:t>
            </a:r>
          </a:p>
          <a:p>
            <a:r>
              <a:rPr lang="en-GB" altLang="en-US" sz="2800" dirty="0">
                <a:latin typeface="Arial" charset="0"/>
                <a:cs typeface="Arial" charset="0"/>
              </a:rPr>
              <a:t>Security incidents</a:t>
            </a:r>
          </a:p>
          <a:p>
            <a:endParaRPr lang="en-GB" altLang="en-US" dirty="0"/>
          </a:p>
        </p:txBody>
      </p:sp>
      <p:pic>
        <p:nvPicPr>
          <p:cNvPr id="5" name="Picture 4"/>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
        <p:nvSpPr>
          <p:cNvPr id="2" name="TextBox 1"/>
          <p:cNvSpPr txBox="1"/>
          <p:nvPr/>
        </p:nvSpPr>
        <p:spPr>
          <a:xfrm>
            <a:off x="1259632" y="5157192"/>
            <a:ext cx="7236804" cy="954107"/>
          </a:xfrm>
          <a:prstGeom prst="rect">
            <a:avLst/>
          </a:prstGeom>
          <a:noFill/>
        </p:spPr>
        <p:txBody>
          <a:bodyPr wrap="square" rtlCol="0">
            <a:spAutoFit/>
          </a:bodyPr>
          <a:lstStyle/>
          <a:p>
            <a:r>
              <a:rPr lang="en-GB" sz="2800" i="1" dirty="0">
                <a:latin typeface="Arial" panose="020B0604020202020204" pitchFamily="34" charset="0"/>
                <a:cs typeface="Arial" panose="020B0604020202020204" pitchFamily="34" charset="0"/>
              </a:rPr>
              <a:t>Please Remember – not complying with an approved policy is a disciplinary offence.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468313" y="476250"/>
            <a:ext cx="8229600" cy="1143000"/>
          </a:xfrm>
        </p:spPr>
        <p:txBody>
          <a:bodyPr/>
          <a:lstStyle/>
          <a:p>
            <a:r>
              <a:rPr lang="en-GB" altLang="en-US"/>
              <a:t>Physical Security</a:t>
            </a:r>
          </a:p>
        </p:txBody>
      </p:sp>
      <p:sp>
        <p:nvSpPr>
          <p:cNvPr id="23555" name="Content Placeholder 2"/>
          <p:cNvSpPr>
            <a:spLocks noGrp="1"/>
          </p:cNvSpPr>
          <p:nvPr>
            <p:ph idx="1"/>
          </p:nvPr>
        </p:nvSpPr>
        <p:spPr/>
        <p:txBody>
          <a:bodyPr/>
          <a:lstStyle/>
          <a:p>
            <a:r>
              <a:rPr lang="en-GB" altLang="en-US" dirty="0">
                <a:latin typeface="Arial" charset="0"/>
                <a:cs typeface="Arial" charset="0"/>
              </a:rPr>
              <a:t>Securing doors and windows</a:t>
            </a:r>
          </a:p>
          <a:p>
            <a:r>
              <a:rPr lang="en-GB" altLang="en-US" dirty="0">
                <a:latin typeface="Arial" charset="0"/>
                <a:cs typeface="Arial" charset="0"/>
              </a:rPr>
              <a:t>Tailgating</a:t>
            </a:r>
          </a:p>
          <a:p>
            <a:r>
              <a:rPr lang="en-GB" altLang="en-US" dirty="0">
                <a:latin typeface="Arial" charset="0"/>
                <a:cs typeface="Arial" charset="0"/>
              </a:rPr>
              <a:t>Wearing badges</a:t>
            </a:r>
          </a:p>
          <a:p>
            <a:r>
              <a:rPr lang="en-GB" altLang="en-US" dirty="0">
                <a:latin typeface="Arial" charset="0"/>
                <a:cs typeface="Arial" charset="0"/>
              </a:rPr>
              <a:t>Looking after cards and PINs</a:t>
            </a:r>
          </a:p>
          <a:p>
            <a:r>
              <a:rPr lang="en-GB" altLang="en-US" dirty="0">
                <a:latin typeface="Arial" charset="0"/>
                <a:cs typeface="Arial" charset="0"/>
              </a:rPr>
              <a:t>Signing in and escorting visitors</a:t>
            </a:r>
          </a:p>
          <a:p>
            <a:r>
              <a:rPr lang="en-GB" altLang="en-US" dirty="0">
                <a:latin typeface="Arial" charset="0"/>
                <a:cs typeface="Arial" charset="0"/>
              </a:rPr>
              <a:t>Challenging strangers</a:t>
            </a:r>
          </a:p>
          <a:p>
            <a:r>
              <a:rPr lang="en-GB" altLang="en-US" dirty="0">
                <a:latin typeface="Arial" charset="0"/>
                <a:cs typeface="Arial" charset="0"/>
              </a:rPr>
              <a:t>Clear desk policy</a:t>
            </a:r>
          </a:p>
          <a:p>
            <a:r>
              <a:rPr lang="en-GB" altLang="en-US" dirty="0">
                <a:latin typeface="Arial" charset="0"/>
                <a:cs typeface="Arial" charset="0"/>
              </a:rPr>
              <a:t>Overlooking</a:t>
            </a:r>
          </a:p>
          <a:p>
            <a:r>
              <a:rPr lang="en-GB" altLang="en-US" dirty="0">
                <a:latin typeface="Arial" charset="0"/>
                <a:cs typeface="Arial" charset="0"/>
              </a:rPr>
              <a:t>Deliveries</a:t>
            </a:r>
          </a:p>
          <a:p>
            <a:endParaRPr lang="en-GB" altLang="en-US" dirty="0"/>
          </a:p>
        </p:txBody>
      </p:sp>
      <p:pic>
        <p:nvPicPr>
          <p:cNvPr id="23556" name="Picture 4" descr="D:\Business\Public IT Sales and Marketing\Website\Website Icons\Fresh.icon.set\Icons\PNG\256x256\96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2950" y="765175"/>
            <a:ext cx="18669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68313" y="549275"/>
            <a:ext cx="8229600" cy="1143000"/>
          </a:xfrm>
        </p:spPr>
        <p:txBody>
          <a:bodyPr/>
          <a:lstStyle/>
          <a:p>
            <a:r>
              <a:rPr lang="en-GB" altLang="en-US"/>
              <a:t>Access and Passwords</a:t>
            </a:r>
          </a:p>
        </p:txBody>
      </p:sp>
      <p:sp>
        <p:nvSpPr>
          <p:cNvPr id="24579" name="Content Placeholder 2"/>
          <p:cNvSpPr>
            <a:spLocks noGrp="1"/>
          </p:cNvSpPr>
          <p:nvPr>
            <p:ph idx="1"/>
          </p:nvPr>
        </p:nvSpPr>
        <p:spPr/>
        <p:txBody>
          <a:bodyPr/>
          <a:lstStyle/>
          <a:p>
            <a:r>
              <a:rPr lang="en-GB" altLang="en-US">
                <a:latin typeface="Arial" charset="0"/>
                <a:cs typeface="Arial" charset="0"/>
              </a:rPr>
              <a:t>Only use your own user accounts</a:t>
            </a:r>
          </a:p>
          <a:p>
            <a:r>
              <a:rPr lang="en-GB" altLang="en-US">
                <a:latin typeface="Arial" charset="0"/>
                <a:cs typeface="Arial" charset="0"/>
              </a:rPr>
              <a:t>Never let anyone else use your user account</a:t>
            </a:r>
          </a:p>
          <a:p>
            <a:r>
              <a:rPr lang="en-GB" altLang="en-US">
                <a:latin typeface="Arial" charset="0"/>
                <a:cs typeface="Arial" charset="0"/>
              </a:rPr>
              <a:t>Choose a strong password</a:t>
            </a:r>
          </a:p>
          <a:p>
            <a:r>
              <a:rPr lang="en-GB" altLang="en-US">
                <a:latin typeface="Arial" charset="0"/>
                <a:cs typeface="Arial" charset="0"/>
              </a:rPr>
              <a:t>Never tell anyone your password</a:t>
            </a:r>
          </a:p>
          <a:p>
            <a:r>
              <a:rPr lang="en-GB" altLang="en-US">
                <a:latin typeface="Arial" charset="0"/>
                <a:cs typeface="Arial" charset="0"/>
              </a:rPr>
              <a:t>Never write it down</a:t>
            </a:r>
          </a:p>
          <a:p>
            <a:r>
              <a:rPr lang="en-GB" altLang="en-US">
                <a:latin typeface="Arial" charset="0"/>
                <a:cs typeface="Arial" charset="0"/>
              </a:rPr>
              <a:t>Use a different password for each system</a:t>
            </a:r>
          </a:p>
          <a:p>
            <a:r>
              <a:rPr lang="en-GB" altLang="en-US">
                <a:latin typeface="Arial" charset="0"/>
                <a:cs typeface="Arial" charset="0"/>
              </a:rPr>
              <a:t>Use two factor authentication where possible</a:t>
            </a:r>
          </a:p>
        </p:txBody>
      </p:sp>
      <p:pic>
        <p:nvPicPr>
          <p:cNvPr id="24580" name="Picture 4" descr="D:\Business\Public IT Sales and Marketing\Website\Website Icons\Fresh.icon.set\Icons\PNG\256x256\100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43788" y="765175"/>
            <a:ext cx="1724025"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68313" y="549275"/>
            <a:ext cx="8229600" cy="1143000"/>
          </a:xfrm>
        </p:spPr>
        <p:txBody>
          <a:bodyPr/>
          <a:lstStyle/>
          <a:p>
            <a:r>
              <a:rPr lang="en-GB" altLang="en-US"/>
              <a:t>Email</a:t>
            </a:r>
          </a:p>
        </p:txBody>
      </p:sp>
      <p:sp>
        <p:nvSpPr>
          <p:cNvPr id="25603" name="Content Placeholder 2"/>
          <p:cNvSpPr>
            <a:spLocks noGrp="1"/>
          </p:cNvSpPr>
          <p:nvPr>
            <p:ph idx="1"/>
          </p:nvPr>
        </p:nvSpPr>
        <p:spPr/>
        <p:txBody>
          <a:bodyPr/>
          <a:lstStyle/>
          <a:p>
            <a:r>
              <a:rPr lang="en-GB" altLang="en-US">
                <a:latin typeface="Arial" charset="0"/>
                <a:cs typeface="Arial" charset="0"/>
              </a:rPr>
              <a:t>Use for work-related emails only</a:t>
            </a:r>
          </a:p>
          <a:p>
            <a:r>
              <a:rPr lang="en-GB" altLang="en-US">
                <a:latin typeface="Arial" charset="0"/>
                <a:cs typeface="Arial" charset="0"/>
              </a:rPr>
              <a:t>Never send confidential information by email unless it is encrypted</a:t>
            </a:r>
          </a:p>
          <a:p>
            <a:r>
              <a:rPr lang="en-GB" altLang="en-US">
                <a:latin typeface="Arial" charset="0"/>
                <a:cs typeface="Arial" charset="0"/>
              </a:rPr>
              <a:t>Always check that you are sending an email to the correct person</a:t>
            </a:r>
          </a:p>
          <a:p>
            <a:r>
              <a:rPr lang="en-GB" altLang="en-US">
                <a:latin typeface="Arial" charset="0"/>
                <a:cs typeface="Arial" charset="0"/>
              </a:rPr>
              <a:t>Read and comply with the Email Policy</a:t>
            </a:r>
          </a:p>
          <a:p>
            <a:r>
              <a:rPr lang="en-GB" altLang="en-US">
                <a:latin typeface="Arial" charset="0"/>
                <a:cs typeface="Arial" charset="0"/>
              </a:rPr>
              <a:t>Protect your email password</a:t>
            </a:r>
          </a:p>
          <a:p>
            <a:pPr lvl="1"/>
            <a:r>
              <a:rPr lang="en-GB" altLang="en-US">
                <a:latin typeface="Arial" charset="0"/>
                <a:cs typeface="Arial" charset="0"/>
              </a:rPr>
              <a:t>Email is often used to verify password resets in other applications</a:t>
            </a:r>
          </a:p>
        </p:txBody>
      </p:sp>
      <p:pic>
        <p:nvPicPr>
          <p:cNvPr id="25604" name="Picture 4" descr="D:\Business\Public IT Sales and Marketing\Website\Website Icons\Fresh.icon.set\Icons\PNG\256x256\121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850" y="765175"/>
            <a:ext cx="1577975"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468313" y="476250"/>
            <a:ext cx="8229600" cy="1143000"/>
          </a:xfrm>
        </p:spPr>
        <p:txBody>
          <a:bodyPr/>
          <a:lstStyle/>
          <a:p>
            <a:r>
              <a:rPr lang="en-GB" altLang="en-US"/>
              <a:t>Phishing Emails</a:t>
            </a:r>
          </a:p>
        </p:txBody>
      </p:sp>
      <p:sp>
        <p:nvSpPr>
          <p:cNvPr id="26627" name="Content Placeholder 2"/>
          <p:cNvSpPr>
            <a:spLocks noGrp="1"/>
          </p:cNvSpPr>
          <p:nvPr>
            <p:ph sz="half" idx="1"/>
          </p:nvPr>
        </p:nvSpPr>
        <p:spPr>
          <a:xfrm>
            <a:off x="468313" y="1773238"/>
            <a:ext cx="4038600" cy="4433887"/>
          </a:xfrm>
        </p:spPr>
        <p:txBody>
          <a:bodyPr/>
          <a:lstStyle/>
          <a:p>
            <a:r>
              <a:rPr lang="en-GB" altLang="en-US">
                <a:latin typeface="Arial" charset="0"/>
                <a:cs typeface="Arial" charset="0"/>
              </a:rPr>
              <a:t>Attacks</a:t>
            </a:r>
          </a:p>
          <a:p>
            <a:pPr lvl="1"/>
            <a:r>
              <a:rPr lang="en-GB" altLang="en-US">
                <a:latin typeface="Arial" charset="0"/>
                <a:cs typeface="Arial" charset="0"/>
              </a:rPr>
              <a:t>Mass - random</a:t>
            </a:r>
          </a:p>
          <a:p>
            <a:pPr lvl="1"/>
            <a:r>
              <a:rPr lang="en-GB" altLang="en-US">
                <a:latin typeface="Arial" charset="0"/>
                <a:cs typeface="Arial" charset="0"/>
              </a:rPr>
              <a:t>Spear – targetted on one organisation</a:t>
            </a:r>
          </a:p>
          <a:p>
            <a:pPr lvl="1"/>
            <a:r>
              <a:rPr lang="en-GB" altLang="en-US">
                <a:latin typeface="Arial" charset="0"/>
                <a:cs typeface="Arial" charset="0"/>
              </a:rPr>
              <a:t>Whaling – targetted on one individual</a:t>
            </a:r>
          </a:p>
          <a:p>
            <a:r>
              <a:rPr lang="en-GB" altLang="en-US">
                <a:latin typeface="Arial" charset="0"/>
                <a:cs typeface="Arial" charset="0"/>
              </a:rPr>
              <a:t>Types </a:t>
            </a:r>
          </a:p>
          <a:p>
            <a:pPr lvl="1"/>
            <a:r>
              <a:rPr lang="en-GB" altLang="en-US">
                <a:latin typeface="Arial" charset="0"/>
                <a:cs typeface="Arial" charset="0"/>
              </a:rPr>
              <a:t>Click-through</a:t>
            </a:r>
          </a:p>
          <a:p>
            <a:pPr lvl="1"/>
            <a:r>
              <a:rPr lang="en-GB" altLang="en-US">
                <a:latin typeface="Arial" charset="0"/>
                <a:cs typeface="Arial" charset="0"/>
              </a:rPr>
              <a:t>Attachments</a:t>
            </a:r>
          </a:p>
          <a:p>
            <a:pPr lvl="1"/>
            <a:r>
              <a:rPr lang="en-GB" altLang="en-US">
                <a:latin typeface="Arial" charset="0"/>
                <a:cs typeface="Arial" charset="0"/>
              </a:rPr>
              <a:t>Web form capture</a:t>
            </a:r>
          </a:p>
          <a:p>
            <a:endParaRPr lang="en-GB" altLang="en-US"/>
          </a:p>
        </p:txBody>
      </p:sp>
      <p:sp>
        <p:nvSpPr>
          <p:cNvPr id="26628" name="Content Placeholder 3"/>
          <p:cNvSpPr>
            <a:spLocks noGrp="1"/>
          </p:cNvSpPr>
          <p:nvPr>
            <p:ph sz="half" idx="2"/>
          </p:nvPr>
        </p:nvSpPr>
        <p:spPr>
          <a:xfrm>
            <a:off x="4643438" y="1773238"/>
            <a:ext cx="4244975" cy="4433887"/>
          </a:xfrm>
        </p:spPr>
        <p:txBody>
          <a:bodyPr/>
          <a:lstStyle/>
          <a:p>
            <a:r>
              <a:rPr lang="en-GB" altLang="en-US">
                <a:latin typeface="Arial" charset="0"/>
                <a:cs typeface="Arial" charset="0"/>
              </a:rPr>
              <a:t>How do I tell?</a:t>
            </a:r>
          </a:p>
          <a:p>
            <a:pPr lvl="1"/>
            <a:r>
              <a:rPr lang="en-GB" altLang="en-US">
                <a:latin typeface="Arial" charset="0"/>
                <a:cs typeface="Arial" charset="0"/>
              </a:rPr>
              <a:t>Unexpected</a:t>
            </a:r>
          </a:p>
          <a:p>
            <a:pPr lvl="1"/>
            <a:r>
              <a:rPr lang="en-GB" altLang="en-US">
                <a:latin typeface="Arial" charset="0"/>
                <a:cs typeface="Arial" charset="0"/>
              </a:rPr>
              <a:t>Spelling mistakes</a:t>
            </a:r>
          </a:p>
          <a:p>
            <a:pPr lvl="1"/>
            <a:r>
              <a:rPr lang="en-GB" altLang="en-US">
                <a:latin typeface="Arial" charset="0"/>
                <a:cs typeface="Arial" charset="0"/>
              </a:rPr>
              <a:t>Lack of personal information used</a:t>
            </a:r>
          </a:p>
          <a:p>
            <a:pPr lvl="1"/>
            <a:r>
              <a:rPr lang="en-GB" altLang="en-US">
                <a:latin typeface="Arial" charset="0"/>
                <a:cs typeface="Arial" charset="0"/>
              </a:rPr>
              <a:t>Asking for an action</a:t>
            </a:r>
          </a:p>
          <a:p>
            <a:pPr lvl="2"/>
            <a:r>
              <a:rPr lang="en-GB" altLang="en-US">
                <a:latin typeface="Arial" charset="0"/>
                <a:cs typeface="Arial" charset="0"/>
              </a:rPr>
              <a:t>Open attachment</a:t>
            </a:r>
          </a:p>
          <a:p>
            <a:pPr lvl="2"/>
            <a:r>
              <a:rPr lang="en-GB" altLang="en-US">
                <a:latin typeface="Arial" charset="0"/>
                <a:cs typeface="Arial" charset="0"/>
              </a:rPr>
              <a:t>Go to website</a:t>
            </a:r>
          </a:p>
          <a:p>
            <a:pPr lvl="2"/>
            <a:r>
              <a:rPr lang="en-GB" altLang="en-US">
                <a:latin typeface="Arial" charset="0"/>
                <a:cs typeface="Arial" charset="0"/>
              </a:rPr>
              <a:t>Provide information</a:t>
            </a:r>
          </a:p>
          <a:p>
            <a:pPr lvl="1"/>
            <a:r>
              <a:rPr lang="en-GB" altLang="en-US">
                <a:latin typeface="Arial" charset="0"/>
                <a:cs typeface="Arial" charset="0"/>
              </a:rPr>
              <a:t>Beware! They are becoming increasingly convincing</a:t>
            </a:r>
          </a:p>
          <a:p>
            <a:pPr lvl="2"/>
            <a:endParaRPr lang="en-GB" altLang="en-US">
              <a:latin typeface="Arial" charset="0"/>
              <a:cs typeface="Arial" charset="0"/>
            </a:endParaRPr>
          </a:p>
        </p:txBody>
      </p:sp>
      <p:pic>
        <p:nvPicPr>
          <p:cNvPr id="26629" name="Picture 2" descr="D:\Business\Public IT Sales and Marketing\Website\Website Icons\Fresh.icon.set\Icons\PNG\256x256\56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2950" y="692150"/>
            <a:ext cx="1722438"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a:xfrm>
            <a:off x="468313" y="476250"/>
            <a:ext cx="8229600" cy="1143000"/>
          </a:xfrm>
        </p:spPr>
        <p:txBody>
          <a:bodyPr/>
          <a:lstStyle/>
          <a:p>
            <a:r>
              <a:rPr lang="en-GB" altLang="en-US"/>
              <a:t>Using the Internet</a:t>
            </a:r>
          </a:p>
        </p:txBody>
      </p:sp>
      <p:sp>
        <p:nvSpPr>
          <p:cNvPr id="27651" name="Content Placeholder 2"/>
          <p:cNvSpPr>
            <a:spLocks noGrp="1"/>
          </p:cNvSpPr>
          <p:nvPr>
            <p:ph idx="1"/>
          </p:nvPr>
        </p:nvSpPr>
        <p:spPr>
          <a:xfrm>
            <a:off x="468313" y="1700213"/>
            <a:ext cx="8229600" cy="4389437"/>
          </a:xfrm>
        </p:spPr>
        <p:txBody>
          <a:bodyPr/>
          <a:lstStyle/>
          <a:p>
            <a:r>
              <a:rPr lang="en-GB" altLang="en-US" sz="2400" dirty="0">
                <a:latin typeface="Arial" charset="0"/>
                <a:cs typeface="Arial" charset="0"/>
              </a:rPr>
              <a:t>Don’t disable your firewall software</a:t>
            </a:r>
          </a:p>
          <a:p>
            <a:r>
              <a:rPr lang="en-GB" altLang="en-US" sz="2400" dirty="0">
                <a:latin typeface="Arial" charset="0"/>
                <a:cs typeface="Arial" charset="0"/>
              </a:rPr>
              <a:t>Ensure your browser and associated programs are up to date</a:t>
            </a:r>
          </a:p>
          <a:p>
            <a:r>
              <a:rPr lang="en-GB" altLang="en-US" sz="2400" dirty="0">
                <a:latin typeface="Arial" charset="0"/>
                <a:cs typeface="Arial" charset="0"/>
              </a:rPr>
              <a:t>Check that links go to the site stated</a:t>
            </a:r>
          </a:p>
          <a:p>
            <a:r>
              <a:rPr lang="en-GB" altLang="en-US" sz="2400" dirty="0">
                <a:latin typeface="Arial" charset="0"/>
                <a:cs typeface="Arial" charset="0"/>
              </a:rPr>
              <a:t>Check for HTTPS and the padlock symbol when performing confidential transactions</a:t>
            </a:r>
          </a:p>
          <a:p>
            <a:r>
              <a:rPr lang="en-GB" altLang="en-US" sz="2400" dirty="0">
                <a:latin typeface="Arial" charset="0"/>
                <a:cs typeface="Arial" charset="0"/>
              </a:rPr>
              <a:t>Don’t download unknown programs</a:t>
            </a:r>
          </a:p>
          <a:p>
            <a:r>
              <a:rPr lang="en-GB" altLang="en-US" sz="2400" dirty="0">
                <a:latin typeface="Arial" charset="0"/>
                <a:cs typeface="Arial" charset="0"/>
              </a:rPr>
              <a:t>Limit work-related information posted on social media sites</a:t>
            </a:r>
          </a:p>
          <a:p>
            <a:r>
              <a:rPr lang="en-GB" altLang="en-US" sz="2400" dirty="0">
                <a:latin typeface="Arial" charset="0"/>
                <a:cs typeface="Arial" charset="0"/>
              </a:rPr>
              <a:t>Do not visit sites that are against the Internet Acceptable Use Policy</a:t>
            </a:r>
          </a:p>
        </p:txBody>
      </p:sp>
      <p:pic>
        <p:nvPicPr>
          <p:cNvPr id="27652" name="Picture 4" descr="D:\Business\Public IT Sales and Marketing\Website\Website Icons\Fresh.icon.set\Icons\PNG\256x256\42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0288" y="692150"/>
            <a:ext cx="1579562"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cloud services</a:t>
            </a:r>
          </a:p>
        </p:txBody>
      </p:sp>
      <p:sp>
        <p:nvSpPr>
          <p:cNvPr id="3" name="Content Placeholder 2"/>
          <p:cNvSpPr>
            <a:spLocks noGrp="1"/>
          </p:cNvSpPr>
          <p:nvPr>
            <p:ph idx="1"/>
          </p:nvPr>
        </p:nvSpPr>
        <p:spPr/>
        <p:txBody>
          <a:bodyPr/>
          <a:lstStyle/>
          <a:p>
            <a:r>
              <a:rPr lang="en-GB" dirty="0">
                <a:latin typeface="Arial" panose="020B0604020202020204" pitchFamily="34" charset="0"/>
                <a:cs typeface="Arial" panose="020B0604020202020204" pitchFamily="34" charset="0"/>
              </a:rPr>
              <a:t>Business use of cloud services must be authorised</a:t>
            </a:r>
          </a:p>
          <a:p>
            <a:r>
              <a:rPr lang="en-GB" dirty="0">
                <a:latin typeface="Arial" panose="020B0604020202020204" pitchFamily="34" charset="0"/>
                <a:cs typeface="Arial" panose="020B0604020202020204" pitchFamily="34" charset="0"/>
              </a:rPr>
              <a:t>Due diligence is essential</a:t>
            </a:r>
          </a:p>
          <a:p>
            <a:r>
              <a:rPr lang="en-GB" dirty="0">
                <a:latin typeface="Arial" panose="020B0604020202020204" pitchFamily="34" charset="0"/>
                <a:cs typeface="Arial" panose="020B0604020202020204" pitchFamily="34" charset="0"/>
              </a:rPr>
              <a:t>Encrypt data where possible</a:t>
            </a:r>
          </a:p>
          <a:p>
            <a:r>
              <a:rPr lang="en-GB" dirty="0">
                <a:latin typeface="Arial" panose="020B0604020202020204" pitchFamily="34" charset="0"/>
                <a:cs typeface="Arial" panose="020B0604020202020204" pitchFamily="34" charset="0"/>
              </a:rPr>
              <a:t>Strong access control is vital</a:t>
            </a:r>
          </a:p>
          <a:p>
            <a:r>
              <a:rPr lang="en-GB" dirty="0">
                <a:latin typeface="Arial" panose="020B0604020202020204" pitchFamily="34" charset="0"/>
                <a:cs typeface="Arial" panose="020B0604020202020204" pitchFamily="34" charset="0"/>
              </a:rPr>
              <a:t>Roles and responsibilities must be clear</a:t>
            </a:r>
          </a:p>
          <a:p>
            <a:r>
              <a:rPr lang="en-GB" dirty="0">
                <a:latin typeface="Arial" panose="020B0604020202020204" pitchFamily="34" charset="0"/>
                <a:cs typeface="Arial" panose="020B0604020202020204" pitchFamily="34" charset="0"/>
              </a:rPr>
              <a:t>International legal framework may apply</a:t>
            </a:r>
          </a:p>
          <a:p>
            <a:r>
              <a:rPr lang="en-GB" dirty="0">
                <a:latin typeface="Arial" panose="020B0604020202020204" pitchFamily="34" charset="0"/>
                <a:cs typeface="Arial" panose="020B0604020202020204" pitchFamily="34" charset="0"/>
              </a:rPr>
              <a:t>Significant consequences around the loss of personal data</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63941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Cloud Service Provider (CSP)</a:t>
            </a:r>
          </a:p>
        </p:txBody>
      </p:sp>
      <p:sp>
        <p:nvSpPr>
          <p:cNvPr id="3" name="Content Placeholder 2"/>
          <p:cNvSpPr>
            <a:spLocks noGrp="1"/>
          </p:cNvSpPr>
          <p:nvPr>
            <p:ph idx="1"/>
          </p:nvPr>
        </p:nvSpPr>
        <p:spPr/>
        <p:txBody>
          <a:bodyPr/>
          <a:lstStyle/>
          <a:p>
            <a:r>
              <a:rPr lang="en-GB" sz="2400" dirty="0">
                <a:latin typeface="Arial" panose="020B0604020202020204" pitchFamily="34" charset="0"/>
                <a:cs typeface="Arial" panose="020B0604020202020204" pitchFamily="34" charset="0"/>
              </a:rPr>
              <a:t>Cloud customer data is confidential</a:t>
            </a:r>
          </a:p>
          <a:p>
            <a:r>
              <a:rPr lang="en-GB" sz="2400" dirty="0">
                <a:latin typeface="Arial" panose="020B0604020202020204" pitchFamily="34" charset="0"/>
                <a:cs typeface="Arial" panose="020B0604020202020204" pitchFamily="34" charset="0"/>
              </a:rPr>
              <a:t>Access to customer assets is closely controlled</a:t>
            </a:r>
          </a:p>
          <a:p>
            <a:r>
              <a:rPr lang="en-GB" sz="2400" dirty="0">
                <a:latin typeface="Arial" panose="020B0604020202020204" pitchFamily="34" charset="0"/>
                <a:cs typeface="Arial" panose="020B0604020202020204" pitchFamily="34" charset="0"/>
              </a:rPr>
              <a:t>Administrative access to the multi-tenant cloud environment must be protected</a:t>
            </a:r>
          </a:p>
          <a:p>
            <a:r>
              <a:rPr lang="en-GB" sz="2400" dirty="0">
                <a:latin typeface="Arial" panose="020B0604020202020204" pitchFamily="34" charset="0"/>
                <a:cs typeface="Arial" panose="020B0604020202020204" pitchFamily="34" charset="0"/>
              </a:rPr>
              <a:t>Procedures must be followed when dealing with customer access issues and enquiries</a:t>
            </a:r>
          </a:p>
          <a:p>
            <a:r>
              <a:rPr lang="en-GB" sz="2400" dirty="0">
                <a:latin typeface="Arial" panose="020B0604020202020204" pitchFamily="34" charset="0"/>
                <a:cs typeface="Arial" panose="020B0604020202020204" pitchFamily="34" charset="0"/>
              </a:rPr>
              <a:t>Strict controls over re-use of resources</a:t>
            </a:r>
          </a:p>
          <a:p>
            <a:r>
              <a:rPr lang="en-GB" sz="2400" dirty="0">
                <a:latin typeface="Arial" panose="020B0604020202020204" pitchFamily="34" charset="0"/>
                <a:cs typeface="Arial" panose="020B0604020202020204" pitchFamily="34" charset="0"/>
              </a:rPr>
              <a:t>Report all suspected breaches immediately</a:t>
            </a:r>
          </a:p>
          <a:p>
            <a:r>
              <a:rPr lang="en-GB" sz="2400" dirty="0">
                <a:latin typeface="Arial" panose="020B0604020202020204" pitchFamily="34" charset="0"/>
                <a:cs typeface="Arial" panose="020B0604020202020204" pitchFamily="34" charset="0"/>
              </a:rPr>
              <a:t>Communication regarding incidents must go through authorised channels</a:t>
            </a: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extLst>
      <p:ext uri="{BB962C8B-B14F-4D97-AF65-F5344CB8AC3E}">
        <p14:creationId xmlns:p14="http://schemas.microsoft.com/office/powerpoint/2010/main" val="11346080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68313" y="549275"/>
            <a:ext cx="8229600" cy="1143000"/>
          </a:xfrm>
        </p:spPr>
        <p:txBody>
          <a:bodyPr/>
          <a:lstStyle/>
          <a:p>
            <a:r>
              <a:rPr lang="en-GB" altLang="en-US"/>
              <a:t>Anti-Virus</a:t>
            </a:r>
          </a:p>
        </p:txBody>
      </p:sp>
      <p:sp>
        <p:nvSpPr>
          <p:cNvPr id="28675" name="Content Placeholder 2"/>
          <p:cNvSpPr>
            <a:spLocks noGrp="1"/>
          </p:cNvSpPr>
          <p:nvPr>
            <p:ph idx="1"/>
          </p:nvPr>
        </p:nvSpPr>
        <p:spPr/>
        <p:txBody>
          <a:bodyPr/>
          <a:lstStyle/>
          <a:p>
            <a:r>
              <a:rPr lang="en-GB" altLang="en-US">
                <a:latin typeface="Arial" charset="0"/>
                <a:cs typeface="Arial" charset="0"/>
              </a:rPr>
              <a:t>Never disable your anti-virus protection</a:t>
            </a:r>
          </a:p>
          <a:p>
            <a:r>
              <a:rPr lang="en-GB" altLang="en-US">
                <a:latin typeface="Arial" charset="0"/>
                <a:cs typeface="Arial" charset="0"/>
              </a:rPr>
              <a:t>Keep your AV signatures and updates current</a:t>
            </a:r>
          </a:p>
          <a:p>
            <a:r>
              <a:rPr lang="en-GB" altLang="en-US">
                <a:latin typeface="Arial" charset="0"/>
                <a:cs typeface="Arial" charset="0"/>
              </a:rPr>
              <a:t>Allow a scan to be performed regularly</a:t>
            </a:r>
          </a:p>
          <a:p>
            <a:r>
              <a:rPr lang="en-GB" altLang="en-US">
                <a:latin typeface="Arial" charset="0"/>
                <a:cs typeface="Arial" charset="0"/>
              </a:rPr>
              <a:t>Report any viruses found to the IT Help Desk </a:t>
            </a:r>
          </a:p>
        </p:txBody>
      </p:sp>
      <p:pic>
        <p:nvPicPr>
          <p:cNvPr id="28676" name="Picture 4" descr="D:\Business\Public IT Sales and Marketing\Website\Website Icons\Fresh.icon.set\Icons\PNG\256x256\249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5825" y="692150"/>
            <a:ext cx="1651000"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68313" y="404813"/>
            <a:ext cx="8229600" cy="1143000"/>
          </a:xfrm>
        </p:spPr>
        <p:txBody>
          <a:bodyPr/>
          <a:lstStyle/>
          <a:p>
            <a:r>
              <a:rPr lang="en-GB" altLang="en-US" dirty="0"/>
              <a:t>Mobile Devices</a:t>
            </a:r>
          </a:p>
        </p:txBody>
      </p:sp>
      <p:sp>
        <p:nvSpPr>
          <p:cNvPr id="29699" name="Content Placeholder 2"/>
          <p:cNvSpPr>
            <a:spLocks noGrp="1"/>
          </p:cNvSpPr>
          <p:nvPr>
            <p:ph idx="1"/>
          </p:nvPr>
        </p:nvSpPr>
        <p:spPr>
          <a:xfrm>
            <a:off x="468313" y="1916113"/>
            <a:ext cx="8278812" cy="4389437"/>
          </a:xfrm>
        </p:spPr>
        <p:txBody>
          <a:bodyPr/>
          <a:lstStyle/>
          <a:p>
            <a:r>
              <a:rPr lang="en-GB" altLang="en-US">
                <a:latin typeface="Arial" charset="0"/>
                <a:cs typeface="Arial" charset="0"/>
              </a:rPr>
              <a:t>Never leave unattended in a public place or vehicle</a:t>
            </a:r>
          </a:p>
          <a:p>
            <a:r>
              <a:rPr lang="en-GB" altLang="en-US">
                <a:latin typeface="Arial" charset="0"/>
                <a:cs typeface="Arial" charset="0"/>
              </a:rPr>
              <a:t>Keep locked away when not in use</a:t>
            </a:r>
          </a:p>
          <a:p>
            <a:r>
              <a:rPr lang="en-GB" altLang="en-US">
                <a:latin typeface="Arial" charset="0"/>
                <a:cs typeface="Arial" charset="0"/>
              </a:rPr>
              <a:t>No confidential information to be stored on mobile devices unless previously approved</a:t>
            </a:r>
          </a:p>
          <a:p>
            <a:r>
              <a:rPr lang="en-GB" altLang="en-US">
                <a:latin typeface="Arial" charset="0"/>
                <a:cs typeface="Arial" charset="0"/>
              </a:rPr>
              <a:t>Use screen lock and if possible whole disk encryption</a:t>
            </a:r>
          </a:p>
          <a:p>
            <a:r>
              <a:rPr lang="en-GB" altLang="en-US">
                <a:latin typeface="Arial" charset="0"/>
                <a:cs typeface="Arial" charset="0"/>
              </a:rPr>
              <a:t>Do not install unauthorised software</a:t>
            </a:r>
          </a:p>
          <a:p>
            <a:r>
              <a:rPr lang="en-GB" altLang="en-US">
                <a:latin typeface="Arial" charset="0"/>
                <a:cs typeface="Arial" charset="0"/>
              </a:rPr>
              <a:t>Do not allow others to use your business device</a:t>
            </a:r>
          </a:p>
          <a:p>
            <a:r>
              <a:rPr lang="en-GB" altLang="en-US">
                <a:latin typeface="Arial" charset="0"/>
                <a:cs typeface="Arial" charset="0"/>
              </a:rPr>
              <a:t>Consider backups and anti-virus protection</a:t>
            </a:r>
          </a:p>
        </p:txBody>
      </p:sp>
      <p:pic>
        <p:nvPicPr>
          <p:cNvPr id="29700" name="Picture 4" descr="D:\Business\Public IT Sales and Marketing\Website\Website Icons\Fresh.icon.set\Icons\PNG\256x256\338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5825" y="404813"/>
            <a:ext cx="1724025" cy="172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5" descr="D:\Business\Public IT Sales and Marketing\Website\Website Icons\Fresh.icon.set\Icons\PNG\256x256\259_256x25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76988" y="981075"/>
            <a:ext cx="858837"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p:nvPr/>
        </p:nvPicPr>
        <p:blipFill>
          <a:blip r:embed="rId5"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68313" y="476250"/>
            <a:ext cx="8229600" cy="1143000"/>
          </a:xfrm>
        </p:spPr>
        <p:txBody>
          <a:bodyPr/>
          <a:lstStyle/>
          <a:p>
            <a:r>
              <a:rPr lang="en-GB" altLang="en-US"/>
              <a:t>Removable Media</a:t>
            </a:r>
          </a:p>
        </p:txBody>
      </p:sp>
      <p:sp>
        <p:nvSpPr>
          <p:cNvPr id="3" name="Content Placeholder 2"/>
          <p:cNvSpPr>
            <a:spLocks noGrp="1"/>
          </p:cNvSpPr>
          <p:nvPr>
            <p:ph idx="1"/>
          </p:nvPr>
        </p:nvSpPr>
        <p:spPr>
          <a:xfrm>
            <a:off x="457200" y="1935163"/>
            <a:ext cx="7067550" cy="4389437"/>
          </a:xfrm>
        </p:spPr>
        <p:txBody>
          <a:bodyPr/>
          <a:lstStyle/>
          <a:p>
            <a:pPr>
              <a:defRPr/>
            </a:pPr>
            <a:r>
              <a:rPr lang="en-GB" dirty="0">
                <a:latin typeface="Arial" panose="020B0604020202020204" pitchFamily="34" charset="0"/>
                <a:cs typeface="Arial" panose="020B0604020202020204" pitchFamily="34" charset="0"/>
              </a:rPr>
              <a:t>Any attachable devices with storage e.g. USB drives, memory cards, CD/DVDs</a:t>
            </a:r>
          </a:p>
          <a:p>
            <a:pPr>
              <a:defRPr/>
            </a:pPr>
            <a:r>
              <a:rPr lang="en-GB" dirty="0">
                <a:latin typeface="Arial" panose="020B0604020202020204" pitchFamily="34" charset="0"/>
                <a:cs typeface="Arial" panose="020B0604020202020204" pitchFamily="34" charset="0"/>
              </a:rPr>
              <a:t>Should not be used unless previously approved</a:t>
            </a:r>
          </a:p>
          <a:p>
            <a:pPr>
              <a:defRPr/>
            </a:pPr>
            <a:r>
              <a:rPr lang="en-GB" dirty="0">
                <a:latin typeface="Arial" panose="020B0604020202020204" pitchFamily="34" charset="0"/>
                <a:cs typeface="Arial" panose="020B0604020202020204" pitchFamily="34" charset="0"/>
              </a:rPr>
              <a:t>Must be encrypted if confidential information is to be stored</a:t>
            </a:r>
          </a:p>
          <a:p>
            <a:pPr>
              <a:defRPr/>
            </a:pPr>
            <a:r>
              <a:rPr lang="en-GB" dirty="0">
                <a:latin typeface="Arial" panose="020B0604020202020204" pitchFamily="34" charset="0"/>
                <a:cs typeface="Arial" panose="020B0604020202020204" pitchFamily="34" charset="0"/>
              </a:rPr>
              <a:t>Never insert unknown media into your PC or device e.g. a USB stick you have found</a:t>
            </a:r>
          </a:p>
          <a:p>
            <a:pPr marL="0" indent="0">
              <a:buFont typeface="Wingdings 2" pitchFamily="18" charset="2"/>
              <a:buNone/>
              <a:defRPr/>
            </a:pPr>
            <a:endParaRPr lang="en-GB" dirty="0"/>
          </a:p>
        </p:txBody>
      </p:sp>
      <p:pic>
        <p:nvPicPr>
          <p:cNvPr id="30724" name="Picture 6" descr="D:\Business\Public IT Sales and Marketing\Website\Website Icons\Fresh.icon.set\Icons\PNG\256x256\102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850" y="620713"/>
            <a:ext cx="1646238" cy="1646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468313" y="476250"/>
            <a:ext cx="8229600" cy="1143000"/>
          </a:xfrm>
        </p:spPr>
        <p:txBody>
          <a:bodyPr/>
          <a:lstStyle/>
          <a:p>
            <a:r>
              <a:rPr lang="en-GB" altLang="en-US"/>
              <a:t>Information Disposal</a:t>
            </a:r>
          </a:p>
        </p:txBody>
      </p:sp>
      <p:sp>
        <p:nvSpPr>
          <p:cNvPr id="31747" name="Content Placeholder 2"/>
          <p:cNvSpPr>
            <a:spLocks noGrp="1"/>
          </p:cNvSpPr>
          <p:nvPr>
            <p:ph idx="1"/>
          </p:nvPr>
        </p:nvSpPr>
        <p:spPr>
          <a:xfrm>
            <a:off x="457200" y="1935163"/>
            <a:ext cx="6923088" cy="4389437"/>
          </a:xfrm>
        </p:spPr>
        <p:txBody>
          <a:bodyPr/>
          <a:lstStyle/>
          <a:p>
            <a:r>
              <a:rPr lang="en-GB" altLang="en-US">
                <a:latin typeface="Arial" charset="0"/>
                <a:cs typeface="Arial" charset="0"/>
              </a:rPr>
              <a:t>Dispose of information appropriately according to its type</a:t>
            </a:r>
          </a:p>
          <a:p>
            <a:r>
              <a:rPr lang="en-GB" altLang="en-US">
                <a:latin typeface="Arial" charset="0"/>
                <a:cs typeface="Arial" charset="0"/>
              </a:rPr>
              <a:t>Confidential information must be disposed of securely</a:t>
            </a:r>
          </a:p>
          <a:p>
            <a:pPr lvl="1"/>
            <a:r>
              <a:rPr lang="en-GB" altLang="en-US">
                <a:latin typeface="Arial" charset="0"/>
                <a:cs typeface="Arial" charset="0"/>
              </a:rPr>
              <a:t>Paper must be shredded</a:t>
            </a:r>
          </a:p>
          <a:p>
            <a:pPr lvl="1"/>
            <a:r>
              <a:rPr lang="en-GB" altLang="en-US">
                <a:latin typeface="Arial" charset="0"/>
                <a:cs typeface="Arial" charset="0"/>
              </a:rPr>
              <a:t>Electronic devices or media that may contain confidential information must be disposed of securely</a:t>
            </a:r>
          </a:p>
          <a:p>
            <a:pPr lvl="2"/>
            <a:r>
              <a:rPr lang="en-GB" altLang="en-US">
                <a:latin typeface="Arial" charset="0"/>
                <a:cs typeface="Arial" charset="0"/>
              </a:rPr>
              <a:t>Hard disks may be shredded</a:t>
            </a:r>
          </a:p>
        </p:txBody>
      </p:sp>
      <p:pic>
        <p:nvPicPr>
          <p:cNvPr id="31748" name="Picture 4" descr="D:\Business\Public IT Sales and Marketing\Website\Website Icons\Fresh.icon.set\Icons\PNG\256x256\163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0288" y="620713"/>
            <a:ext cx="1579562" cy="157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68313" y="549275"/>
            <a:ext cx="8229600" cy="1143000"/>
          </a:xfrm>
        </p:spPr>
        <p:txBody>
          <a:bodyPr/>
          <a:lstStyle/>
          <a:p>
            <a:r>
              <a:rPr lang="en-GB" altLang="en-US"/>
              <a:t>Security Incidents</a:t>
            </a:r>
          </a:p>
        </p:txBody>
      </p:sp>
      <p:sp>
        <p:nvSpPr>
          <p:cNvPr id="32771" name="Content Placeholder 2"/>
          <p:cNvSpPr>
            <a:spLocks noGrp="1"/>
          </p:cNvSpPr>
          <p:nvPr>
            <p:ph idx="1"/>
          </p:nvPr>
        </p:nvSpPr>
        <p:spPr>
          <a:xfrm>
            <a:off x="457200" y="1935163"/>
            <a:ext cx="6923088" cy="4389437"/>
          </a:xfrm>
        </p:spPr>
        <p:txBody>
          <a:bodyPr/>
          <a:lstStyle/>
          <a:p>
            <a:r>
              <a:rPr lang="en-GB" altLang="en-US" dirty="0">
                <a:latin typeface="Arial" charset="0"/>
                <a:cs typeface="Arial" charset="0"/>
              </a:rPr>
              <a:t>An incident may be an actual or potential breach of policy or loss of data</a:t>
            </a:r>
          </a:p>
          <a:p>
            <a:r>
              <a:rPr lang="en-GB" altLang="en-US" dirty="0">
                <a:latin typeface="Arial" charset="0"/>
                <a:cs typeface="Arial" charset="0"/>
              </a:rPr>
              <a:t>Information security incidents should be reported to the information security function without delay</a:t>
            </a:r>
          </a:p>
          <a:p>
            <a:r>
              <a:rPr lang="en-GB" altLang="en-US" dirty="0">
                <a:latin typeface="Arial" charset="0"/>
                <a:cs typeface="Arial" charset="0"/>
              </a:rPr>
              <a:t>In some cases, there may be a need to treat the area as a crime scene</a:t>
            </a:r>
          </a:p>
          <a:p>
            <a:r>
              <a:rPr lang="en-GB" altLang="en-US" dirty="0">
                <a:latin typeface="Arial" charset="0"/>
                <a:cs typeface="Arial" charset="0"/>
              </a:rPr>
              <a:t>Evidence should be preserved where possible</a:t>
            </a:r>
          </a:p>
        </p:txBody>
      </p:sp>
      <p:pic>
        <p:nvPicPr>
          <p:cNvPr id="32772" name="Picture 4" descr="D:\Business\Public IT Sales and Marketing\Website\Website Icons\Fresh.icon.set\Icons\PNG\256x256\57_256x25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0288" y="620713"/>
            <a:ext cx="1579562" cy="157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p:nvPr/>
        </p:nvPicPr>
        <p:blipFill>
          <a:blip r:embed="rId4"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68313" y="476250"/>
            <a:ext cx="8229600" cy="1143000"/>
          </a:xfrm>
        </p:spPr>
        <p:txBody>
          <a:bodyPr/>
          <a:lstStyle/>
          <a:p>
            <a:r>
              <a:rPr lang="en-GB" altLang="en-US"/>
              <a:t>Summary</a:t>
            </a:r>
          </a:p>
        </p:txBody>
      </p:sp>
      <p:sp>
        <p:nvSpPr>
          <p:cNvPr id="33795" name="Content Placeholder 2"/>
          <p:cNvSpPr>
            <a:spLocks noGrp="1"/>
          </p:cNvSpPr>
          <p:nvPr>
            <p:ph idx="1"/>
          </p:nvPr>
        </p:nvSpPr>
        <p:spPr/>
        <p:txBody>
          <a:bodyPr/>
          <a:lstStyle/>
          <a:p>
            <a:r>
              <a:rPr lang="en-GB" altLang="en-US" dirty="0">
                <a:latin typeface="Arial" charset="0"/>
                <a:cs typeface="Arial" charset="0"/>
              </a:rPr>
              <a:t>We must protect our information assets</a:t>
            </a:r>
          </a:p>
          <a:p>
            <a:r>
              <a:rPr lang="en-GB" altLang="en-US" dirty="0">
                <a:latin typeface="Arial" charset="0"/>
                <a:cs typeface="Arial" charset="0"/>
              </a:rPr>
              <a:t>The consequences to the organisation are potentially very severe</a:t>
            </a:r>
          </a:p>
          <a:p>
            <a:r>
              <a:rPr lang="en-GB" altLang="en-US" dirty="0">
                <a:latin typeface="Arial" charset="0"/>
                <a:cs typeface="Arial" charset="0"/>
              </a:rPr>
              <a:t>The organisation will do what it can…</a:t>
            </a:r>
          </a:p>
          <a:p>
            <a:pPr marL="0" indent="0">
              <a:buNone/>
            </a:pPr>
            <a:r>
              <a:rPr lang="en-GB" altLang="en-US" dirty="0">
                <a:latin typeface="Arial" charset="0"/>
                <a:cs typeface="Arial" charset="0"/>
              </a:rPr>
              <a:t>	but you have a key part to play in achieving this</a:t>
            </a:r>
          </a:p>
          <a:p>
            <a:r>
              <a:rPr lang="en-GB" altLang="en-US" dirty="0">
                <a:latin typeface="Arial" charset="0"/>
                <a:cs typeface="Arial" charset="0"/>
              </a:rPr>
              <a:t>Be careful and vigilant, especially on the Internet</a:t>
            </a:r>
          </a:p>
          <a:p>
            <a:r>
              <a:rPr lang="en-GB" altLang="en-US" dirty="0">
                <a:latin typeface="Arial" charset="0"/>
                <a:cs typeface="Arial" charset="0"/>
              </a:rPr>
              <a:t>If you’re unsure, please ask your manager</a:t>
            </a:r>
          </a:p>
          <a:p>
            <a:endParaRPr lang="en-GB" altLang="en-US"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993853" y="2564904"/>
            <a:ext cx="2677934" cy="618852"/>
          </a:xfrm>
          <a:extLst/>
        </p:spPr>
        <p:txBody>
          <a:bodyPr/>
          <a:lstStyle/>
          <a:p>
            <a:pPr algn="ctr">
              <a:defRPr/>
            </a:pPr>
            <a:r>
              <a:rPr lang="en-GB" sz="4000" b="1" dirty="0">
                <a:latin typeface="Arial" panose="020B0604020202020204" pitchFamily="34" charset="0"/>
                <a:cs typeface="Arial" panose="020B0604020202020204" pitchFamily="34" charset="0"/>
              </a:rPr>
              <a:t>Questions</a:t>
            </a:r>
            <a:endParaRPr lang="en-GB" b="1" dirty="0">
              <a:latin typeface="Arial" panose="020B0604020202020204" pitchFamily="34" charset="0"/>
              <a:cs typeface="Arial" panose="020B0604020202020204" pitchFamily="34" charset="0"/>
            </a:endParaRPr>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131840" y="1695465"/>
            <a:ext cx="2512060" cy="65341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a:xfrm>
            <a:off x="468313" y="476250"/>
            <a:ext cx="8229600" cy="1143000"/>
          </a:xfrm>
        </p:spPr>
        <p:txBody>
          <a:bodyPr/>
          <a:lstStyle/>
          <a:p>
            <a:r>
              <a:rPr lang="en-GB" altLang="en-US"/>
              <a:t>Quiz</a:t>
            </a:r>
          </a:p>
        </p:txBody>
      </p:sp>
      <p:sp>
        <p:nvSpPr>
          <p:cNvPr id="35843" name="Content Placeholder 2"/>
          <p:cNvSpPr>
            <a:spLocks noGrp="1"/>
          </p:cNvSpPr>
          <p:nvPr>
            <p:ph idx="1"/>
          </p:nvPr>
        </p:nvSpPr>
        <p:spPr/>
        <p:txBody>
          <a:bodyPr/>
          <a:lstStyle/>
          <a:p>
            <a:pPr marL="514350" indent="-514350">
              <a:buFont typeface="Calibri" pitchFamily="34" charset="0"/>
              <a:buAutoNum type="arabicPeriod"/>
            </a:pPr>
            <a:r>
              <a:rPr lang="en-GB" altLang="en-US" dirty="0">
                <a:latin typeface="Arial" charset="0"/>
                <a:cs typeface="Arial" charset="0"/>
              </a:rPr>
              <a:t>Name three of our information assets</a:t>
            </a:r>
          </a:p>
          <a:p>
            <a:pPr marL="514350" indent="-514350">
              <a:buFont typeface="Calibri" pitchFamily="34" charset="0"/>
              <a:buAutoNum type="arabicPeriod"/>
            </a:pPr>
            <a:r>
              <a:rPr lang="en-GB" altLang="en-US" dirty="0">
                <a:latin typeface="Arial" charset="0"/>
                <a:cs typeface="Arial" charset="0"/>
              </a:rPr>
              <a:t>Name two groups who may try to gain unauthorised access to our information assets</a:t>
            </a:r>
          </a:p>
          <a:p>
            <a:pPr marL="514350" indent="-514350">
              <a:buFont typeface="Calibri" pitchFamily="34" charset="0"/>
              <a:buAutoNum type="arabicPeriod"/>
            </a:pPr>
            <a:r>
              <a:rPr lang="en-GB" altLang="en-US" dirty="0">
                <a:latin typeface="Arial" charset="0"/>
                <a:cs typeface="Arial" charset="0"/>
              </a:rPr>
              <a:t>Give two ways in which the organisation may be affected by an information security breach</a:t>
            </a:r>
          </a:p>
          <a:p>
            <a:pPr marL="514350" indent="-514350">
              <a:buFont typeface="Calibri" pitchFamily="34" charset="0"/>
              <a:buAutoNum type="arabicPeriod"/>
            </a:pPr>
            <a:r>
              <a:rPr lang="en-GB" altLang="en-US" dirty="0">
                <a:latin typeface="Arial" charset="0"/>
                <a:cs typeface="Arial" charset="0"/>
              </a:rPr>
              <a:t>What does “GDPR” stand for?</a:t>
            </a:r>
          </a:p>
          <a:p>
            <a:pPr marL="514350" indent="-514350">
              <a:buFont typeface="Calibri" pitchFamily="34" charset="0"/>
              <a:buAutoNum type="arabicPeriod"/>
            </a:pPr>
            <a:r>
              <a:rPr lang="en-GB" altLang="en-US" dirty="0">
                <a:latin typeface="Arial" charset="0"/>
                <a:cs typeface="Arial" charset="0"/>
              </a:rPr>
              <a:t>Give an example of a “strong password”</a:t>
            </a:r>
          </a:p>
          <a:p>
            <a:pPr marL="514350" indent="-514350">
              <a:buFont typeface="Calibri" pitchFamily="34" charset="0"/>
              <a:buAutoNum type="arabicPeriod"/>
            </a:pPr>
            <a:endParaRPr lang="en-GB" altLang="en-US" dirty="0"/>
          </a:p>
          <a:p>
            <a:pPr marL="514350" indent="-514350">
              <a:buFont typeface="Calibri" pitchFamily="34" charset="0"/>
              <a:buAutoNum type="arabicPeriod"/>
            </a:pPr>
            <a:endParaRPr lang="en-GB" altLang="en-US" dirty="0"/>
          </a:p>
          <a:p>
            <a:pPr marL="514350" indent="-514350">
              <a:buFont typeface="Calibri" pitchFamily="34" charset="0"/>
              <a:buAutoNum type="arabicPeriod"/>
            </a:pPr>
            <a:endParaRPr lang="en-GB" altLang="en-US" dirty="0"/>
          </a:p>
          <a:p>
            <a:pPr marL="514350" indent="-514350">
              <a:buFont typeface="Calibri" pitchFamily="34" charset="0"/>
              <a:buAutoNum type="arabicPeriod"/>
            </a:pPr>
            <a:endParaRPr lang="en-GB" altLang="en-US" dirty="0"/>
          </a:p>
          <a:p>
            <a:pPr marL="514350" indent="-514350">
              <a:buFont typeface="Calibri" pitchFamily="34" charset="0"/>
              <a:buAutoNum type="arabicPeriod"/>
            </a:pPr>
            <a:endParaRPr lang="en-GB" altLang="en-US"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68313" y="549275"/>
            <a:ext cx="8229600" cy="1143000"/>
          </a:xfrm>
        </p:spPr>
        <p:txBody>
          <a:bodyPr/>
          <a:lstStyle/>
          <a:p>
            <a:r>
              <a:rPr lang="en-GB" altLang="en-US"/>
              <a:t>Quiz cont.</a:t>
            </a:r>
          </a:p>
        </p:txBody>
      </p:sp>
      <p:sp>
        <p:nvSpPr>
          <p:cNvPr id="36867" name="Content Placeholder 2"/>
          <p:cNvSpPr>
            <a:spLocks noGrp="1"/>
          </p:cNvSpPr>
          <p:nvPr>
            <p:ph idx="1"/>
          </p:nvPr>
        </p:nvSpPr>
        <p:spPr/>
        <p:txBody>
          <a:bodyPr/>
          <a:lstStyle/>
          <a:p>
            <a:pPr marL="514350" indent="-514350">
              <a:buFont typeface="Calibri" pitchFamily="34" charset="0"/>
              <a:buAutoNum type="arabicPeriod" startAt="6"/>
            </a:pPr>
            <a:r>
              <a:rPr lang="en-GB" altLang="en-US" sz="2400" dirty="0">
                <a:latin typeface="Arial" charset="0"/>
                <a:cs typeface="Arial" charset="0"/>
              </a:rPr>
              <a:t>If you recognise a “Phishing” email what should you do with it?</a:t>
            </a:r>
          </a:p>
          <a:p>
            <a:pPr marL="514350" indent="-514350">
              <a:buFont typeface="Calibri" pitchFamily="34" charset="0"/>
              <a:buAutoNum type="arabicPeriod" startAt="6"/>
            </a:pPr>
            <a:r>
              <a:rPr lang="en-GB" altLang="en-US" sz="2400" dirty="0">
                <a:latin typeface="Arial" charset="0"/>
                <a:cs typeface="Arial" charset="0"/>
              </a:rPr>
              <a:t>If you find a USB memory stick in the car park what action should you take?</a:t>
            </a:r>
          </a:p>
          <a:p>
            <a:pPr marL="514350" indent="-514350">
              <a:buFont typeface="Calibri" pitchFamily="34" charset="0"/>
              <a:buAutoNum type="arabicPeriod" startAt="6"/>
            </a:pPr>
            <a:r>
              <a:rPr lang="en-GB" altLang="en-US" sz="2400" dirty="0">
                <a:latin typeface="Arial" charset="0"/>
                <a:cs typeface="Arial" charset="0"/>
              </a:rPr>
              <a:t>What are your responsibilities when you have a visitor?</a:t>
            </a:r>
          </a:p>
          <a:p>
            <a:pPr marL="514350" indent="-514350">
              <a:buFont typeface="Calibri" pitchFamily="34" charset="0"/>
              <a:buAutoNum type="arabicPeriod" startAt="6"/>
            </a:pPr>
            <a:r>
              <a:rPr lang="en-GB" altLang="en-US" sz="2400" dirty="0">
                <a:latin typeface="Arial" charset="0"/>
                <a:cs typeface="Arial" charset="0"/>
              </a:rPr>
              <a:t>Who would you report an information security incident to?</a:t>
            </a:r>
          </a:p>
          <a:p>
            <a:pPr marL="514350" indent="-514350">
              <a:buFont typeface="Calibri" pitchFamily="34" charset="0"/>
              <a:buAutoNum type="arabicPeriod" startAt="6"/>
            </a:pPr>
            <a:r>
              <a:rPr lang="en-GB" altLang="en-US" sz="2400" dirty="0">
                <a:latin typeface="Arial" charset="0"/>
                <a:cs typeface="Arial" charset="0"/>
              </a:rPr>
              <a:t>Whose responsibility is information security within our organisation?</a:t>
            </a:r>
          </a:p>
          <a:p>
            <a:pPr marL="514350" indent="-514350">
              <a:buFont typeface="Calibri" pitchFamily="34" charset="0"/>
              <a:buAutoNum type="arabicPeriod" startAt="6"/>
            </a:pPr>
            <a:endParaRPr lang="en-GB" altLang="en-US" dirty="0">
              <a:latin typeface="Arial" charset="0"/>
              <a:cs typeface="Arial" charset="0"/>
            </a:endParaRPr>
          </a:p>
          <a:p>
            <a:pPr marL="514350" indent="-514350">
              <a:buFont typeface="Calibri" pitchFamily="34" charset="0"/>
              <a:buAutoNum type="arabicPeriod" startAt="6"/>
            </a:pPr>
            <a:endParaRPr lang="en-GB" altLang="en-US" dirty="0"/>
          </a:p>
        </p:txBody>
      </p:sp>
      <p:pic>
        <p:nvPicPr>
          <p:cNvPr id="4" name="Picture 3"/>
          <p:cNvPicPr/>
          <p:nvPr/>
        </p:nvPicPr>
        <p:blipFill>
          <a:blip r:embed="rId3" cstate="print">
            <a:extLst>
              <a:ext uri="{28A0092B-C50C-407E-A947-70E740481C1C}">
                <a14:useLocalDpi xmlns:a14="http://schemas.microsoft.com/office/drawing/2010/main" val="0"/>
              </a:ext>
            </a:extLst>
          </a:blip>
          <a:stretch>
            <a:fillRect/>
          </a:stretch>
        </p:blipFill>
        <p:spPr>
          <a:xfrm>
            <a:off x="323528" y="6237312"/>
            <a:ext cx="1080120" cy="326708"/>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D4044C59A8CAE44B6D9ED6298F811F1" ma:contentTypeVersion="8" ma:contentTypeDescription="Create a new document." ma:contentTypeScope="" ma:versionID="ec6bb53279bf8bc3119fb97b1b2bb3a7">
  <xsd:schema xmlns:xsd="http://www.w3.org/2001/XMLSchema" xmlns:xs="http://www.w3.org/2001/XMLSchema" xmlns:p="http://schemas.microsoft.com/office/2006/metadata/properties" xmlns:ns2="519c89c0-4739-45b7-90b4-c645f8135810" xmlns:ns3="906258ce-5a0c-4f3f-a95b-99bb0331ce14" targetNamespace="http://schemas.microsoft.com/office/2006/metadata/properties" ma:root="true" ma:fieldsID="fe893e3c06a0f4627c087a58f9c38919" ns2:_="" ns3:_="">
    <xsd:import namespace="519c89c0-4739-45b7-90b4-c645f8135810"/>
    <xsd:import namespace="906258ce-5a0c-4f3f-a95b-99bb0331ce1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9c89c0-4739-45b7-90b4-c645f81358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6258ce-5a0c-4f3f-a95b-99bb0331ce1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6390D2D-4F8E-4EBB-BB9B-9913B80A0386}">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906258ce-5a0c-4f3f-a95b-99bb0331ce14"/>
    <ds:schemaRef ds:uri="519c89c0-4739-45b7-90b4-c645f8135810"/>
    <ds:schemaRef ds:uri="http://www.w3.org/XML/1998/namespace"/>
  </ds:schemaRefs>
</ds:datastoreItem>
</file>

<file path=customXml/itemProps2.xml><?xml version="1.0" encoding="utf-8"?>
<ds:datastoreItem xmlns:ds="http://schemas.openxmlformats.org/officeDocument/2006/customXml" ds:itemID="{A748720D-0F7E-43F9-B290-78F78614F3C9}">
  <ds:schemaRefs>
    <ds:schemaRef ds:uri="http://schemas.microsoft.com/sharepoint/v3/contenttype/forms"/>
  </ds:schemaRefs>
</ds:datastoreItem>
</file>

<file path=customXml/itemProps3.xml><?xml version="1.0" encoding="utf-8"?>
<ds:datastoreItem xmlns:ds="http://schemas.openxmlformats.org/officeDocument/2006/customXml" ds:itemID="{06FDDBED-0273-4C7C-8916-0E2EF82A00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9c89c0-4739-45b7-90b4-c645f8135810"/>
    <ds:schemaRef ds:uri="906258ce-5a0c-4f3f-a95b-99bb0331ce1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648</TotalTime>
  <Words>5340</Words>
  <Application>Microsoft Office PowerPoint</Application>
  <PresentationFormat>On-screen Show (4:3)</PresentationFormat>
  <Paragraphs>458</Paragraphs>
  <Slides>27</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Constantia</vt:lpstr>
      <vt:lpstr>Times New Roman</vt:lpstr>
      <vt:lpstr>Wingdings 2</vt:lpstr>
      <vt:lpstr>Flow</vt:lpstr>
      <vt:lpstr>PowerPoint Presentation</vt:lpstr>
      <vt:lpstr>Agenda</vt:lpstr>
      <vt:lpstr>Our Information Assets</vt:lpstr>
      <vt:lpstr>Who may be interested in our information assets?</vt:lpstr>
      <vt:lpstr>What would happen if…</vt:lpstr>
      <vt:lpstr>What the law says (UK)</vt:lpstr>
      <vt:lpstr>What the law says (EU)</vt:lpstr>
      <vt:lpstr>What the law says (USA)</vt:lpstr>
      <vt:lpstr>What the law says (other countries)</vt:lpstr>
      <vt:lpstr>How will we protect our assets?</vt:lpstr>
      <vt:lpstr>What part do I play?</vt:lpstr>
      <vt:lpstr>Physical Security</vt:lpstr>
      <vt:lpstr>Access and Passwords</vt:lpstr>
      <vt:lpstr>Email</vt:lpstr>
      <vt:lpstr>Phishing Emails</vt:lpstr>
      <vt:lpstr>Using the Internet</vt:lpstr>
      <vt:lpstr>Using cloud services</vt:lpstr>
      <vt:lpstr>Cloud Service Provider (CSP)</vt:lpstr>
      <vt:lpstr>Anti-Virus</vt:lpstr>
      <vt:lpstr>Mobile Devices</vt:lpstr>
      <vt:lpstr>Removable Media</vt:lpstr>
      <vt:lpstr>Information Disposal</vt:lpstr>
      <vt:lpstr>Security Incidents</vt:lpstr>
      <vt:lpstr>Summary</vt:lpstr>
      <vt:lpstr>Questions</vt:lpstr>
      <vt:lpstr>Quiz</vt:lpstr>
      <vt:lpstr>Quiz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CertiKit GDPR Toolkit Version 5</dc:title>
  <dc:creator>Copyright CertiKit</dc:creator>
  <cp:lastModifiedBy>Ken Holmes</cp:lastModifiedBy>
  <cp:revision>72</cp:revision>
  <dcterms:created xsi:type="dcterms:W3CDTF">2014-01-13T13:02:03Z</dcterms:created>
  <dcterms:modified xsi:type="dcterms:W3CDTF">2019-02-06T09:51:14Z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0x010100CD4044C59A8CAE44B6D9ED6298F811F1</vt:lpwstr>
  </property>
</Properties>
</file>