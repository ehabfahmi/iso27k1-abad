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2"/>
  </p:notesMasterIdLst>
  <p:sldIdLst>
    <p:sldId id="258" r:id="rId5"/>
    <p:sldId id="259" r:id="rId6"/>
    <p:sldId id="260" r:id="rId7"/>
    <p:sldId id="266" r:id="rId8"/>
    <p:sldId id="277" r:id="rId9"/>
    <p:sldId id="278" r:id="rId10"/>
    <p:sldId id="267" r:id="rId11"/>
    <p:sldId id="279" r:id="rId12"/>
    <p:sldId id="268" r:id="rId13"/>
    <p:sldId id="269" r:id="rId14"/>
    <p:sldId id="270" r:id="rId15"/>
    <p:sldId id="280" r:id="rId16"/>
    <p:sldId id="283" r:id="rId17"/>
    <p:sldId id="271" r:id="rId18"/>
    <p:sldId id="281" r:id="rId19"/>
    <p:sldId id="275" r:id="rId20"/>
    <p:sldId id="265" r:id="rId2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Constantia" pitchFamily="18" charset="0"/>
        <a:ea typeface="+mn-ea"/>
        <a:cs typeface="Arial" charset="0"/>
      </a:defRPr>
    </a:lvl1pPr>
    <a:lvl2pPr marL="457200" algn="l" rtl="0" fontAlgn="base">
      <a:spcBef>
        <a:spcPct val="0"/>
      </a:spcBef>
      <a:spcAft>
        <a:spcPct val="0"/>
      </a:spcAft>
      <a:defRPr kern="1200">
        <a:solidFill>
          <a:schemeClr val="tx1"/>
        </a:solidFill>
        <a:latin typeface="Constantia" pitchFamily="18" charset="0"/>
        <a:ea typeface="+mn-ea"/>
        <a:cs typeface="Arial" charset="0"/>
      </a:defRPr>
    </a:lvl2pPr>
    <a:lvl3pPr marL="914400" algn="l" rtl="0" fontAlgn="base">
      <a:spcBef>
        <a:spcPct val="0"/>
      </a:spcBef>
      <a:spcAft>
        <a:spcPct val="0"/>
      </a:spcAft>
      <a:defRPr kern="1200">
        <a:solidFill>
          <a:schemeClr val="tx1"/>
        </a:solidFill>
        <a:latin typeface="Constantia" pitchFamily="18" charset="0"/>
        <a:ea typeface="+mn-ea"/>
        <a:cs typeface="Arial" charset="0"/>
      </a:defRPr>
    </a:lvl3pPr>
    <a:lvl4pPr marL="1371600" algn="l" rtl="0" fontAlgn="base">
      <a:spcBef>
        <a:spcPct val="0"/>
      </a:spcBef>
      <a:spcAft>
        <a:spcPct val="0"/>
      </a:spcAft>
      <a:defRPr kern="1200">
        <a:solidFill>
          <a:schemeClr val="tx1"/>
        </a:solidFill>
        <a:latin typeface="Constantia" pitchFamily="18" charset="0"/>
        <a:ea typeface="+mn-ea"/>
        <a:cs typeface="Arial" charset="0"/>
      </a:defRPr>
    </a:lvl4pPr>
    <a:lvl5pPr marL="1828800" algn="l" rtl="0" fontAlgn="base">
      <a:spcBef>
        <a:spcPct val="0"/>
      </a:spcBef>
      <a:spcAft>
        <a:spcPct val="0"/>
      </a:spcAft>
      <a:defRPr kern="1200">
        <a:solidFill>
          <a:schemeClr val="tx1"/>
        </a:solidFill>
        <a:latin typeface="Constantia" pitchFamily="18" charset="0"/>
        <a:ea typeface="+mn-ea"/>
        <a:cs typeface="Arial" charset="0"/>
      </a:defRPr>
    </a:lvl5pPr>
    <a:lvl6pPr marL="2286000" algn="l" defTabSz="914400" rtl="0" eaLnBrk="1" latinLnBrk="0" hangingPunct="1">
      <a:defRPr kern="1200">
        <a:solidFill>
          <a:schemeClr val="tx1"/>
        </a:solidFill>
        <a:latin typeface="Constantia" pitchFamily="18" charset="0"/>
        <a:ea typeface="+mn-ea"/>
        <a:cs typeface="Arial" charset="0"/>
      </a:defRPr>
    </a:lvl6pPr>
    <a:lvl7pPr marL="2743200" algn="l" defTabSz="914400" rtl="0" eaLnBrk="1" latinLnBrk="0" hangingPunct="1">
      <a:defRPr kern="1200">
        <a:solidFill>
          <a:schemeClr val="tx1"/>
        </a:solidFill>
        <a:latin typeface="Constantia" pitchFamily="18" charset="0"/>
        <a:ea typeface="+mn-ea"/>
        <a:cs typeface="Arial" charset="0"/>
      </a:defRPr>
    </a:lvl7pPr>
    <a:lvl8pPr marL="3200400" algn="l" defTabSz="914400" rtl="0" eaLnBrk="1" latinLnBrk="0" hangingPunct="1">
      <a:defRPr kern="1200">
        <a:solidFill>
          <a:schemeClr val="tx1"/>
        </a:solidFill>
        <a:latin typeface="Constantia" pitchFamily="18" charset="0"/>
        <a:ea typeface="+mn-ea"/>
        <a:cs typeface="Arial" charset="0"/>
      </a:defRPr>
    </a:lvl8pPr>
    <a:lvl9pPr marL="3657600" algn="l" defTabSz="914400" rtl="0" eaLnBrk="1" latinLnBrk="0" hangingPunct="1">
      <a:defRPr kern="1200">
        <a:solidFill>
          <a:schemeClr val="tx1"/>
        </a:solidFill>
        <a:latin typeface="Constantia" pitchFamily="18"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59181" autoAdjust="0"/>
  </p:normalViewPr>
  <p:slideViewPr>
    <p:cSldViewPr>
      <p:cViewPr varScale="1">
        <p:scale>
          <a:sx n="67" d="100"/>
          <a:sy n="67" d="100"/>
        </p:scale>
        <p:origin x="2874" y="72"/>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n Holmes" userId="3893c208-ca93-41ab-a7dd-d7881cdf5990" providerId="ADAL" clId="{53F4AE05-B648-4B62-BBE4-D8512BE16557}"/>
    <pc:docChg chg="modSld">
      <pc:chgData name="Ken Holmes" userId="3893c208-ca93-41ab-a7dd-d7881cdf5990" providerId="ADAL" clId="{53F4AE05-B648-4B62-BBE4-D8512BE16557}" dt="2019-02-06T09:54:35.220" v="37" actId="20577"/>
      <pc:docMkLst>
        <pc:docMk/>
      </pc:docMkLst>
      <pc:sldChg chg="modNotesTx">
        <pc:chgData name="Ken Holmes" userId="3893c208-ca93-41ab-a7dd-d7881cdf5990" providerId="ADAL" clId="{53F4AE05-B648-4B62-BBE4-D8512BE16557}" dt="2019-02-06T09:52:48.011" v="3" actId="20577"/>
        <pc:sldMkLst>
          <pc:docMk/>
          <pc:sldMk cId="0" sldId="258"/>
        </pc:sldMkLst>
      </pc:sldChg>
      <pc:sldChg chg="modSp modNotesTx">
        <pc:chgData name="Ken Holmes" userId="3893c208-ca93-41ab-a7dd-d7881cdf5990" providerId="ADAL" clId="{53F4AE05-B648-4B62-BBE4-D8512BE16557}" dt="2019-02-06T09:53:32.410" v="15" actId="20577"/>
        <pc:sldMkLst>
          <pc:docMk/>
          <pc:sldMk cId="557797270" sldId="260"/>
        </pc:sldMkLst>
        <pc:spChg chg="mod">
          <ac:chgData name="Ken Holmes" userId="3893c208-ca93-41ab-a7dd-d7881cdf5990" providerId="ADAL" clId="{53F4AE05-B648-4B62-BBE4-D8512BE16557}" dt="2019-02-06T09:53:11.624" v="12" actId="20577"/>
          <ac:spMkLst>
            <pc:docMk/>
            <pc:sldMk cId="557797270" sldId="260"/>
            <ac:spMk id="3" creationId="{00000000-0000-0000-0000-000000000000}"/>
          </ac:spMkLst>
        </pc:spChg>
      </pc:sldChg>
      <pc:sldChg chg="modSp modNotesTx">
        <pc:chgData name="Ken Holmes" userId="3893c208-ca93-41ab-a7dd-d7881cdf5990" providerId="ADAL" clId="{53F4AE05-B648-4B62-BBE4-D8512BE16557}" dt="2019-02-06T09:54:35.220" v="37" actId="20577"/>
        <pc:sldMkLst>
          <pc:docMk/>
          <pc:sldMk cId="318037015" sldId="275"/>
        </pc:sldMkLst>
        <pc:spChg chg="mod">
          <ac:chgData name="Ken Holmes" userId="3893c208-ca93-41ab-a7dd-d7881cdf5990" providerId="ADAL" clId="{53F4AE05-B648-4B62-BBE4-D8512BE16557}" dt="2019-02-06T09:54:21.992" v="35" actId="5793"/>
          <ac:spMkLst>
            <pc:docMk/>
            <pc:sldMk cId="318037015" sldId="275"/>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B6EC35-1B46-4A03-AE1F-602E2CB1D229}" type="datetimeFigureOut">
              <a:rPr lang="en-GB" smtClean="0"/>
              <a:t>06/02/2019</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7CB91A-E68A-4013-89AA-BBD0967A2B48}" type="slidenum">
              <a:rPr lang="en-GB" smtClean="0"/>
              <a:t>‹#›</a:t>
            </a:fld>
            <a:endParaRPr lang="en-GB"/>
          </a:p>
        </p:txBody>
      </p:sp>
    </p:spTree>
    <p:extLst>
      <p:ext uri="{BB962C8B-B14F-4D97-AF65-F5344CB8AC3E}">
        <p14:creationId xmlns:p14="http://schemas.microsoft.com/office/powerpoint/2010/main" val="32206756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Notes to Presenter:</a:t>
            </a:r>
          </a:p>
          <a:p>
            <a:endParaRPr lang="en-GB" dirty="0"/>
          </a:p>
          <a:p>
            <a:r>
              <a:rPr lang="en-GB" dirty="0"/>
              <a:t>This presentation is intended to be used for general awareness training for the GDPR</a:t>
            </a:r>
            <a:r>
              <a:rPr lang="en-GB" baseline="0" dirty="0"/>
              <a:t>, including the key terms, what has been put in place by the compliance team, and the main areas in which every employee can help to maintain compliance.</a:t>
            </a:r>
          </a:p>
          <a:p>
            <a:endParaRPr lang="en-GB" baseline="0" dirty="0"/>
          </a:p>
          <a:p>
            <a:r>
              <a:rPr lang="en-GB" sz="1400" b="1" kern="1200" dirty="0">
                <a:solidFill>
                  <a:schemeClr val="tx1"/>
                </a:solidFill>
                <a:effectLst/>
                <a:latin typeface="+mn-lt"/>
                <a:ea typeface="+mn-ea"/>
                <a:cs typeface="+mn-cs"/>
              </a:rPr>
              <a:t>Implementation Guidance</a:t>
            </a:r>
            <a:r>
              <a:rPr lang="en-GB" sz="1400" b="0" kern="1200" dirty="0">
                <a:solidFill>
                  <a:schemeClr val="tx1"/>
                </a:solidFill>
                <a:effectLst/>
                <a:latin typeface="+mn-lt"/>
                <a:ea typeface="+mn-ea"/>
                <a:cs typeface="+mn-cs"/>
              </a:rPr>
              <a:t>:</a:t>
            </a:r>
            <a:r>
              <a:rPr lang="en-GB" sz="1200" kern="1200" dirty="0">
                <a:solidFill>
                  <a:schemeClr val="tx1"/>
                </a:solidFill>
                <a:effectLst/>
                <a:latin typeface="+mn-lt"/>
                <a:ea typeface="+mn-ea"/>
                <a:cs typeface="+mn-cs"/>
              </a:rPr>
              <a:t> </a:t>
            </a:r>
          </a:p>
          <a:p>
            <a:r>
              <a:rPr lang="en-GB" sz="1200" b="1"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Purpose of this document</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This presentation is primarily intended to make employees, contractors, and others that handle personal data, aware of their responsibilities under the GDPR.</a:t>
            </a:r>
          </a:p>
          <a:p>
            <a:r>
              <a:rPr lang="en-GB" sz="1200" kern="1200" dirty="0">
                <a:solidFill>
                  <a:schemeClr val="tx1"/>
                </a:solidFill>
                <a:effectLst/>
                <a:latin typeface="+mn-lt"/>
                <a:ea typeface="+mn-ea"/>
                <a:cs typeface="+mn-cs"/>
              </a:rPr>
              <a:t> </a:t>
            </a:r>
          </a:p>
          <a:p>
            <a:r>
              <a:rPr lang="en-GB" sz="1200" b="1"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Areas of the GDPR addressed</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All areas of the GDPR are addressed by this document.</a:t>
            </a:r>
          </a:p>
          <a:p>
            <a:r>
              <a:rPr lang="en-GB" sz="1200" kern="1200" dirty="0">
                <a:solidFill>
                  <a:schemeClr val="tx1"/>
                </a:solidFill>
                <a:effectLst/>
                <a:latin typeface="+mn-lt"/>
                <a:ea typeface="+mn-ea"/>
                <a:cs typeface="+mn-cs"/>
              </a:rPr>
              <a:t> </a:t>
            </a:r>
          </a:p>
          <a:p>
            <a:endParaRPr lang="en-GB" sz="1200" b="1"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General Guidance</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a:t>This is a general overview of the main points of the GDPR and is intended for people who are actively working with personal data as part of their job roles. You may decide to tailor the presentation to specific audiences e.g. business departments. Tailoring may involve adding additional slides, taking some out and changing the contents of some of them.</a:t>
            </a:r>
          </a:p>
          <a:p>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Review Frequency</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We would recommend that this document is reviewed after each presentation to ensure it is covering the required areas, based on feedback from each time it is delivered.</a:t>
            </a:r>
          </a:p>
          <a:p>
            <a:r>
              <a:rPr lang="en-GB" sz="1200" b="1"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Toolkit Version Number</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GDPR Toolkit Version 5</a:t>
            </a:r>
          </a:p>
          <a:p>
            <a:r>
              <a:rPr lang="en-GB" sz="1200" b="1"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Copyright notice</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Except for any third party works included in this document, as identified in this document, this document has been authored by CertiKit, and is © copyright CertiKit except as stated below.</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CertiKit is a company registered in England and Wales with company number 6432088.</a:t>
            </a:r>
          </a:p>
          <a:p>
            <a:r>
              <a:rPr lang="en-GB" sz="1200" b="1"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Licence terms</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This document is licensed on and subject to the standard licence terms of CertiKit, available on request, or by download from our website.  All other rights are reserved.  Unless you have purchased this product you only have an evaluation licence.  If this product was purchased, a full licence is granted to the person identified as the licensee in the relevant purchase order.  The standard licence terms include special terms relating to any third party copyright included in this document.</a:t>
            </a:r>
          </a:p>
          <a:p>
            <a:r>
              <a:rPr lang="en-GB" sz="1200" kern="1200" dirty="0">
                <a:solidFill>
                  <a:schemeClr val="tx1"/>
                </a:solidFill>
                <a:effectLst/>
                <a:latin typeface="+mn-lt"/>
                <a:ea typeface="+mn-ea"/>
                <a:cs typeface="+mn-cs"/>
              </a:rPr>
              <a:t> </a:t>
            </a:r>
          </a:p>
          <a:p>
            <a:r>
              <a:rPr lang="en-GB" sz="1200" b="1"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Disclaimer</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Please Note: </a:t>
            </a:r>
            <a:r>
              <a:rPr lang="en-GB" sz="1200" i="1" kern="1200" dirty="0">
                <a:solidFill>
                  <a:schemeClr val="tx1"/>
                </a:solidFill>
                <a:effectLst/>
                <a:latin typeface="+mn-lt"/>
                <a:ea typeface="+mn-ea"/>
                <a:cs typeface="+mn-cs"/>
              </a:rPr>
              <a:t>Your use of and reliance on this document template is at your sole risk. Document templates are intended to be used as a starting point only from which you will create your own document and to which you will apply all reasonable quality checks before use.  Therefore please note that it is your responsibility to ensure that the content of any document you create that is based on our templates is correct and appropriate for your needs and complies with relevant laws in your country. You should take all reasonable and proper legal and other professional advice before using this document. CertiKit makes no claims, promises, or guarantees about the accuracy, completeness, or adequacy of our document templates, assumes no duty of care to any person with respect its document templates or their contents, and expressly excludes and disclaims liability for any cost, expense, loss or damage suffered or incurred in reliance on our document templates, or in expectation of our document templates meeting your needs, including (without limitation) as a result of misstatements, errors and omissions in their contents.</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 </a:t>
            </a:r>
          </a:p>
          <a:p>
            <a:endParaRPr lang="en-GB" dirty="0"/>
          </a:p>
        </p:txBody>
      </p:sp>
      <p:sp>
        <p:nvSpPr>
          <p:cNvPr id="4" name="Slide Number Placeholder 3"/>
          <p:cNvSpPr>
            <a:spLocks noGrp="1"/>
          </p:cNvSpPr>
          <p:nvPr>
            <p:ph type="sldNum" sz="quarter" idx="10"/>
          </p:nvPr>
        </p:nvSpPr>
        <p:spPr/>
        <p:txBody>
          <a:bodyPr/>
          <a:lstStyle/>
          <a:p>
            <a:fld id="{3F7CB91A-E68A-4013-89AA-BBD0967A2B48}" type="slidenum">
              <a:rPr lang="en-GB" smtClean="0"/>
              <a:t>1</a:t>
            </a:fld>
            <a:endParaRPr lang="en-GB"/>
          </a:p>
        </p:txBody>
      </p:sp>
    </p:spTree>
    <p:extLst>
      <p:ext uri="{BB962C8B-B14F-4D97-AF65-F5344CB8AC3E}">
        <p14:creationId xmlns:p14="http://schemas.microsoft.com/office/powerpoint/2010/main" val="13216475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r>
              <a:rPr lang="en-GB" dirty="0"/>
              <a:t>The following areas are going to be covered today. Please bear in mind that the GDPR is a lengthy document so we are really only covering a selection of the main points that are particularly relevant in your day to day use of personal data. </a:t>
            </a:r>
          </a:p>
        </p:txBody>
      </p:sp>
      <p:sp>
        <p:nvSpPr>
          <p:cNvPr id="4" name="Slide Number Placeholder 3"/>
          <p:cNvSpPr>
            <a:spLocks noGrp="1"/>
          </p:cNvSpPr>
          <p:nvPr>
            <p:ph type="sldNum" sz="quarter" idx="10"/>
          </p:nvPr>
        </p:nvSpPr>
        <p:spPr/>
        <p:txBody>
          <a:bodyPr/>
          <a:lstStyle/>
          <a:p>
            <a:fld id="{3F7CB91A-E68A-4013-89AA-BBD0967A2B48}" type="slidenum">
              <a:rPr lang="en-GB" smtClean="0"/>
              <a:t>2</a:t>
            </a:fld>
            <a:endParaRPr lang="en-GB"/>
          </a:p>
        </p:txBody>
      </p:sp>
    </p:spTree>
    <p:extLst>
      <p:ext uri="{BB962C8B-B14F-4D97-AF65-F5344CB8AC3E}">
        <p14:creationId xmlns:p14="http://schemas.microsoft.com/office/powerpoint/2010/main" val="10978410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r>
              <a:rPr lang="en-GB" dirty="0"/>
              <a:t>The GDPR is possibly one of the most significant pieces of legislation to come out of the European Commission in many years and was subject to a considerable amount of debate prior to its publication in 2016. It is different to the previous Directive in that it is a Regulation. This means that it is law in all of the member states of the EU at the same time. This contrasts with the previous Directive which required individual member states to create their own laws to implement it, leading to some variation across members. The objective of the GDPR is not only to protect EU citizens’ personal data but also to smooth the flow of data between countries, so aiding commerce.</a:t>
            </a:r>
          </a:p>
          <a:p>
            <a:endParaRPr lang="en-GB" dirty="0"/>
          </a:p>
          <a:p>
            <a:r>
              <a:rPr lang="en-GB" dirty="0"/>
              <a:t>We must be compliant with the GDPR if we collect and process the personal data of EU citizens, whether or not our organisation is based within the EU. A major change to previous legislation is the requirement to notify a supervisory authority of a personal data breach where there is a risk to the rights and freedoms of data subjects. Note that this may not apply to all such breaches and we need to be clear about when we must notify and when we are not compelled to.</a:t>
            </a:r>
          </a:p>
          <a:p>
            <a:endParaRPr lang="en-GB" dirty="0"/>
          </a:p>
          <a:p>
            <a:r>
              <a:rPr lang="en-GB" dirty="0"/>
              <a:t>Fines for non-compliance are increased to a maximum of 4% of global turnover. Actual penalties will depend on a number of factors including the cause and size of the breach, the controls in place and the degree of co-operation with the supervisory authority.</a:t>
            </a:r>
          </a:p>
          <a:p>
            <a:endParaRPr lang="en-GB" dirty="0"/>
          </a:p>
          <a:p>
            <a:r>
              <a:rPr lang="en-GB" dirty="0"/>
              <a:t>Of the 99 articles of the GDPR, around two thirds are concerned with higher-level issues such as the setting up and operation of  supervisory authorities, certification schemes and relationship with existing EU law. So we only really need to concern ourselves with the remaining third of the articles.</a:t>
            </a:r>
          </a:p>
        </p:txBody>
      </p:sp>
      <p:sp>
        <p:nvSpPr>
          <p:cNvPr id="4" name="Slide Number Placeholder 3"/>
          <p:cNvSpPr>
            <a:spLocks noGrp="1"/>
          </p:cNvSpPr>
          <p:nvPr>
            <p:ph type="sldNum" sz="quarter" idx="10"/>
          </p:nvPr>
        </p:nvSpPr>
        <p:spPr/>
        <p:txBody>
          <a:bodyPr/>
          <a:lstStyle/>
          <a:p>
            <a:fld id="{3F7CB91A-E68A-4013-89AA-BBD0967A2B48}" type="slidenum">
              <a:rPr lang="en-GB" smtClean="0"/>
              <a:t>3</a:t>
            </a:fld>
            <a:endParaRPr lang="en-GB"/>
          </a:p>
        </p:txBody>
      </p:sp>
    </p:spTree>
    <p:extLst>
      <p:ext uri="{BB962C8B-B14F-4D97-AF65-F5344CB8AC3E}">
        <p14:creationId xmlns:p14="http://schemas.microsoft.com/office/powerpoint/2010/main" val="22979341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r>
              <a:rPr lang="en-GB" dirty="0"/>
              <a:t>A fundamental question that will underpin our work on the GDPR is “what exactly is personal data?”. Basically we’re talking about data about </a:t>
            </a:r>
            <a:r>
              <a:rPr lang="en-GB" b="1" dirty="0"/>
              <a:t>people; </a:t>
            </a:r>
            <a:r>
              <a:rPr lang="en-GB" b="0" dirty="0"/>
              <a:t>not corporations or things, and they have to be living. The principle of personal data is that it is owned by the person it refers to and, as we will see later, they have rights over it.</a:t>
            </a:r>
          </a:p>
          <a:p>
            <a:endParaRPr lang="en-GB" b="0" dirty="0"/>
          </a:p>
          <a:p>
            <a:r>
              <a:rPr lang="en-GB" b="0" dirty="0"/>
              <a:t>Discuss with the audience the types of information that your organisation processes that will be considered to be personal data.</a:t>
            </a:r>
          </a:p>
        </p:txBody>
      </p:sp>
      <p:sp>
        <p:nvSpPr>
          <p:cNvPr id="4" name="Slide Number Placeholder 3"/>
          <p:cNvSpPr>
            <a:spLocks noGrp="1"/>
          </p:cNvSpPr>
          <p:nvPr>
            <p:ph type="sldNum" sz="quarter" idx="10"/>
          </p:nvPr>
        </p:nvSpPr>
        <p:spPr/>
        <p:txBody>
          <a:bodyPr/>
          <a:lstStyle/>
          <a:p>
            <a:fld id="{3F7CB91A-E68A-4013-89AA-BBD0967A2B48}" type="slidenum">
              <a:rPr lang="en-GB" smtClean="0"/>
              <a:t>4</a:t>
            </a:fld>
            <a:endParaRPr lang="en-GB"/>
          </a:p>
        </p:txBody>
      </p:sp>
    </p:spTree>
    <p:extLst>
      <p:ext uri="{BB962C8B-B14F-4D97-AF65-F5344CB8AC3E}">
        <p14:creationId xmlns:p14="http://schemas.microsoft.com/office/powerpoint/2010/main" val="16605162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r>
              <a:rPr lang="en-GB" dirty="0"/>
              <a:t>After discussing the types of information that your organisation processes that would be considered to be personal data, see how your list compares to these examples. This will depend on your industry and a large number of other factors. </a:t>
            </a:r>
          </a:p>
        </p:txBody>
      </p:sp>
      <p:sp>
        <p:nvSpPr>
          <p:cNvPr id="4" name="Slide Number Placeholder 3"/>
          <p:cNvSpPr>
            <a:spLocks noGrp="1"/>
          </p:cNvSpPr>
          <p:nvPr>
            <p:ph type="sldNum" sz="quarter" idx="10"/>
          </p:nvPr>
        </p:nvSpPr>
        <p:spPr/>
        <p:txBody>
          <a:bodyPr/>
          <a:lstStyle/>
          <a:p>
            <a:fld id="{3F7CB91A-E68A-4013-89AA-BBD0967A2B48}" type="slidenum">
              <a:rPr lang="en-GB" smtClean="0"/>
              <a:t>5</a:t>
            </a:fld>
            <a:endParaRPr lang="en-GB"/>
          </a:p>
        </p:txBody>
      </p:sp>
    </p:spTree>
    <p:extLst>
      <p:ext uri="{BB962C8B-B14F-4D97-AF65-F5344CB8AC3E}">
        <p14:creationId xmlns:p14="http://schemas.microsoft.com/office/powerpoint/2010/main" val="25806429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r>
              <a:rPr lang="en-GB" dirty="0"/>
              <a:t>Some types of personal data are considered by the GDPR to be special category data which requires a higher level of protection. These types are listed here. Discuss which of these are processed within your organisation and why the GDPR has marked these as being special. What could be the effect on the data subject if this information were to be made public or used by someone else?</a:t>
            </a:r>
          </a:p>
        </p:txBody>
      </p:sp>
      <p:sp>
        <p:nvSpPr>
          <p:cNvPr id="4" name="Slide Number Placeholder 3"/>
          <p:cNvSpPr>
            <a:spLocks noGrp="1"/>
          </p:cNvSpPr>
          <p:nvPr>
            <p:ph type="sldNum" sz="quarter" idx="10"/>
          </p:nvPr>
        </p:nvSpPr>
        <p:spPr/>
        <p:txBody>
          <a:bodyPr/>
          <a:lstStyle/>
          <a:p>
            <a:fld id="{3F7CB91A-E68A-4013-89AA-BBD0967A2B48}" type="slidenum">
              <a:rPr lang="en-GB" smtClean="0"/>
              <a:t>6</a:t>
            </a:fld>
            <a:endParaRPr lang="en-GB"/>
          </a:p>
        </p:txBody>
      </p:sp>
    </p:spTree>
    <p:extLst>
      <p:ext uri="{BB962C8B-B14F-4D97-AF65-F5344CB8AC3E}">
        <p14:creationId xmlns:p14="http://schemas.microsoft.com/office/powerpoint/2010/main" val="19637647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r>
              <a:rPr lang="en-GB" dirty="0"/>
              <a:t>If we store personal data and do anything with it, we are processing it. It has to be in some form of filing system or organised in some way, and there are various exceptions to rule out individuals such as a householder employing a nanny.</a:t>
            </a:r>
          </a:p>
        </p:txBody>
      </p:sp>
      <p:sp>
        <p:nvSpPr>
          <p:cNvPr id="4" name="Slide Number Placeholder 3"/>
          <p:cNvSpPr>
            <a:spLocks noGrp="1"/>
          </p:cNvSpPr>
          <p:nvPr>
            <p:ph type="sldNum" sz="quarter" idx="10"/>
          </p:nvPr>
        </p:nvSpPr>
        <p:spPr/>
        <p:txBody>
          <a:bodyPr/>
          <a:lstStyle/>
          <a:p>
            <a:fld id="{3F7CB91A-E68A-4013-89AA-BBD0967A2B48}" type="slidenum">
              <a:rPr lang="en-GB" smtClean="0"/>
              <a:t>7</a:t>
            </a:fld>
            <a:endParaRPr lang="en-GB"/>
          </a:p>
        </p:txBody>
      </p:sp>
    </p:spTree>
    <p:extLst>
      <p:ext uri="{BB962C8B-B14F-4D97-AF65-F5344CB8AC3E}">
        <p14:creationId xmlns:p14="http://schemas.microsoft.com/office/powerpoint/2010/main" val="7590971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r>
              <a:rPr lang="en-GB" dirty="0"/>
              <a:t>Discuss the activities that your organisation performs that would be considered to be processing under the GDPR. If you have a list from your own organisation, you may like to use it here.</a:t>
            </a:r>
          </a:p>
        </p:txBody>
      </p:sp>
      <p:sp>
        <p:nvSpPr>
          <p:cNvPr id="4" name="Slide Number Placeholder 3"/>
          <p:cNvSpPr>
            <a:spLocks noGrp="1"/>
          </p:cNvSpPr>
          <p:nvPr>
            <p:ph type="sldNum" sz="quarter" idx="10"/>
          </p:nvPr>
        </p:nvSpPr>
        <p:spPr/>
        <p:txBody>
          <a:bodyPr/>
          <a:lstStyle/>
          <a:p>
            <a:fld id="{3F7CB91A-E68A-4013-89AA-BBD0967A2B48}" type="slidenum">
              <a:rPr lang="en-GB" smtClean="0"/>
              <a:t>8</a:t>
            </a:fld>
            <a:endParaRPr lang="en-GB"/>
          </a:p>
        </p:txBody>
      </p:sp>
    </p:spTree>
    <p:extLst>
      <p:ext uri="{BB962C8B-B14F-4D97-AF65-F5344CB8AC3E}">
        <p14:creationId xmlns:p14="http://schemas.microsoft.com/office/powerpoint/2010/main" val="19572393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r>
              <a:rPr lang="en-GB" dirty="0"/>
              <a:t>We are a controller if we decide what personal data to collect and what we are going to do with it, even if we actually get another party to physically do the processing. If we co-operate with another party in collecting the data and deciding what to do with it, we may be a Joint Controller.</a:t>
            </a:r>
          </a:p>
          <a:p>
            <a:endParaRPr lang="en-GB" dirty="0"/>
          </a:p>
          <a:p>
            <a:r>
              <a:rPr lang="en-GB" dirty="0"/>
              <a:t>Discuss in which areas your organisation will be considered to be a controller.</a:t>
            </a:r>
          </a:p>
        </p:txBody>
      </p:sp>
      <p:sp>
        <p:nvSpPr>
          <p:cNvPr id="4" name="Slide Number Placeholder 3"/>
          <p:cNvSpPr>
            <a:spLocks noGrp="1"/>
          </p:cNvSpPr>
          <p:nvPr>
            <p:ph type="sldNum" sz="quarter" idx="10"/>
          </p:nvPr>
        </p:nvSpPr>
        <p:spPr/>
        <p:txBody>
          <a:bodyPr/>
          <a:lstStyle/>
          <a:p>
            <a:fld id="{3F7CB91A-E68A-4013-89AA-BBD0967A2B48}" type="slidenum">
              <a:rPr lang="en-GB" smtClean="0"/>
              <a:t>9</a:t>
            </a:fld>
            <a:endParaRPr lang="en-GB"/>
          </a:p>
        </p:txBody>
      </p:sp>
    </p:spTree>
    <p:extLst>
      <p:ext uri="{BB962C8B-B14F-4D97-AF65-F5344CB8AC3E}">
        <p14:creationId xmlns:p14="http://schemas.microsoft.com/office/powerpoint/2010/main" val="33202333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r>
              <a:rPr lang="en-GB" dirty="0"/>
              <a:t>A processor performs a role under the direction of a controller and can only do what the controller dictates. An example would be a cloud service provider who provides the facilities for an organisation to collect data from their customers; the organisation is the controller and the cloud service provider is the processor.</a:t>
            </a:r>
          </a:p>
          <a:p>
            <a:endParaRPr lang="en-GB" dirty="0"/>
          </a:p>
          <a:p>
            <a:r>
              <a:rPr lang="en-GB" dirty="0"/>
              <a:t>Discuss in which areas your organisation may be considered to be a processor.</a:t>
            </a:r>
          </a:p>
        </p:txBody>
      </p:sp>
      <p:sp>
        <p:nvSpPr>
          <p:cNvPr id="4" name="Slide Number Placeholder 3"/>
          <p:cNvSpPr>
            <a:spLocks noGrp="1"/>
          </p:cNvSpPr>
          <p:nvPr>
            <p:ph type="sldNum" sz="quarter" idx="10"/>
          </p:nvPr>
        </p:nvSpPr>
        <p:spPr/>
        <p:txBody>
          <a:bodyPr/>
          <a:lstStyle/>
          <a:p>
            <a:fld id="{3F7CB91A-E68A-4013-89AA-BBD0967A2B48}" type="slidenum">
              <a:rPr lang="en-GB" smtClean="0"/>
              <a:t>10</a:t>
            </a:fld>
            <a:endParaRPr lang="en-GB"/>
          </a:p>
        </p:txBody>
      </p:sp>
    </p:spTree>
    <p:extLst>
      <p:ext uri="{BB962C8B-B14F-4D97-AF65-F5344CB8AC3E}">
        <p14:creationId xmlns:p14="http://schemas.microsoft.com/office/powerpoint/2010/main" val="18483186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r>
              <a:rPr lang="en-GB" dirty="0"/>
              <a:t>When collecting and processing personal data we must abide by the six fundamental privacy principles shown on the slide:</a:t>
            </a:r>
          </a:p>
          <a:p>
            <a:endParaRPr lang="en-GB" dirty="0"/>
          </a:p>
          <a:p>
            <a:pPr marL="228600" indent="-228600">
              <a:buAutoNum type="arabicPeriod"/>
            </a:pPr>
            <a:r>
              <a:rPr lang="en-GB" dirty="0"/>
              <a:t>We must have a lawful reason for collecting the personal data and must do it in a fair and transparent way</a:t>
            </a:r>
          </a:p>
          <a:p>
            <a:pPr marL="228600" indent="-228600">
              <a:buAutoNum type="arabicPeriod"/>
            </a:pPr>
            <a:r>
              <a:rPr lang="en-GB" dirty="0"/>
              <a:t>We must only use the data for the reason we collected it</a:t>
            </a:r>
          </a:p>
          <a:p>
            <a:pPr marL="228600" indent="-228600">
              <a:buAutoNum type="arabicPeriod"/>
            </a:pPr>
            <a:r>
              <a:rPr lang="en-GB" dirty="0"/>
              <a:t>We mustn’t collect any more data than we need</a:t>
            </a:r>
          </a:p>
          <a:p>
            <a:pPr marL="228600" indent="-228600">
              <a:buAutoNum type="arabicPeriod"/>
            </a:pPr>
            <a:r>
              <a:rPr lang="en-GB" dirty="0"/>
              <a:t>It has to be accurate</a:t>
            </a:r>
          </a:p>
          <a:p>
            <a:pPr marL="228600" indent="-228600">
              <a:buAutoNum type="arabicPeriod"/>
            </a:pPr>
            <a:r>
              <a:rPr lang="en-GB" dirty="0"/>
              <a:t>We can’t keep it any longer than we need it for</a:t>
            </a:r>
          </a:p>
          <a:p>
            <a:pPr marL="228600" indent="-228600">
              <a:buAutoNum type="arabicPeriod"/>
            </a:pPr>
            <a:r>
              <a:rPr lang="en-GB" dirty="0"/>
              <a:t>We must protect the personal data</a:t>
            </a:r>
          </a:p>
          <a:p>
            <a:pPr marL="228600" indent="-228600">
              <a:buAutoNum type="arabicPeriod"/>
            </a:pPr>
            <a:endParaRPr lang="en-GB" dirty="0"/>
          </a:p>
          <a:p>
            <a:pPr marL="0" indent="0">
              <a:buNone/>
            </a:pPr>
            <a:r>
              <a:rPr lang="en-GB" dirty="0"/>
              <a:t>The accountability principle maintains that we are responsible for making sure that 1-6 happen and being able to prove it.</a:t>
            </a:r>
          </a:p>
          <a:p>
            <a:pPr marL="0" indent="0">
              <a:buNone/>
            </a:pPr>
            <a:endParaRPr lang="en-GB" dirty="0"/>
          </a:p>
          <a:p>
            <a:pPr marL="0" indent="0">
              <a:buNone/>
            </a:pPr>
            <a:r>
              <a:rPr lang="en-GB" dirty="0"/>
              <a:t>Make the point that, despite the complexity of the GDPR, if we follow these principles in everything we do with personal data, we won’t go far wrong in complying.</a:t>
            </a:r>
          </a:p>
          <a:p>
            <a:pPr marL="228600" indent="-228600">
              <a:buAutoNum type="arabicPeriod"/>
            </a:pPr>
            <a:endParaRPr lang="en-GB" dirty="0"/>
          </a:p>
        </p:txBody>
      </p:sp>
      <p:sp>
        <p:nvSpPr>
          <p:cNvPr id="4" name="Slide Number Placeholder 3"/>
          <p:cNvSpPr>
            <a:spLocks noGrp="1"/>
          </p:cNvSpPr>
          <p:nvPr>
            <p:ph type="sldNum" sz="quarter" idx="10"/>
          </p:nvPr>
        </p:nvSpPr>
        <p:spPr/>
        <p:txBody>
          <a:bodyPr/>
          <a:lstStyle/>
          <a:p>
            <a:fld id="{3F7CB91A-E68A-4013-89AA-BBD0967A2B48}" type="slidenum">
              <a:rPr lang="en-GB" smtClean="0"/>
              <a:t>11</a:t>
            </a:fld>
            <a:endParaRPr lang="en-GB"/>
          </a:p>
        </p:txBody>
      </p:sp>
    </p:spTree>
    <p:extLst>
      <p:ext uri="{BB962C8B-B14F-4D97-AF65-F5344CB8AC3E}">
        <p14:creationId xmlns:p14="http://schemas.microsoft.com/office/powerpoint/2010/main" val="41204537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r>
              <a:rPr lang="en-GB" dirty="0"/>
              <a:t>This slide (and the next slide) are intended to summarise what has already been done by your organisation to ensure it is GDPR-compliant. Update it if not all of these items are yet in place.</a:t>
            </a:r>
          </a:p>
          <a:p>
            <a:endParaRPr lang="en-GB" dirty="0"/>
          </a:p>
          <a:p>
            <a:r>
              <a:rPr lang="en-GB" dirty="0"/>
              <a:t>The main point is that a lot of work has been done by the compliance team to understand the GDPR and ensure that everything is ready to comply with it from day one. The role of the audience is to help to ensure that we stay compliant from here and into the future. This is just as important.</a:t>
            </a:r>
          </a:p>
        </p:txBody>
      </p:sp>
      <p:sp>
        <p:nvSpPr>
          <p:cNvPr id="4" name="Slide Number Placeholder 3"/>
          <p:cNvSpPr>
            <a:spLocks noGrp="1"/>
          </p:cNvSpPr>
          <p:nvPr>
            <p:ph type="sldNum" sz="quarter" idx="10"/>
          </p:nvPr>
        </p:nvSpPr>
        <p:spPr/>
        <p:txBody>
          <a:bodyPr/>
          <a:lstStyle/>
          <a:p>
            <a:fld id="{3F7CB91A-E68A-4013-89AA-BBD0967A2B48}" type="slidenum">
              <a:rPr lang="en-GB" smtClean="0"/>
              <a:t>12</a:t>
            </a:fld>
            <a:endParaRPr lang="en-GB"/>
          </a:p>
        </p:txBody>
      </p:sp>
    </p:spTree>
    <p:extLst>
      <p:ext uri="{BB962C8B-B14F-4D97-AF65-F5344CB8AC3E}">
        <p14:creationId xmlns:p14="http://schemas.microsoft.com/office/powerpoint/2010/main" val="31422897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r>
              <a:rPr lang="en-GB" dirty="0"/>
              <a:t>You may like to expand on some of these points to explain how they work within your organisation. </a:t>
            </a:r>
          </a:p>
        </p:txBody>
      </p:sp>
      <p:sp>
        <p:nvSpPr>
          <p:cNvPr id="4" name="Slide Number Placeholder 3"/>
          <p:cNvSpPr>
            <a:spLocks noGrp="1"/>
          </p:cNvSpPr>
          <p:nvPr>
            <p:ph type="sldNum" sz="quarter" idx="10"/>
          </p:nvPr>
        </p:nvSpPr>
        <p:spPr/>
        <p:txBody>
          <a:bodyPr/>
          <a:lstStyle/>
          <a:p>
            <a:fld id="{3F7CB91A-E68A-4013-89AA-BBD0967A2B48}" type="slidenum">
              <a:rPr lang="en-GB" smtClean="0"/>
              <a:t>13</a:t>
            </a:fld>
            <a:endParaRPr lang="en-GB"/>
          </a:p>
        </p:txBody>
      </p:sp>
    </p:spTree>
    <p:extLst>
      <p:ext uri="{BB962C8B-B14F-4D97-AF65-F5344CB8AC3E}">
        <p14:creationId xmlns:p14="http://schemas.microsoft.com/office/powerpoint/2010/main" val="12572994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r>
              <a:rPr lang="en-GB" dirty="0"/>
              <a:t>The data subject has a number of rights over their personal data and as an organisation we must ensure that we provide the mechanisms to allow them to exercise these rights. Note that not all of these rights will apply in all cases, so there is a decision process to be performed before taking action, as described in the relevant procedure. </a:t>
            </a:r>
          </a:p>
          <a:p>
            <a:endParaRPr lang="en-GB" dirty="0"/>
          </a:p>
          <a:p>
            <a:r>
              <a:rPr lang="en-GB" dirty="0"/>
              <a:t>The rights are:</a:t>
            </a:r>
          </a:p>
          <a:p>
            <a:endParaRPr lang="en-GB" dirty="0"/>
          </a:p>
          <a:p>
            <a:pPr marL="228600" indent="-228600">
              <a:buAutoNum type="arabicPeriod"/>
            </a:pPr>
            <a:r>
              <a:rPr lang="en-GB" dirty="0"/>
              <a:t>Telling them clearly what data we will collect and what we will do with them (Right to information)</a:t>
            </a:r>
          </a:p>
          <a:p>
            <a:pPr marL="228600" indent="-228600">
              <a:buAutoNum type="arabicPeriod"/>
            </a:pPr>
            <a:r>
              <a:rPr lang="en-GB" dirty="0"/>
              <a:t>Allowing them to see their data after we have collected them (Right to access)</a:t>
            </a:r>
          </a:p>
          <a:p>
            <a:pPr marL="228600" indent="-228600">
              <a:buAutoNum type="arabicPeriod"/>
            </a:pPr>
            <a:r>
              <a:rPr lang="en-GB" dirty="0"/>
              <a:t>Changing the personal data if it’s wrong (Right to rectification)</a:t>
            </a:r>
          </a:p>
          <a:p>
            <a:pPr marL="228600" indent="-228600">
              <a:buAutoNum type="arabicPeriod"/>
            </a:pPr>
            <a:r>
              <a:rPr lang="en-GB" dirty="0"/>
              <a:t>Removing them if we have no legal right to hold them (Right to erasure)</a:t>
            </a:r>
          </a:p>
          <a:p>
            <a:pPr marL="228600" indent="-228600">
              <a:buAutoNum type="arabicPeriod"/>
            </a:pPr>
            <a:r>
              <a:rPr lang="en-GB" dirty="0"/>
              <a:t>Not processing them if the data subject doesn’t want us to (Right to restriction of processing)</a:t>
            </a:r>
          </a:p>
          <a:p>
            <a:pPr marL="228600" indent="-228600">
              <a:buAutoNum type="arabicPeriod"/>
            </a:pPr>
            <a:r>
              <a:rPr lang="en-GB" dirty="0"/>
              <a:t>Letting the data subject take their data away (Right to data portability)</a:t>
            </a:r>
          </a:p>
          <a:p>
            <a:pPr marL="228600" indent="-228600">
              <a:buAutoNum type="arabicPeriod"/>
            </a:pPr>
            <a:r>
              <a:rPr lang="en-GB" dirty="0"/>
              <a:t>Taking account of objections to what we hold and do with their data (Right to object)</a:t>
            </a:r>
          </a:p>
          <a:p>
            <a:pPr marL="228600" indent="-228600">
              <a:buAutoNum type="arabicPeriod"/>
            </a:pPr>
            <a:r>
              <a:rPr lang="en-GB" dirty="0"/>
              <a:t>Allowing a way to ask that a human being intervene instead of an algorithm when decisions are made (Right not to be subject to a decision based solely on automated processing, including profiling)</a:t>
            </a:r>
          </a:p>
          <a:p>
            <a:pPr marL="228600" indent="-228600">
              <a:buAutoNum type="arabicPeriod"/>
            </a:pPr>
            <a:endParaRPr lang="en-GB" dirty="0"/>
          </a:p>
          <a:p>
            <a:pPr marL="0" indent="0">
              <a:buNone/>
            </a:pPr>
            <a:r>
              <a:rPr lang="en-GB" dirty="0"/>
              <a:t>We will continue to consider the best way to provide these rights to the data subject so that they can be done in a timely way and without excessive cost to either party. If we use a processor, we must also ensure that these rights are fulfilled by the processor too.</a:t>
            </a:r>
          </a:p>
        </p:txBody>
      </p:sp>
      <p:sp>
        <p:nvSpPr>
          <p:cNvPr id="4" name="Slide Number Placeholder 3"/>
          <p:cNvSpPr>
            <a:spLocks noGrp="1"/>
          </p:cNvSpPr>
          <p:nvPr>
            <p:ph type="sldNum" sz="quarter" idx="10"/>
          </p:nvPr>
        </p:nvSpPr>
        <p:spPr/>
        <p:txBody>
          <a:bodyPr/>
          <a:lstStyle/>
          <a:p>
            <a:fld id="{3F7CB91A-E68A-4013-89AA-BBD0967A2B48}" type="slidenum">
              <a:rPr lang="en-GB" smtClean="0"/>
              <a:t>14</a:t>
            </a:fld>
            <a:endParaRPr lang="en-GB"/>
          </a:p>
        </p:txBody>
      </p:sp>
    </p:spTree>
    <p:extLst>
      <p:ext uri="{BB962C8B-B14F-4D97-AF65-F5344CB8AC3E}">
        <p14:creationId xmlns:p14="http://schemas.microsoft.com/office/powerpoint/2010/main" val="39974720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r>
              <a:rPr lang="en-GB" dirty="0"/>
              <a:t>Now that the audience understands what the GDPR is, its fundamental principles, the main terms used and what the organisation has done to make it compliant, this slide is about the role that everyone in the organisation must play to maintain our compliance. Largely, this is about being able to recognise personal data and handling it in an appropriate way, as defined by our procedures. </a:t>
            </a:r>
          </a:p>
          <a:p>
            <a:endParaRPr lang="en-GB" dirty="0"/>
          </a:p>
          <a:p>
            <a:r>
              <a:rPr lang="en-GB" dirty="0"/>
              <a:t>Explain where the Data Protection Policy is, and how they can obtain a copy to read.</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If the employee will be involved in processing data subject access requests, then it is assumed they will receive additional specific training for this role.</a:t>
            </a:r>
          </a:p>
          <a:p>
            <a:endParaRPr lang="en-GB" dirty="0"/>
          </a:p>
        </p:txBody>
      </p:sp>
      <p:sp>
        <p:nvSpPr>
          <p:cNvPr id="4" name="Slide Number Placeholder 3"/>
          <p:cNvSpPr>
            <a:spLocks noGrp="1"/>
          </p:cNvSpPr>
          <p:nvPr>
            <p:ph type="sldNum" sz="quarter" idx="10"/>
          </p:nvPr>
        </p:nvSpPr>
        <p:spPr/>
        <p:txBody>
          <a:bodyPr/>
          <a:lstStyle/>
          <a:p>
            <a:fld id="{3F7CB91A-E68A-4013-89AA-BBD0967A2B48}" type="slidenum">
              <a:rPr lang="en-GB" smtClean="0"/>
              <a:t>15</a:t>
            </a:fld>
            <a:endParaRPr lang="en-GB"/>
          </a:p>
        </p:txBody>
      </p:sp>
    </p:spTree>
    <p:extLst>
      <p:ext uri="{BB962C8B-B14F-4D97-AF65-F5344CB8AC3E}">
        <p14:creationId xmlns:p14="http://schemas.microsoft.com/office/powerpoint/2010/main" val="19336788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In summary, the GDPR is law and the penalties to the organisation for not complying with it are severe. Work has been done to ensure we are clear about what personal data we collect, for what reason, and what we do with it. We also have procedures in place to allow data subjects to exercise their rights. We need all employees to play their part in protecting personal data and handling it appropriately, in line with our policy and procedures. If an employee is not sure about something to do with personal data, they should always ask.</a:t>
            </a:r>
          </a:p>
          <a:p>
            <a:endParaRPr lang="en-GB" dirty="0"/>
          </a:p>
        </p:txBody>
      </p:sp>
      <p:sp>
        <p:nvSpPr>
          <p:cNvPr id="4" name="Slide Number Placeholder 3"/>
          <p:cNvSpPr>
            <a:spLocks noGrp="1"/>
          </p:cNvSpPr>
          <p:nvPr>
            <p:ph type="sldNum" sz="quarter" idx="10"/>
          </p:nvPr>
        </p:nvSpPr>
        <p:spPr/>
        <p:txBody>
          <a:bodyPr/>
          <a:lstStyle/>
          <a:p>
            <a:fld id="{3F7CB91A-E68A-4013-89AA-BBD0967A2B48}" type="slidenum">
              <a:rPr lang="en-GB" smtClean="0"/>
              <a:t>16</a:t>
            </a:fld>
            <a:endParaRPr lang="en-GB"/>
          </a:p>
        </p:txBody>
      </p:sp>
    </p:spTree>
    <p:extLst>
      <p:ext uri="{BB962C8B-B14F-4D97-AF65-F5344CB8AC3E}">
        <p14:creationId xmlns:p14="http://schemas.microsoft.com/office/powerpoint/2010/main" val="7063707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r>
              <a:rPr lang="en-GB" dirty="0"/>
              <a:t>Questions may be recorded and used to enhance the presentation for the next time it is delivered.</a:t>
            </a:r>
          </a:p>
        </p:txBody>
      </p:sp>
      <p:sp>
        <p:nvSpPr>
          <p:cNvPr id="4" name="Slide Number Placeholder 3"/>
          <p:cNvSpPr>
            <a:spLocks noGrp="1"/>
          </p:cNvSpPr>
          <p:nvPr>
            <p:ph type="sldNum" sz="quarter" idx="10"/>
          </p:nvPr>
        </p:nvSpPr>
        <p:spPr/>
        <p:txBody>
          <a:bodyPr/>
          <a:lstStyle/>
          <a:p>
            <a:fld id="{3F7CB91A-E68A-4013-89AA-BBD0967A2B48}" type="slidenum">
              <a:rPr lang="en-GB" smtClean="0"/>
              <a:t>17</a:t>
            </a:fld>
            <a:endParaRPr lang="en-GB"/>
          </a:p>
        </p:txBody>
      </p:sp>
    </p:spTree>
    <p:extLst>
      <p:ext uri="{BB962C8B-B14F-4D97-AF65-F5344CB8AC3E}">
        <p14:creationId xmlns:p14="http://schemas.microsoft.com/office/powerpoint/2010/main" val="289134462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4" name="Date Placeholder 29"/>
          <p:cNvSpPr>
            <a:spLocks noGrp="1"/>
          </p:cNvSpPr>
          <p:nvPr>
            <p:ph type="dt" sz="half" idx="10"/>
          </p:nvPr>
        </p:nvSpPr>
        <p:spPr/>
        <p:txBody>
          <a:bodyPr/>
          <a:lstStyle>
            <a:lvl1pPr fontAlgn="auto">
              <a:spcBef>
                <a:spcPts val="0"/>
              </a:spcBef>
              <a:spcAft>
                <a:spcPts val="0"/>
              </a:spcAft>
              <a:defRPr>
                <a:solidFill>
                  <a:srgbClr val="DBF5F9">
                    <a:shade val="90000"/>
                  </a:srgbClr>
                </a:solidFill>
                <a:latin typeface="+mn-lt"/>
              </a:defRPr>
            </a:lvl1pPr>
          </a:lstStyle>
          <a:p>
            <a:pPr>
              <a:defRPr/>
            </a:pPr>
            <a:endParaRPr lang="en-US"/>
          </a:p>
        </p:txBody>
      </p:sp>
      <p:sp>
        <p:nvSpPr>
          <p:cNvPr id="5" name="Footer Placeholder 18"/>
          <p:cNvSpPr>
            <a:spLocks noGrp="1"/>
          </p:cNvSpPr>
          <p:nvPr>
            <p:ph type="ftr" sz="quarter" idx="11"/>
          </p:nvPr>
        </p:nvSpPr>
        <p:spPr/>
        <p:txBody>
          <a:bodyPr/>
          <a:lstStyle>
            <a:lvl1pPr fontAlgn="auto">
              <a:spcBef>
                <a:spcPts val="0"/>
              </a:spcBef>
              <a:spcAft>
                <a:spcPts val="0"/>
              </a:spcAft>
              <a:defRPr>
                <a:solidFill>
                  <a:srgbClr val="DBF5F9">
                    <a:shade val="90000"/>
                  </a:srgbClr>
                </a:solidFill>
                <a:latin typeface="+mn-lt"/>
              </a:defRPr>
            </a:lvl1pPr>
          </a:lstStyle>
          <a:p>
            <a:pPr>
              <a:defRPr/>
            </a:pPr>
            <a:r>
              <a:rPr lang="en-GB"/>
              <a:t>(c) Public IT Limited</a:t>
            </a:r>
            <a:endParaRPr lang="en-US"/>
          </a:p>
        </p:txBody>
      </p:sp>
      <p:sp>
        <p:nvSpPr>
          <p:cNvPr id="6" name="Slide Number Placeholder 26"/>
          <p:cNvSpPr>
            <a:spLocks noGrp="1"/>
          </p:cNvSpPr>
          <p:nvPr>
            <p:ph type="sldNum" sz="quarter" idx="12"/>
          </p:nvPr>
        </p:nvSpPr>
        <p:spPr/>
        <p:txBody>
          <a:bodyPr/>
          <a:lstStyle>
            <a:lvl1pPr fontAlgn="auto">
              <a:spcBef>
                <a:spcPts val="0"/>
              </a:spcBef>
              <a:spcAft>
                <a:spcPts val="0"/>
              </a:spcAft>
              <a:defRPr>
                <a:solidFill>
                  <a:srgbClr val="DBF5F9">
                    <a:shade val="90000"/>
                  </a:srgbClr>
                </a:solidFill>
                <a:latin typeface="+mn-lt"/>
              </a:defRPr>
            </a:lvl1pPr>
          </a:lstStyle>
          <a:p>
            <a:pPr>
              <a:defRPr/>
            </a:pPr>
            <a:fld id="{174053E0-CC06-42E1-A40F-26F01C7D723E}" type="slidenum">
              <a:rPr lang="en-US"/>
              <a:pPr>
                <a:defRPr/>
              </a:pPr>
              <a:t>‹#›</a:t>
            </a:fld>
            <a:endParaRPr lang="en-US"/>
          </a:p>
        </p:txBody>
      </p:sp>
    </p:spTree>
    <p:extLst>
      <p:ext uri="{BB962C8B-B14F-4D97-AF65-F5344CB8AC3E}">
        <p14:creationId xmlns:p14="http://schemas.microsoft.com/office/powerpoint/2010/main" val="103963110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fontAlgn="auto">
              <a:spcBef>
                <a:spcPts val="0"/>
              </a:spcBef>
              <a:spcAft>
                <a:spcPts val="0"/>
              </a:spcAft>
              <a:defRPr>
                <a:latin typeface="+mn-lt"/>
              </a:defRPr>
            </a:lvl1pPr>
          </a:lstStyle>
          <a:p>
            <a:pPr>
              <a:defRPr/>
            </a:pPr>
            <a:endParaRPr lang="en-US"/>
          </a:p>
        </p:txBody>
      </p:sp>
      <p:sp>
        <p:nvSpPr>
          <p:cNvPr id="5" name="Footer Placeholder 21"/>
          <p:cNvSpPr>
            <a:spLocks noGrp="1"/>
          </p:cNvSpPr>
          <p:nvPr>
            <p:ph type="ftr" sz="quarter" idx="11"/>
          </p:nvPr>
        </p:nvSpPr>
        <p:spPr/>
        <p:txBody>
          <a:bodyPr/>
          <a:lstStyle>
            <a:lvl1pPr fontAlgn="auto">
              <a:spcBef>
                <a:spcPts val="0"/>
              </a:spcBef>
              <a:spcAft>
                <a:spcPts val="0"/>
              </a:spcAft>
              <a:defRPr>
                <a:latin typeface="+mn-lt"/>
              </a:defRPr>
            </a:lvl1pPr>
          </a:lstStyle>
          <a:p>
            <a:pPr>
              <a:defRPr/>
            </a:pPr>
            <a:r>
              <a:rPr lang="en-GB"/>
              <a:t>(c) Public IT Limited</a:t>
            </a:r>
            <a:endParaRPr lang="en-US"/>
          </a:p>
        </p:txBody>
      </p:sp>
      <p:sp>
        <p:nvSpPr>
          <p:cNvPr id="6" name="Slide Number Placeholder 17"/>
          <p:cNvSpPr>
            <a:spLocks noGrp="1"/>
          </p:cNvSpPr>
          <p:nvPr>
            <p:ph type="sldNum" sz="quarter" idx="12"/>
          </p:nvPr>
        </p:nvSpPr>
        <p:spPr/>
        <p:txBody>
          <a:bodyPr/>
          <a:lstStyle>
            <a:lvl1pPr fontAlgn="auto">
              <a:spcBef>
                <a:spcPts val="0"/>
              </a:spcBef>
              <a:spcAft>
                <a:spcPts val="0"/>
              </a:spcAft>
              <a:defRPr>
                <a:latin typeface="+mn-lt"/>
              </a:defRPr>
            </a:lvl1pPr>
          </a:lstStyle>
          <a:p>
            <a:pPr>
              <a:defRPr/>
            </a:pPr>
            <a:fld id="{86C82261-A946-46B9-8BD1-B2900C55ED35}" type="slidenum">
              <a:rPr lang="en-US"/>
              <a:pPr>
                <a:defRPr/>
              </a:pPr>
              <a:t>‹#›</a:t>
            </a:fld>
            <a:endParaRPr lang="en-US"/>
          </a:p>
        </p:txBody>
      </p:sp>
    </p:spTree>
    <p:extLst>
      <p:ext uri="{BB962C8B-B14F-4D97-AF65-F5344CB8AC3E}">
        <p14:creationId xmlns:p14="http://schemas.microsoft.com/office/powerpoint/2010/main" val="33267595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4" name="Date Placeholder 3"/>
          <p:cNvSpPr>
            <a:spLocks noGrp="1"/>
          </p:cNvSpPr>
          <p:nvPr>
            <p:ph type="dt" sz="half" idx="10"/>
          </p:nvPr>
        </p:nvSpPr>
        <p:spPr/>
        <p:txBody>
          <a:bodyPr/>
          <a:lstStyle>
            <a:lvl1pPr fontAlgn="auto">
              <a:spcBef>
                <a:spcPts val="0"/>
              </a:spcBef>
              <a:spcAft>
                <a:spcPts val="0"/>
              </a:spcAft>
              <a:defRPr>
                <a:solidFill>
                  <a:srgbClr val="DBF5F9">
                    <a:shade val="90000"/>
                  </a:srgbClr>
                </a:solidFill>
                <a:latin typeface="+mn-lt"/>
              </a:defRPr>
            </a:lvl1pPr>
          </a:lstStyle>
          <a:p>
            <a:pPr>
              <a:defRPr/>
            </a:pPr>
            <a:endParaRPr lang="en-US"/>
          </a:p>
        </p:txBody>
      </p:sp>
      <p:sp>
        <p:nvSpPr>
          <p:cNvPr id="5" name="Footer Placeholder 4"/>
          <p:cNvSpPr>
            <a:spLocks noGrp="1"/>
          </p:cNvSpPr>
          <p:nvPr>
            <p:ph type="ftr" sz="quarter" idx="11"/>
          </p:nvPr>
        </p:nvSpPr>
        <p:spPr/>
        <p:txBody>
          <a:bodyPr/>
          <a:lstStyle>
            <a:lvl1pPr fontAlgn="auto">
              <a:spcBef>
                <a:spcPts val="0"/>
              </a:spcBef>
              <a:spcAft>
                <a:spcPts val="0"/>
              </a:spcAft>
              <a:defRPr>
                <a:solidFill>
                  <a:srgbClr val="DBF5F9">
                    <a:shade val="90000"/>
                  </a:srgbClr>
                </a:solidFill>
                <a:latin typeface="+mn-lt"/>
              </a:defRPr>
            </a:lvl1pPr>
          </a:lstStyle>
          <a:p>
            <a:pPr>
              <a:defRPr/>
            </a:pPr>
            <a:r>
              <a:rPr lang="en-GB"/>
              <a:t>(c) Public IT Limited</a:t>
            </a:r>
            <a:endParaRPr lang="en-US"/>
          </a:p>
        </p:txBody>
      </p:sp>
      <p:sp>
        <p:nvSpPr>
          <p:cNvPr id="6" name="Slide Number Placeholder 5"/>
          <p:cNvSpPr>
            <a:spLocks noGrp="1"/>
          </p:cNvSpPr>
          <p:nvPr>
            <p:ph type="sldNum" sz="quarter" idx="12"/>
          </p:nvPr>
        </p:nvSpPr>
        <p:spPr/>
        <p:txBody>
          <a:bodyPr/>
          <a:lstStyle>
            <a:lvl1pPr fontAlgn="auto">
              <a:spcBef>
                <a:spcPts val="0"/>
              </a:spcBef>
              <a:spcAft>
                <a:spcPts val="0"/>
              </a:spcAft>
              <a:defRPr>
                <a:solidFill>
                  <a:srgbClr val="DBF5F9">
                    <a:shade val="90000"/>
                  </a:srgbClr>
                </a:solidFill>
                <a:latin typeface="+mn-lt"/>
              </a:defRPr>
            </a:lvl1pPr>
          </a:lstStyle>
          <a:p>
            <a:pPr>
              <a:defRPr/>
            </a:pPr>
            <a:fld id="{A18EB8E6-087A-4C06-9F47-AF91B67AAA23}" type="slidenum">
              <a:rPr lang="en-US"/>
              <a:pPr>
                <a:defRPr/>
              </a:pPr>
              <a:t>‹#›</a:t>
            </a:fld>
            <a:endParaRPr lang="en-US"/>
          </a:p>
        </p:txBody>
      </p:sp>
    </p:spTree>
    <p:extLst>
      <p:ext uri="{BB962C8B-B14F-4D97-AF65-F5344CB8AC3E}">
        <p14:creationId xmlns:p14="http://schemas.microsoft.com/office/powerpoint/2010/main" val="172146367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p:cNvSpPr>
            <a:spLocks noGrp="1"/>
          </p:cNvSpPr>
          <p:nvPr>
            <p:ph type="dt" sz="half" idx="10"/>
          </p:nvPr>
        </p:nvSpPr>
        <p:spPr/>
        <p:txBody>
          <a:bodyPr/>
          <a:lstStyle>
            <a:lvl1pPr fontAlgn="auto">
              <a:spcBef>
                <a:spcPts val="0"/>
              </a:spcBef>
              <a:spcAft>
                <a:spcPts val="0"/>
              </a:spcAft>
              <a:defRPr>
                <a:latin typeface="+mn-lt"/>
              </a:defRPr>
            </a:lvl1pPr>
          </a:lstStyle>
          <a:p>
            <a:pPr>
              <a:defRPr/>
            </a:pPr>
            <a:endParaRPr lang="en-US"/>
          </a:p>
        </p:txBody>
      </p:sp>
      <p:sp>
        <p:nvSpPr>
          <p:cNvPr id="6" name="Footer Placeholder 21"/>
          <p:cNvSpPr>
            <a:spLocks noGrp="1"/>
          </p:cNvSpPr>
          <p:nvPr>
            <p:ph type="ftr" sz="quarter" idx="11"/>
          </p:nvPr>
        </p:nvSpPr>
        <p:spPr/>
        <p:txBody>
          <a:bodyPr/>
          <a:lstStyle>
            <a:lvl1pPr fontAlgn="auto">
              <a:spcBef>
                <a:spcPts val="0"/>
              </a:spcBef>
              <a:spcAft>
                <a:spcPts val="0"/>
              </a:spcAft>
              <a:defRPr>
                <a:latin typeface="+mn-lt"/>
              </a:defRPr>
            </a:lvl1pPr>
          </a:lstStyle>
          <a:p>
            <a:pPr>
              <a:defRPr/>
            </a:pPr>
            <a:r>
              <a:rPr lang="en-GB"/>
              <a:t>(c) Public IT Limited</a:t>
            </a:r>
            <a:endParaRPr lang="en-US"/>
          </a:p>
        </p:txBody>
      </p:sp>
      <p:sp>
        <p:nvSpPr>
          <p:cNvPr id="7" name="Slide Number Placeholder 17"/>
          <p:cNvSpPr>
            <a:spLocks noGrp="1"/>
          </p:cNvSpPr>
          <p:nvPr>
            <p:ph type="sldNum" sz="quarter" idx="12"/>
          </p:nvPr>
        </p:nvSpPr>
        <p:spPr/>
        <p:txBody>
          <a:bodyPr/>
          <a:lstStyle>
            <a:lvl1pPr fontAlgn="auto">
              <a:spcBef>
                <a:spcPts val="0"/>
              </a:spcBef>
              <a:spcAft>
                <a:spcPts val="0"/>
              </a:spcAft>
              <a:defRPr>
                <a:latin typeface="+mn-lt"/>
              </a:defRPr>
            </a:lvl1pPr>
          </a:lstStyle>
          <a:p>
            <a:pPr>
              <a:defRPr/>
            </a:pPr>
            <a:fld id="{406D1F0D-5DEA-40AD-BFE0-08DA0962456B}" type="slidenum">
              <a:rPr lang="en-US"/>
              <a:pPr>
                <a:defRPr/>
              </a:pPr>
              <a:t>‹#›</a:t>
            </a:fld>
            <a:endParaRPr lang="en-US"/>
          </a:p>
        </p:txBody>
      </p:sp>
    </p:spTree>
    <p:extLst>
      <p:ext uri="{BB962C8B-B14F-4D97-AF65-F5344CB8AC3E}">
        <p14:creationId xmlns:p14="http://schemas.microsoft.com/office/powerpoint/2010/main" val="10112344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9"/>
          <p:cNvSpPr>
            <a:spLocks noGrp="1"/>
          </p:cNvSpPr>
          <p:nvPr>
            <p:ph type="dt" sz="half" idx="10"/>
          </p:nvPr>
        </p:nvSpPr>
        <p:spPr/>
        <p:txBody>
          <a:bodyPr/>
          <a:lstStyle>
            <a:lvl1pPr fontAlgn="auto">
              <a:spcBef>
                <a:spcPts val="0"/>
              </a:spcBef>
              <a:spcAft>
                <a:spcPts val="0"/>
              </a:spcAft>
              <a:defRPr>
                <a:latin typeface="+mn-lt"/>
              </a:defRPr>
            </a:lvl1pPr>
          </a:lstStyle>
          <a:p>
            <a:pPr>
              <a:defRPr/>
            </a:pPr>
            <a:endParaRPr lang="en-US"/>
          </a:p>
        </p:txBody>
      </p:sp>
      <p:sp>
        <p:nvSpPr>
          <p:cNvPr id="8" name="Footer Placeholder 21"/>
          <p:cNvSpPr>
            <a:spLocks noGrp="1"/>
          </p:cNvSpPr>
          <p:nvPr>
            <p:ph type="ftr" sz="quarter" idx="11"/>
          </p:nvPr>
        </p:nvSpPr>
        <p:spPr/>
        <p:txBody>
          <a:bodyPr/>
          <a:lstStyle>
            <a:lvl1pPr fontAlgn="auto">
              <a:spcBef>
                <a:spcPts val="0"/>
              </a:spcBef>
              <a:spcAft>
                <a:spcPts val="0"/>
              </a:spcAft>
              <a:defRPr>
                <a:latin typeface="+mn-lt"/>
              </a:defRPr>
            </a:lvl1pPr>
          </a:lstStyle>
          <a:p>
            <a:pPr>
              <a:defRPr/>
            </a:pPr>
            <a:r>
              <a:rPr lang="en-GB"/>
              <a:t>(c) Public IT Limited</a:t>
            </a:r>
            <a:endParaRPr lang="en-US"/>
          </a:p>
        </p:txBody>
      </p:sp>
      <p:sp>
        <p:nvSpPr>
          <p:cNvPr id="9" name="Slide Number Placeholder 17"/>
          <p:cNvSpPr>
            <a:spLocks noGrp="1"/>
          </p:cNvSpPr>
          <p:nvPr>
            <p:ph type="sldNum" sz="quarter" idx="12"/>
          </p:nvPr>
        </p:nvSpPr>
        <p:spPr/>
        <p:txBody>
          <a:bodyPr/>
          <a:lstStyle>
            <a:lvl1pPr fontAlgn="auto">
              <a:spcBef>
                <a:spcPts val="0"/>
              </a:spcBef>
              <a:spcAft>
                <a:spcPts val="0"/>
              </a:spcAft>
              <a:defRPr>
                <a:latin typeface="+mn-lt"/>
              </a:defRPr>
            </a:lvl1pPr>
          </a:lstStyle>
          <a:p>
            <a:pPr>
              <a:defRPr/>
            </a:pPr>
            <a:fld id="{2BCD9DDA-DBC9-4275-A908-A97C505D7F98}" type="slidenum">
              <a:rPr lang="en-US"/>
              <a:pPr>
                <a:defRPr/>
              </a:pPr>
              <a:t>‹#›</a:t>
            </a:fld>
            <a:endParaRPr lang="en-US"/>
          </a:p>
        </p:txBody>
      </p:sp>
    </p:spTree>
    <p:extLst>
      <p:ext uri="{BB962C8B-B14F-4D97-AF65-F5344CB8AC3E}">
        <p14:creationId xmlns:p14="http://schemas.microsoft.com/office/powerpoint/2010/main" val="41772151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en-US"/>
              <a:t>Click to edit Master title style</a:t>
            </a:r>
          </a:p>
        </p:txBody>
      </p:sp>
      <p:sp>
        <p:nvSpPr>
          <p:cNvPr id="3" name="Date Placeholder 9"/>
          <p:cNvSpPr>
            <a:spLocks noGrp="1"/>
          </p:cNvSpPr>
          <p:nvPr>
            <p:ph type="dt" sz="half" idx="10"/>
          </p:nvPr>
        </p:nvSpPr>
        <p:spPr/>
        <p:txBody>
          <a:bodyPr/>
          <a:lstStyle>
            <a:lvl1pPr fontAlgn="auto">
              <a:spcBef>
                <a:spcPts val="0"/>
              </a:spcBef>
              <a:spcAft>
                <a:spcPts val="0"/>
              </a:spcAft>
              <a:defRPr>
                <a:latin typeface="+mn-lt"/>
              </a:defRPr>
            </a:lvl1pPr>
          </a:lstStyle>
          <a:p>
            <a:pPr>
              <a:defRPr/>
            </a:pPr>
            <a:endParaRPr lang="en-US"/>
          </a:p>
        </p:txBody>
      </p:sp>
      <p:sp>
        <p:nvSpPr>
          <p:cNvPr id="4" name="Footer Placeholder 21"/>
          <p:cNvSpPr>
            <a:spLocks noGrp="1"/>
          </p:cNvSpPr>
          <p:nvPr>
            <p:ph type="ftr" sz="quarter" idx="11"/>
          </p:nvPr>
        </p:nvSpPr>
        <p:spPr/>
        <p:txBody>
          <a:bodyPr/>
          <a:lstStyle>
            <a:lvl1pPr fontAlgn="auto">
              <a:spcBef>
                <a:spcPts val="0"/>
              </a:spcBef>
              <a:spcAft>
                <a:spcPts val="0"/>
              </a:spcAft>
              <a:defRPr>
                <a:latin typeface="+mn-lt"/>
              </a:defRPr>
            </a:lvl1pPr>
          </a:lstStyle>
          <a:p>
            <a:pPr>
              <a:defRPr/>
            </a:pPr>
            <a:r>
              <a:rPr lang="en-GB"/>
              <a:t>(c) Public IT Limited</a:t>
            </a:r>
            <a:endParaRPr lang="en-US"/>
          </a:p>
        </p:txBody>
      </p:sp>
      <p:sp>
        <p:nvSpPr>
          <p:cNvPr id="5" name="Slide Number Placeholder 17"/>
          <p:cNvSpPr>
            <a:spLocks noGrp="1"/>
          </p:cNvSpPr>
          <p:nvPr>
            <p:ph type="sldNum" sz="quarter" idx="12"/>
          </p:nvPr>
        </p:nvSpPr>
        <p:spPr/>
        <p:txBody>
          <a:bodyPr/>
          <a:lstStyle>
            <a:lvl1pPr fontAlgn="auto">
              <a:spcBef>
                <a:spcPts val="0"/>
              </a:spcBef>
              <a:spcAft>
                <a:spcPts val="0"/>
              </a:spcAft>
              <a:defRPr>
                <a:latin typeface="+mn-lt"/>
              </a:defRPr>
            </a:lvl1pPr>
          </a:lstStyle>
          <a:p>
            <a:pPr>
              <a:defRPr/>
            </a:pPr>
            <a:fld id="{37F6A813-5E33-4022-9582-F7BDAAB923D4}" type="slidenum">
              <a:rPr lang="en-US"/>
              <a:pPr>
                <a:defRPr/>
              </a:pPr>
              <a:t>‹#›</a:t>
            </a:fld>
            <a:endParaRPr lang="en-US"/>
          </a:p>
        </p:txBody>
      </p:sp>
    </p:spTree>
    <p:extLst>
      <p:ext uri="{BB962C8B-B14F-4D97-AF65-F5344CB8AC3E}">
        <p14:creationId xmlns:p14="http://schemas.microsoft.com/office/powerpoint/2010/main" val="13651381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fontAlgn="auto">
              <a:spcBef>
                <a:spcPts val="0"/>
              </a:spcBef>
              <a:spcAft>
                <a:spcPts val="0"/>
              </a:spcAft>
              <a:defRPr>
                <a:latin typeface="+mn-lt"/>
              </a:defRPr>
            </a:lvl1pPr>
          </a:lstStyle>
          <a:p>
            <a:pPr>
              <a:defRPr/>
            </a:pPr>
            <a:endParaRPr lang="en-US"/>
          </a:p>
        </p:txBody>
      </p:sp>
      <p:sp>
        <p:nvSpPr>
          <p:cNvPr id="3" name="Footer Placeholder 21"/>
          <p:cNvSpPr>
            <a:spLocks noGrp="1"/>
          </p:cNvSpPr>
          <p:nvPr>
            <p:ph type="ftr" sz="quarter" idx="11"/>
          </p:nvPr>
        </p:nvSpPr>
        <p:spPr/>
        <p:txBody>
          <a:bodyPr/>
          <a:lstStyle>
            <a:lvl1pPr fontAlgn="auto">
              <a:spcBef>
                <a:spcPts val="0"/>
              </a:spcBef>
              <a:spcAft>
                <a:spcPts val="0"/>
              </a:spcAft>
              <a:defRPr>
                <a:latin typeface="+mn-lt"/>
              </a:defRPr>
            </a:lvl1pPr>
          </a:lstStyle>
          <a:p>
            <a:pPr>
              <a:defRPr/>
            </a:pPr>
            <a:r>
              <a:rPr lang="en-GB"/>
              <a:t>(c) Public IT Limited</a:t>
            </a:r>
            <a:endParaRPr lang="en-US"/>
          </a:p>
        </p:txBody>
      </p:sp>
      <p:sp>
        <p:nvSpPr>
          <p:cNvPr id="4" name="Slide Number Placeholder 17"/>
          <p:cNvSpPr>
            <a:spLocks noGrp="1"/>
          </p:cNvSpPr>
          <p:nvPr>
            <p:ph type="sldNum" sz="quarter" idx="12"/>
          </p:nvPr>
        </p:nvSpPr>
        <p:spPr/>
        <p:txBody>
          <a:bodyPr/>
          <a:lstStyle>
            <a:lvl1pPr fontAlgn="auto">
              <a:spcBef>
                <a:spcPts val="0"/>
              </a:spcBef>
              <a:spcAft>
                <a:spcPts val="0"/>
              </a:spcAft>
              <a:defRPr>
                <a:latin typeface="+mn-lt"/>
              </a:defRPr>
            </a:lvl1pPr>
          </a:lstStyle>
          <a:p>
            <a:pPr>
              <a:defRPr/>
            </a:pPr>
            <a:fld id="{2E19B362-6F58-4376-B76A-ED945AA68620}" type="slidenum">
              <a:rPr lang="en-US"/>
              <a:pPr>
                <a:defRPr/>
              </a:pPr>
              <a:t>‹#›</a:t>
            </a:fld>
            <a:endParaRPr lang="en-US"/>
          </a:p>
        </p:txBody>
      </p:sp>
    </p:spTree>
    <p:extLst>
      <p:ext uri="{BB962C8B-B14F-4D97-AF65-F5344CB8AC3E}">
        <p14:creationId xmlns:p14="http://schemas.microsoft.com/office/powerpoint/2010/main" val="10094749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p:cNvSpPr>
            <a:spLocks noGrp="1"/>
          </p:cNvSpPr>
          <p:nvPr>
            <p:ph type="dt" sz="half" idx="10"/>
          </p:nvPr>
        </p:nvSpPr>
        <p:spPr/>
        <p:txBody>
          <a:bodyPr/>
          <a:lstStyle>
            <a:lvl1pPr fontAlgn="auto">
              <a:spcBef>
                <a:spcPts val="0"/>
              </a:spcBef>
              <a:spcAft>
                <a:spcPts val="0"/>
              </a:spcAft>
              <a:defRPr>
                <a:latin typeface="+mn-lt"/>
              </a:defRPr>
            </a:lvl1pPr>
          </a:lstStyle>
          <a:p>
            <a:pPr>
              <a:defRPr/>
            </a:pPr>
            <a:endParaRPr lang="en-US"/>
          </a:p>
        </p:txBody>
      </p:sp>
      <p:sp>
        <p:nvSpPr>
          <p:cNvPr id="6" name="Footer Placeholder 21"/>
          <p:cNvSpPr>
            <a:spLocks noGrp="1"/>
          </p:cNvSpPr>
          <p:nvPr>
            <p:ph type="ftr" sz="quarter" idx="11"/>
          </p:nvPr>
        </p:nvSpPr>
        <p:spPr/>
        <p:txBody>
          <a:bodyPr/>
          <a:lstStyle>
            <a:lvl1pPr fontAlgn="auto">
              <a:spcBef>
                <a:spcPts val="0"/>
              </a:spcBef>
              <a:spcAft>
                <a:spcPts val="0"/>
              </a:spcAft>
              <a:defRPr>
                <a:latin typeface="+mn-lt"/>
              </a:defRPr>
            </a:lvl1pPr>
          </a:lstStyle>
          <a:p>
            <a:pPr>
              <a:defRPr/>
            </a:pPr>
            <a:r>
              <a:rPr lang="en-GB"/>
              <a:t>(c) Public IT Limited</a:t>
            </a:r>
            <a:endParaRPr lang="en-US"/>
          </a:p>
        </p:txBody>
      </p:sp>
      <p:sp>
        <p:nvSpPr>
          <p:cNvPr id="7" name="Slide Number Placeholder 17"/>
          <p:cNvSpPr>
            <a:spLocks noGrp="1"/>
          </p:cNvSpPr>
          <p:nvPr>
            <p:ph type="sldNum" sz="quarter" idx="12"/>
          </p:nvPr>
        </p:nvSpPr>
        <p:spPr/>
        <p:txBody>
          <a:bodyPr/>
          <a:lstStyle>
            <a:lvl1pPr fontAlgn="auto">
              <a:spcBef>
                <a:spcPts val="0"/>
              </a:spcBef>
              <a:spcAft>
                <a:spcPts val="0"/>
              </a:spcAft>
              <a:defRPr>
                <a:latin typeface="+mn-lt"/>
              </a:defRPr>
            </a:lvl1pPr>
          </a:lstStyle>
          <a:p>
            <a:pPr>
              <a:defRPr/>
            </a:pPr>
            <a:fld id="{A7EEE483-3709-4738-96AA-DB53D76BC4CA}" type="slidenum">
              <a:rPr lang="en-US"/>
              <a:pPr>
                <a:defRPr/>
              </a:pPr>
              <a:t>‹#›</a:t>
            </a:fld>
            <a:endParaRPr lang="en-US"/>
          </a:p>
        </p:txBody>
      </p:sp>
    </p:spTree>
    <p:extLst>
      <p:ext uri="{BB962C8B-B14F-4D97-AF65-F5344CB8AC3E}">
        <p14:creationId xmlns:p14="http://schemas.microsoft.com/office/powerpoint/2010/main" val="26601842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nip and Round Single Corner Rectangle 4"/>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sz="2400">
              <a:solidFill>
                <a:prstClr val="white"/>
              </a:solidFill>
            </a:endParaRPr>
          </a:p>
        </p:txBody>
      </p:sp>
      <p:sp>
        <p:nvSpPr>
          <p:cNvPr id="6" name="Right Triangle 5"/>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sz="2400">
              <a:solidFill>
                <a:prstClr val="white"/>
              </a:solidFill>
            </a:endParaRPr>
          </a:p>
        </p:txBody>
      </p:sp>
      <p:sp>
        <p:nvSpPr>
          <p:cNvPr id="7" name="Freeform 6"/>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lang="en-US" sz="2400">
              <a:solidFill>
                <a:prstClr val="black"/>
              </a:solidFill>
              <a:latin typeface="+mn-lt"/>
              <a:cs typeface="+mn-cs"/>
            </a:endParaRPr>
          </a:p>
        </p:txBody>
      </p:sp>
      <p:sp>
        <p:nvSpPr>
          <p:cNvPr id="8" name="Freeform 7"/>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lang="en-US" sz="2400">
              <a:solidFill>
                <a:prstClr val="black"/>
              </a:solidFill>
              <a:latin typeface="+mn-lt"/>
              <a:cs typeface="+mn-cs"/>
            </a:endParaRPr>
          </a:p>
        </p:txBody>
      </p:sp>
      <p:sp>
        <p:nvSpPr>
          <p:cNvPr id="2" name="Title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en-US" noProof="0"/>
              <a:t>Click icon to add picture</a:t>
            </a:r>
            <a:endParaRPr lang="en-US" noProof="0" dirty="0"/>
          </a:p>
        </p:txBody>
      </p:sp>
      <p:sp>
        <p:nvSpPr>
          <p:cNvPr id="9" name="Date Placeholder 4"/>
          <p:cNvSpPr>
            <a:spLocks noGrp="1"/>
          </p:cNvSpPr>
          <p:nvPr>
            <p:ph type="dt" sz="half" idx="10"/>
          </p:nvPr>
        </p:nvSpPr>
        <p:spPr/>
        <p:txBody>
          <a:bodyPr/>
          <a:lstStyle>
            <a:lvl1pPr fontAlgn="auto">
              <a:spcBef>
                <a:spcPts val="0"/>
              </a:spcBef>
              <a:spcAft>
                <a:spcPts val="0"/>
              </a:spcAft>
              <a:defRPr>
                <a:latin typeface="+mn-lt"/>
              </a:defRPr>
            </a:lvl1pPr>
          </a:lstStyle>
          <a:p>
            <a:pPr>
              <a:defRPr/>
            </a:pPr>
            <a:endParaRPr lang="en-US"/>
          </a:p>
        </p:txBody>
      </p:sp>
      <p:sp>
        <p:nvSpPr>
          <p:cNvPr id="10" name="Footer Placeholder 5"/>
          <p:cNvSpPr>
            <a:spLocks noGrp="1"/>
          </p:cNvSpPr>
          <p:nvPr>
            <p:ph type="ftr" sz="quarter" idx="11"/>
          </p:nvPr>
        </p:nvSpPr>
        <p:spPr/>
        <p:txBody>
          <a:bodyPr/>
          <a:lstStyle>
            <a:lvl1pPr fontAlgn="auto">
              <a:spcBef>
                <a:spcPts val="0"/>
              </a:spcBef>
              <a:spcAft>
                <a:spcPts val="0"/>
              </a:spcAft>
              <a:defRPr>
                <a:latin typeface="+mn-lt"/>
              </a:defRPr>
            </a:lvl1pPr>
          </a:lstStyle>
          <a:p>
            <a:pPr>
              <a:defRPr/>
            </a:pPr>
            <a:r>
              <a:rPr lang="en-GB"/>
              <a:t>(c) Public IT Limited</a:t>
            </a:r>
            <a:endParaRPr lang="en-US"/>
          </a:p>
        </p:txBody>
      </p:sp>
      <p:sp>
        <p:nvSpPr>
          <p:cNvPr id="11" name="Slide Number Placeholder 6"/>
          <p:cNvSpPr>
            <a:spLocks noGrp="1"/>
          </p:cNvSpPr>
          <p:nvPr>
            <p:ph type="sldNum" sz="quarter" idx="12"/>
          </p:nvPr>
        </p:nvSpPr>
        <p:spPr>
          <a:xfrm>
            <a:off x="8077200" y="6356350"/>
            <a:ext cx="609600" cy="365125"/>
          </a:xfrm>
        </p:spPr>
        <p:txBody>
          <a:bodyPr/>
          <a:lstStyle>
            <a:lvl1pPr fontAlgn="auto">
              <a:spcBef>
                <a:spcPts val="0"/>
              </a:spcBef>
              <a:spcAft>
                <a:spcPts val="0"/>
              </a:spcAft>
              <a:defRPr>
                <a:latin typeface="+mn-lt"/>
              </a:defRPr>
            </a:lvl1pPr>
          </a:lstStyle>
          <a:p>
            <a:pPr>
              <a:defRPr/>
            </a:pPr>
            <a:fld id="{A5FA681F-B83A-4CD6-B0D3-2D45B849C742}" type="slidenum">
              <a:rPr lang="en-US"/>
              <a:pPr>
                <a:defRPr/>
              </a:pPr>
              <a:t>‹#›</a:t>
            </a:fld>
            <a:endParaRPr lang="en-US"/>
          </a:p>
        </p:txBody>
      </p:sp>
    </p:spTree>
    <p:extLst>
      <p:ext uri="{BB962C8B-B14F-4D97-AF65-F5344CB8AC3E}">
        <p14:creationId xmlns:p14="http://schemas.microsoft.com/office/powerpoint/2010/main" val="42016714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fontAlgn="auto">
              <a:spcBef>
                <a:spcPts val="0"/>
              </a:spcBef>
              <a:spcAft>
                <a:spcPts val="0"/>
              </a:spcAft>
              <a:defRPr>
                <a:latin typeface="+mn-lt"/>
              </a:defRPr>
            </a:lvl1pPr>
          </a:lstStyle>
          <a:p>
            <a:pPr>
              <a:defRPr/>
            </a:pPr>
            <a:endParaRPr lang="en-US"/>
          </a:p>
        </p:txBody>
      </p:sp>
      <p:sp>
        <p:nvSpPr>
          <p:cNvPr id="5" name="Footer Placeholder 21"/>
          <p:cNvSpPr>
            <a:spLocks noGrp="1"/>
          </p:cNvSpPr>
          <p:nvPr>
            <p:ph type="ftr" sz="quarter" idx="11"/>
          </p:nvPr>
        </p:nvSpPr>
        <p:spPr/>
        <p:txBody>
          <a:bodyPr/>
          <a:lstStyle>
            <a:lvl1pPr fontAlgn="auto">
              <a:spcBef>
                <a:spcPts val="0"/>
              </a:spcBef>
              <a:spcAft>
                <a:spcPts val="0"/>
              </a:spcAft>
              <a:defRPr>
                <a:latin typeface="+mn-lt"/>
              </a:defRPr>
            </a:lvl1pPr>
          </a:lstStyle>
          <a:p>
            <a:pPr>
              <a:defRPr/>
            </a:pPr>
            <a:r>
              <a:rPr lang="en-GB"/>
              <a:t>(c) Public IT Limited</a:t>
            </a:r>
            <a:endParaRPr lang="en-US"/>
          </a:p>
        </p:txBody>
      </p:sp>
      <p:sp>
        <p:nvSpPr>
          <p:cNvPr id="6" name="Slide Number Placeholder 17"/>
          <p:cNvSpPr>
            <a:spLocks noGrp="1"/>
          </p:cNvSpPr>
          <p:nvPr>
            <p:ph type="sldNum" sz="quarter" idx="12"/>
          </p:nvPr>
        </p:nvSpPr>
        <p:spPr/>
        <p:txBody>
          <a:bodyPr/>
          <a:lstStyle>
            <a:lvl1pPr fontAlgn="auto">
              <a:spcBef>
                <a:spcPts val="0"/>
              </a:spcBef>
              <a:spcAft>
                <a:spcPts val="0"/>
              </a:spcAft>
              <a:defRPr>
                <a:latin typeface="+mn-lt"/>
              </a:defRPr>
            </a:lvl1pPr>
          </a:lstStyle>
          <a:p>
            <a:pPr>
              <a:defRPr/>
            </a:pPr>
            <a:fld id="{2071AE01-5008-4016-BEE3-58A65C5DCFF7}" type="slidenum">
              <a:rPr lang="en-US"/>
              <a:pPr>
                <a:defRPr/>
              </a:pPr>
              <a:t>‹#›</a:t>
            </a:fld>
            <a:endParaRPr lang="en-US"/>
          </a:p>
        </p:txBody>
      </p:sp>
    </p:spTree>
    <p:extLst>
      <p:ext uri="{BB962C8B-B14F-4D97-AF65-F5344CB8AC3E}">
        <p14:creationId xmlns:p14="http://schemas.microsoft.com/office/powerpoint/2010/main" val="9872174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fontAlgn="auto">
              <a:spcBef>
                <a:spcPts val="0"/>
              </a:spcBef>
              <a:spcAft>
                <a:spcPts val="0"/>
              </a:spcAft>
              <a:defRPr>
                <a:latin typeface="+mn-lt"/>
              </a:defRPr>
            </a:lvl1pPr>
          </a:lstStyle>
          <a:p>
            <a:pPr>
              <a:defRPr/>
            </a:pPr>
            <a:endParaRPr lang="en-US"/>
          </a:p>
        </p:txBody>
      </p:sp>
      <p:sp>
        <p:nvSpPr>
          <p:cNvPr id="5" name="Footer Placeholder 21"/>
          <p:cNvSpPr>
            <a:spLocks noGrp="1"/>
          </p:cNvSpPr>
          <p:nvPr>
            <p:ph type="ftr" sz="quarter" idx="11"/>
          </p:nvPr>
        </p:nvSpPr>
        <p:spPr/>
        <p:txBody>
          <a:bodyPr/>
          <a:lstStyle>
            <a:lvl1pPr fontAlgn="auto">
              <a:spcBef>
                <a:spcPts val="0"/>
              </a:spcBef>
              <a:spcAft>
                <a:spcPts val="0"/>
              </a:spcAft>
              <a:defRPr>
                <a:latin typeface="+mn-lt"/>
              </a:defRPr>
            </a:lvl1pPr>
          </a:lstStyle>
          <a:p>
            <a:pPr>
              <a:defRPr/>
            </a:pPr>
            <a:r>
              <a:rPr lang="en-GB"/>
              <a:t>(c) Public IT Limited</a:t>
            </a:r>
            <a:endParaRPr lang="en-US"/>
          </a:p>
        </p:txBody>
      </p:sp>
      <p:sp>
        <p:nvSpPr>
          <p:cNvPr id="6" name="Slide Number Placeholder 17"/>
          <p:cNvSpPr>
            <a:spLocks noGrp="1"/>
          </p:cNvSpPr>
          <p:nvPr>
            <p:ph type="sldNum" sz="quarter" idx="12"/>
          </p:nvPr>
        </p:nvSpPr>
        <p:spPr/>
        <p:txBody>
          <a:bodyPr/>
          <a:lstStyle>
            <a:lvl1pPr fontAlgn="auto">
              <a:spcBef>
                <a:spcPts val="0"/>
              </a:spcBef>
              <a:spcAft>
                <a:spcPts val="0"/>
              </a:spcAft>
              <a:defRPr>
                <a:latin typeface="+mn-lt"/>
              </a:defRPr>
            </a:lvl1pPr>
          </a:lstStyle>
          <a:p>
            <a:pPr>
              <a:defRPr/>
            </a:pPr>
            <a:fld id="{7216F04B-2E82-414C-A239-304ED9DAFA0C}" type="slidenum">
              <a:rPr lang="en-US"/>
              <a:pPr>
                <a:defRPr/>
              </a:pPr>
              <a:t>‹#›</a:t>
            </a:fld>
            <a:endParaRPr lang="en-US"/>
          </a:p>
        </p:txBody>
      </p:sp>
    </p:spTree>
    <p:extLst>
      <p:ext uri="{BB962C8B-B14F-4D97-AF65-F5344CB8AC3E}">
        <p14:creationId xmlns:p14="http://schemas.microsoft.com/office/powerpoint/2010/main" val="2147683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7" name="Freeform 6"/>
          <p:cNvSpPr>
            <a:spLocks/>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lang="en-US" sz="2400">
              <a:solidFill>
                <a:prstClr val="black"/>
              </a:solidFill>
              <a:latin typeface="+mn-lt"/>
              <a:cs typeface="+mn-cs"/>
            </a:endParaRPr>
          </a:p>
        </p:txBody>
      </p:sp>
      <p:sp>
        <p:nvSpPr>
          <p:cNvPr id="8" name="Freeform 7"/>
          <p:cNvSpPr>
            <a:spLocks/>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lang="en-US" sz="2400">
              <a:solidFill>
                <a:prstClr val="black"/>
              </a:solidFill>
              <a:latin typeface="+mn-lt"/>
              <a:cs typeface="+mn-cs"/>
            </a:endParaRPr>
          </a:p>
        </p:txBody>
      </p:sp>
      <p:sp>
        <p:nvSpPr>
          <p:cNvPr id="1028" name="Title Placeholder 8"/>
          <p:cNvSpPr>
            <a:spLocks noGrp="1"/>
          </p:cNvSpPr>
          <p:nvPr>
            <p:ph type="title"/>
          </p:nvPr>
        </p:nvSpPr>
        <p:spPr bwMode="auto">
          <a:xfrm>
            <a:off x="457200" y="70485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anchor="b" anchorCtr="0" compatLnSpc="1">
            <a:prstTxWarp prst="textNoShape">
              <a:avLst/>
            </a:prstTxWarp>
          </a:bodyPr>
          <a:lstStyle/>
          <a:p>
            <a:pPr lvl="0"/>
            <a:r>
              <a:rPr lang="en-US" altLang="en-US"/>
              <a:t>Click to edit Master title style</a:t>
            </a:r>
          </a:p>
        </p:txBody>
      </p:sp>
      <p:sp>
        <p:nvSpPr>
          <p:cNvPr id="1029" name="Text Placeholder 29"/>
          <p:cNvSpPr>
            <a:spLocks noGrp="1"/>
          </p:cNvSpPr>
          <p:nvPr>
            <p:ph type="body" idx="1"/>
          </p:nvPr>
        </p:nvSpPr>
        <p:spPr bwMode="auto">
          <a:xfrm>
            <a:off x="457200" y="1935163"/>
            <a:ext cx="8229600" cy="438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rgbClr val="04617B">
                    <a:shade val="90000"/>
                  </a:srgbClr>
                </a:solidFill>
                <a:latin typeface="Times New Roman" pitchFamily="18" charset="0"/>
                <a:cs typeface="+mn-cs"/>
              </a:defRPr>
            </a:lvl1pPr>
          </a:lstStyle>
          <a:p>
            <a:pPr>
              <a:defRPr/>
            </a:pPr>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rgbClr val="04617B">
                    <a:shade val="90000"/>
                  </a:srgbClr>
                </a:solidFill>
                <a:latin typeface="Times New Roman" pitchFamily="18" charset="0"/>
                <a:cs typeface="+mn-cs"/>
              </a:defRPr>
            </a:lvl1pPr>
          </a:lstStyle>
          <a:p>
            <a:pPr>
              <a:defRPr/>
            </a:pPr>
            <a:r>
              <a:rPr lang="en-GB"/>
              <a:t>(c) Public IT Limited</a:t>
            </a:r>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rgbClr val="04617B">
                    <a:shade val="90000"/>
                  </a:srgbClr>
                </a:solidFill>
                <a:latin typeface="Times New Roman" pitchFamily="18" charset="0"/>
                <a:cs typeface="+mn-cs"/>
              </a:defRPr>
            </a:lvl1pPr>
          </a:lstStyle>
          <a:p>
            <a:pPr>
              <a:defRPr/>
            </a:pPr>
            <a:fld id="{4FC3970E-270E-47E7-B6B7-78D88A610954}" type="slidenum">
              <a:rPr lang="en-US"/>
              <a:pPr>
                <a:defRPr/>
              </a:pPr>
              <a:t>‹#›</a:t>
            </a:fld>
            <a:endParaRPr lang="en-US"/>
          </a:p>
        </p:txBody>
      </p:sp>
      <p:grpSp>
        <p:nvGrpSpPr>
          <p:cNvPr id="1033" name="Group 1"/>
          <p:cNvGrpSpPr>
            <a:grpSpLocks/>
          </p:cNvGrpSpPr>
          <p:nvPr/>
        </p:nvGrpSpPr>
        <p:grpSpPr bwMode="auto">
          <a:xfrm>
            <a:off x="-19050" y="203200"/>
            <a:ext cx="9180513" cy="647700"/>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eaLnBrk="0" hangingPunct="0">
                <a:defRPr/>
              </a:pPr>
              <a:endParaRPr lang="en-US" sz="2400">
                <a:solidFill>
                  <a:prstClr val="black"/>
                </a:solidFill>
                <a:latin typeface="Times New Roman" pitchFamily="18" charset="0"/>
                <a:cs typeface="+mn-cs"/>
              </a:endParaRPr>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eaLnBrk="0" hangingPunct="0">
                <a:defRPr/>
              </a:pPr>
              <a:endParaRPr lang="en-US" sz="2400">
                <a:solidFill>
                  <a:prstClr val="black"/>
                </a:solidFill>
                <a:latin typeface="Times New Roman" pitchFamily="18" charset="0"/>
                <a:cs typeface="+mn-cs"/>
              </a:endParaRPr>
            </a:p>
          </p:txBody>
        </p:sp>
      </p:grpSp>
    </p:spTree>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Lst>
  <p:hf sldNum="0" hdr="0" ftr="0" dt="0"/>
  <p:txStyles>
    <p:title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Calibri" pitchFamily="34" charset="0"/>
        </a:defRPr>
      </a:lvl2pPr>
      <a:lvl3pPr algn="l" rtl="0" eaLnBrk="0" fontAlgn="base" hangingPunct="0">
        <a:spcBef>
          <a:spcPct val="0"/>
        </a:spcBef>
        <a:spcAft>
          <a:spcPct val="0"/>
        </a:spcAft>
        <a:defRPr sz="5000">
          <a:solidFill>
            <a:schemeClr val="tx2"/>
          </a:solidFill>
          <a:latin typeface="Calibri" pitchFamily="34" charset="0"/>
        </a:defRPr>
      </a:lvl3pPr>
      <a:lvl4pPr algn="l" rtl="0" eaLnBrk="0" fontAlgn="base" hangingPunct="0">
        <a:spcBef>
          <a:spcPct val="0"/>
        </a:spcBef>
        <a:spcAft>
          <a:spcPct val="0"/>
        </a:spcAft>
        <a:defRPr sz="5000">
          <a:solidFill>
            <a:schemeClr val="tx2"/>
          </a:solidFill>
          <a:latin typeface="Calibri" pitchFamily="34" charset="0"/>
        </a:defRPr>
      </a:lvl4pPr>
      <a:lvl5pPr algn="l" rtl="0" eaLnBrk="0" fontAlgn="base" hangingPunct="0">
        <a:spcBef>
          <a:spcPct val="0"/>
        </a:spcBef>
        <a:spcAft>
          <a:spcPct val="0"/>
        </a:spcAft>
        <a:defRPr sz="5000">
          <a:solidFill>
            <a:schemeClr val="tx2"/>
          </a:solidFill>
          <a:latin typeface="Calibri" pitchFamily="34" charset="0"/>
        </a:defRPr>
      </a:lvl5pPr>
      <a:lvl6pPr marL="457200" algn="l" rtl="0" fontAlgn="base">
        <a:spcBef>
          <a:spcPct val="0"/>
        </a:spcBef>
        <a:spcAft>
          <a:spcPct val="0"/>
        </a:spcAft>
        <a:defRPr sz="5000">
          <a:solidFill>
            <a:schemeClr val="tx2"/>
          </a:solidFill>
          <a:latin typeface="Calibri" pitchFamily="34" charset="0"/>
        </a:defRPr>
      </a:lvl6pPr>
      <a:lvl7pPr marL="914400" algn="l" rtl="0" fontAlgn="base">
        <a:spcBef>
          <a:spcPct val="0"/>
        </a:spcBef>
        <a:spcAft>
          <a:spcPct val="0"/>
        </a:spcAft>
        <a:defRPr sz="5000">
          <a:solidFill>
            <a:schemeClr val="tx2"/>
          </a:solidFill>
          <a:latin typeface="Calibri" pitchFamily="34" charset="0"/>
        </a:defRPr>
      </a:lvl7pPr>
      <a:lvl8pPr marL="1371600" algn="l" rtl="0" fontAlgn="base">
        <a:spcBef>
          <a:spcPct val="0"/>
        </a:spcBef>
        <a:spcAft>
          <a:spcPct val="0"/>
        </a:spcAft>
        <a:defRPr sz="5000">
          <a:solidFill>
            <a:schemeClr val="tx2"/>
          </a:solidFill>
          <a:latin typeface="Calibri" pitchFamily="34" charset="0"/>
        </a:defRPr>
      </a:lvl8pPr>
      <a:lvl9pPr marL="1828800" algn="l" rtl="0" fontAlgn="base">
        <a:spcBef>
          <a:spcPct val="0"/>
        </a:spcBef>
        <a:spcAft>
          <a:spcPct val="0"/>
        </a:spcAft>
        <a:defRPr sz="5000">
          <a:solidFill>
            <a:schemeClr val="tx2"/>
          </a:solidFill>
          <a:latin typeface="Calibri" pitchFamily="34" charset="0"/>
        </a:defRPr>
      </a:lvl9pPr>
    </p:titleStyle>
    <p:body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063"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088"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Subtitle 2"/>
          <p:cNvSpPr>
            <a:spLocks noGrp="1"/>
          </p:cNvSpPr>
          <p:nvPr>
            <p:ph idx="4294967295"/>
          </p:nvPr>
        </p:nvSpPr>
        <p:spPr>
          <a:xfrm>
            <a:off x="1691680" y="2564904"/>
            <a:ext cx="5720834" cy="1584176"/>
          </a:xfrm>
        </p:spPr>
        <p:txBody>
          <a:bodyPr/>
          <a:lstStyle/>
          <a:p>
            <a:pPr marL="0" marR="0" indent="0" algn="ctr">
              <a:buNone/>
            </a:pPr>
            <a:r>
              <a:rPr lang="en-GB" altLang="en-US" sz="4000" b="1" dirty="0">
                <a:latin typeface="Arial" charset="0"/>
                <a:cs typeface="Arial" charset="0"/>
              </a:rPr>
              <a:t>EU GDPR </a:t>
            </a:r>
          </a:p>
          <a:p>
            <a:pPr marL="0" marR="0" indent="0" algn="ctr">
              <a:buNone/>
            </a:pPr>
            <a:r>
              <a:rPr lang="en-GB" altLang="en-US" sz="4000" b="1" dirty="0">
                <a:latin typeface="Arial" charset="0"/>
                <a:cs typeface="Arial" charset="0"/>
              </a:rPr>
              <a:t>Awareness Training</a:t>
            </a:r>
          </a:p>
        </p:txBody>
      </p:sp>
      <p:pic>
        <p:nvPicPr>
          <p:cNvPr id="5" name="Picture 4"/>
          <p:cNvPicPr/>
          <p:nvPr/>
        </p:nvPicPr>
        <p:blipFill>
          <a:blip r:embed="rId3">
            <a:extLst>
              <a:ext uri="{28A0092B-C50C-407E-A947-70E740481C1C}">
                <a14:useLocalDpi xmlns:a14="http://schemas.microsoft.com/office/drawing/2010/main" val="0"/>
              </a:ext>
            </a:extLst>
          </a:blip>
          <a:stretch>
            <a:fillRect/>
          </a:stretch>
        </p:blipFill>
        <p:spPr>
          <a:xfrm>
            <a:off x="3131840" y="1696228"/>
            <a:ext cx="2512060" cy="65188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457200" y="293980"/>
            <a:ext cx="8229600" cy="1143000"/>
          </a:xfrm>
        </p:spPr>
        <p:txBody>
          <a:bodyPr/>
          <a:lstStyle/>
          <a:p>
            <a:r>
              <a:rPr lang="en-GB" altLang="en-US" dirty="0"/>
              <a:t>Agenda</a:t>
            </a:r>
          </a:p>
        </p:txBody>
      </p:sp>
      <p:sp>
        <p:nvSpPr>
          <p:cNvPr id="14339" name="Content Placeholder 2"/>
          <p:cNvSpPr>
            <a:spLocks noGrp="1"/>
          </p:cNvSpPr>
          <p:nvPr>
            <p:ph idx="1"/>
          </p:nvPr>
        </p:nvSpPr>
        <p:spPr>
          <a:xfrm>
            <a:off x="457200" y="1630251"/>
            <a:ext cx="8229600" cy="4389437"/>
          </a:xfrm>
        </p:spPr>
        <p:txBody>
          <a:bodyPr/>
          <a:lstStyle/>
          <a:p>
            <a:r>
              <a:rPr lang="en-GB" altLang="en-US" dirty="0">
                <a:latin typeface="Arial" charset="0"/>
                <a:cs typeface="Arial" charset="0"/>
              </a:rPr>
              <a:t>What is the GDPR?</a:t>
            </a:r>
          </a:p>
          <a:p>
            <a:r>
              <a:rPr lang="en-GB" altLang="en-US" dirty="0">
                <a:latin typeface="Arial" charset="0"/>
                <a:cs typeface="Arial" charset="0"/>
              </a:rPr>
              <a:t>Key terms</a:t>
            </a:r>
          </a:p>
          <a:p>
            <a:r>
              <a:rPr lang="en-GB" altLang="en-US" dirty="0">
                <a:latin typeface="Arial" charset="0"/>
                <a:cs typeface="Arial" charset="0"/>
              </a:rPr>
              <a:t>The 6 privacy principles</a:t>
            </a:r>
          </a:p>
          <a:p>
            <a:r>
              <a:rPr lang="en-GB" altLang="en-US" dirty="0">
                <a:latin typeface="Arial" charset="0"/>
                <a:cs typeface="Arial" charset="0"/>
              </a:rPr>
              <a:t>How we comply with the GDPR</a:t>
            </a:r>
          </a:p>
          <a:p>
            <a:r>
              <a:rPr lang="en-GB" altLang="en-US" dirty="0">
                <a:latin typeface="Arial" charset="0"/>
                <a:cs typeface="Arial" charset="0"/>
              </a:rPr>
              <a:t>Data subject access requests</a:t>
            </a:r>
          </a:p>
          <a:p>
            <a:r>
              <a:rPr lang="en-GB" altLang="en-US" dirty="0">
                <a:latin typeface="Arial" charset="0"/>
                <a:cs typeface="Arial" charset="0"/>
              </a:rPr>
              <a:t>How you can help us stay GDPR compliant</a:t>
            </a:r>
          </a:p>
          <a:p>
            <a:r>
              <a:rPr lang="en-GB" altLang="en-US" dirty="0">
                <a:latin typeface="Arial" charset="0"/>
                <a:cs typeface="Arial" charset="0"/>
              </a:rPr>
              <a:t>Summary</a:t>
            </a:r>
          </a:p>
        </p:txBody>
      </p:sp>
      <p:pic>
        <p:nvPicPr>
          <p:cNvPr id="4" name="Picture 3"/>
          <p:cNvPicPr/>
          <p:nvPr/>
        </p:nvPicPr>
        <p:blipFill>
          <a:blip r:embed="rId3"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764704"/>
            <a:ext cx="8229600" cy="723106"/>
          </a:xfrm>
        </p:spPr>
        <p:txBody>
          <a:bodyPr/>
          <a:lstStyle/>
          <a:p>
            <a:r>
              <a:rPr lang="en-GB" sz="4000" dirty="0"/>
              <a:t>What is the GDPR?</a:t>
            </a:r>
          </a:p>
        </p:txBody>
      </p:sp>
      <p:sp>
        <p:nvSpPr>
          <p:cNvPr id="3" name="Content Placeholder 2"/>
          <p:cNvSpPr>
            <a:spLocks noGrp="1"/>
          </p:cNvSpPr>
          <p:nvPr>
            <p:ph idx="1"/>
          </p:nvPr>
        </p:nvSpPr>
        <p:spPr>
          <a:xfrm>
            <a:off x="467544" y="1700808"/>
            <a:ext cx="8229600" cy="4389437"/>
          </a:xfrm>
        </p:spPr>
        <p:txBody>
          <a:bodyPr/>
          <a:lstStyle/>
          <a:p>
            <a:r>
              <a:rPr lang="en-GB" sz="2400" dirty="0">
                <a:latin typeface="Arial" panose="020B0604020202020204" pitchFamily="34" charset="0"/>
                <a:cs typeface="Arial" panose="020B0604020202020204" pitchFamily="34" charset="0"/>
              </a:rPr>
              <a:t>The General Data Protection Regulation is a law created by the European Union</a:t>
            </a:r>
          </a:p>
          <a:p>
            <a:r>
              <a:rPr lang="en-GB" sz="2400" dirty="0">
                <a:latin typeface="Arial" panose="020B0604020202020204" pitchFamily="34" charset="0"/>
                <a:cs typeface="Arial" panose="020B0604020202020204" pitchFamily="34" charset="0"/>
              </a:rPr>
              <a:t>It is concerned with the protection of the personal data of EU citizens</a:t>
            </a:r>
          </a:p>
          <a:p>
            <a:r>
              <a:rPr lang="en-GB" sz="2400" dirty="0">
                <a:latin typeface="Arial" panose="020B0604020202020204" pitchFamily="34" charset="0"/>
                <a:cs typeface="Arial" panose="020B0604020202020204" pitchFamily="34" charset="0"/>
              </a:rPr>
              <a:t>Replaces the Data Protection Directive of 1995</a:t>
            </a:r>
          </a:p>
          <a:p>
            <a:r>
              <a:rPr lang="en-GB" sz="2400" dirty="0">
                <a:latin typeface="Arial" panose="020B0604020202020204" pitchFamily="34" charset="0"/>
                <a:cs typeface="Arial" panose="020B0604020202020204" pitchFamily="34" charset="0"/>
              </a:rPr>
              <a:t>GDPR became EU law on 25</a:t>
            </a:r>
            <a:r>
              <a:rPr lang="en-GB" sz="2400" baseline="30000" dirty="0">
                <a:latin typeface="Arial" panose="020B0604020202020204" pitchFamily="34" charset="0"/>
                <a:cs typeface="Arial" panose="020B0604020202020204" pitchFamily="34" charset="0"/>
              </a:rPr>
              <a:t>th</a:t>
            </a:r>
            <a:r>
              <a:rPr lang="en-GB" sz="2400" dirty="0">
                <a:latin typeface="Arial" panose="020B0604020202020204" pitchFamily="34" charset="0"/>
                <a:cs typeface="Arial" panose="020B0604020202020204" pitchFamily="34" charset="0"/>
              </a:rPr>
              <a:t> May 2018</a:t>
            </a:r>
          </a:p>
          <a:p>
            <a:r>
              <a:rPr lang="en-GB" sz="2400" dirty="0">
                <a:latin typeface="Arial" panose="020B0604020202020204" pitchFamily="34" charset="0"/>
                <a:cs typeface="Arial" panose="020B0604020202020204" pitchFamily="34" charset="0"/>
              </a:rPr>
              <a:t>Applies to all organisations holding data of EU citizens</a:t>
            </a:r>
          </a:p>
          <a:p>
            <a:r>
              <a:rPr lang="en-GB" sz="2400" dirty="0">
                <a:latin typeface="Arial" panose="020B0604020202020204" pitchFamily="34" charset="0"/>
                <a:cs typeface="Arial" panose="020B0604020202020204" pitchFamily="34" charset="0"/>
              </a:rPr>
              <a:t>GDPR consists of 173 recitals (guidance) and 99 articles (requirements)</a:t>
            </a:r>
          </a:p>
        </p:txBody>
      </p:sp>
      <p:pic>
        <p:nvPicPr>
          <p:cNvPr id="4" name="Picture 3"/>
          <p:cNvPicPr/>
          <p:nvPr/>
        </p:nvPicPr>
        <p:blipFill>
          <a:blip r:embed="rId3"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extLst>
      <p:ext uri="{BB962C8B-B14F-4D97-AF65-F5344CB8AC3E}">
        <p14:creationId xmlns:p14="http://schemas.microsoft.com/office/powerpoint/2010/main" val="5577972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Key terms</a:t>
            </a:r>
          </a:p>
        </p:txBody>
      </p:sp>
      <p:sp>
        <p:nvSpPr>
          <p:cNvPr id="3" name="Content Placeholder 2"/>
          <p:cNvSpPr>
            <a:spLocks noGrp="1"/>
          </p:cNvSpPr>
          <p:nvPr>
            <p:ph idx="1"/>
          </p:nvPr>
        </p:nvSpPr>
        <p:spPr/>
        <p:txBody>
          <a:bodyPr/>
          <a:lstStyle/>
          <a:p>
            <a:r>
              <a:rPr lang="en-GB" i="1" dirty="0">
                <a:latin typeface="Arial" panose="020B0604020202020204" pitchFamily="34" charset="0"/>
                <a:cs typeface="Arial" panose="020B0604020202020204" pitchFamily="34" charset="0"/>
              </a:rPr>
              <a:t>Personal data </a:t>
            </a:r>
            <a:r>
              <a:rPr lang="en-GB" dirty="0">
                <a:latin typeface="Arial" panose="020B0604020202020204" pitchFamily="34" charset="0"/>
                <a:cs typeface="Arial" panose="020B0604020202020204" pitchFamily="34" charset="0"/>
              </a:rPr>
              <a:t>means…</a:t>
            </a:r>
          </a:p>
          <a:p>
            <a:endParaRPr lang="en-GB" dirty="0">
              <a:latin typeface="Arial" panose="020B0604020202020204" pitchFamily="34" charset="0"/>
              <a:cs typeface="Arial" panose="020B0604020202020204" pitchFamily="34" charset="0"/>
            </a:endParaRPr>
          </a:p>
          <a:p>
            <a:pPr marL="0" indent="0">
              <a:buNone/>
            </a:pPr>
            <a:r>
              <a:rPr lang="en-GB" i="1" dirty="0">
                <a:latin typeface="Arial" panose="020B0604020202020204" pitchFamily="34" charset="0"/>
                <a:cs typeface="Arial" panose="020B0604020202020204" pitchFamily="34" charset="0"/>
              </a:rPr>
              <a:t>any information relating to an identified or identifiable natural person (‘data subject’)</a:t>
            </a:r>
          </a:p>
          <a:p>
            <a:endParaRPr lang="en-GB"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What personal data do </a:t>
            </a:r>
            <a:r>
              <a:rPr lang="en-GB" i="1" dirty="0">
                <a:latin typeface="Arial" panose="020B0604020202020204" pitchFamily="34" charset="0"/>
                <a:cs typeface="Arial" panose="020B0604020202020204" pitchFamily="34" charset="0"/>
              </a:rPr>
              <a:t>we</a:t>
            </a:r>
            <a:r>
              <a:rPr lang="en-GB" dirty="0">
                <a:latin typeface="Arial" panose="020B0604020202020204" pitchFamily="34" charset="0"/>
                <a:cs typeface="Arial" panose="020B0604020202020204" pitchFamily="34" charset="0"/>
              </a:rPr>
              <a:t> process?</a:t>
            </a:r>
          </a:p>
          <a:p>
            <a:endParaRPr lang="en-GB" dirty="0"/>
          </a:p>
        </p:txBody>
      </p:sp>
      <p:pic>
        <p:nvPicPr>
          <p:cNvPr id="4" name="Picture 3"/>
          <p:cNvPicPr/>
          <p:nvPr/>
        </p:nvPicPr>
        <p:blipFill>
          <a:blip r:embed="rId3"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extLst>
      <p:ext uri="{BB962C8B-B14F-4D97-AF65-F5344CB8AC3E}">
        <p14:creationId xmlns:p14="http://schemas.microsoft.com/office/powerpoint/2010/main" val="38719740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D0AB9-A3B0-4EB3-8FA3-F8BE95FB76E8}"/>
              </a:ext>
            </a:extLst>
          </p:cNvPr>
          <p:cNvSpPr>
            <a:spLocks noGrp="1"/>
          </p:cNvSpPr>
          <p:nvPr>
            <p:ph type="title"/>
          </p:nvPr>
        </p:nvSpPr>
        <p:spPr>
          <a:xfrm>
            <a:off x="457200" y="332656"/>
            <a:ext cx="8229600" cy="1143000"/>
          </a:xfrm>
        </p:spPr>
        <p:txBody>
          <a:bodyPr/>
          <a:lstStyle/>
          <a:p>
            <a:r>
              <a:rPr lang="en-GB" dirty="0"/>
              <a:t>Personal data examples</a:t>
            </a:r>
          </a:p>
        </p:txBody>
      </p:sp>
      <p:sp>
        <p:nvSpPr>
          <p:cNvPr id="3" name="Content Placeholder 2">
            <a:extLst>
              <a:ext uri="{FF2B5EF4-FFF2-40B4-BE49-F238E27FC236}">
                <a16:creationId xmlns:a16="http://schemas.microsoft.com/office/drawing/2014/main" id="{19E8DF2A-78C6-4158-AC05-C31B730A26A5}"/>
              </a:ext>
            </a:extLst>
          </p:cNvPr>
          <p:cNvSpPr>
            <a:spLocks noGrp="1"/>
          </p:cNvSpPr>
          <p:nvPr>
            <p:ph sz="half" idx="1"/>
          </p:nvPr>
        </p:nvSpPr>
        <p:spPr/>
        <p:txBody>
          <a:bodyPr/>
          <a:lstStyle/>
          <a:p>
            <a:r>
              <a:rPr lang="en-GB" sz="2400" dirty="0">
                <a:latin typeface="Arial" panose="020B0604020202020204" pitchFamily="34" charset="0"/>
                <a:cs typeface="Arial" panose="020B0604020202020204" pitchFamily="34" charset="0"/>
              </a:rPr>
              <a:t>Name</a:t>
            </a:r>
          </a:p>
          <a:p>
            <a:r>
              <a:rPr lang="en-GB" sz="2400" dirty="0">
                <a:latin typeface="Arial" panose="020B0604020202020204" pitchFamily="34" charset="0"/>
                <a:cs typeface="Arial" panose="020B0604020202020204" pitchFamily="34" charset="0"/>
              </a:rPr>
              <a:t>Address</a:t>
            </a:r>
          </a:p>
          <a:p>
            <a:r>
              <a:rPr lang="en-GB" sz="2400" dirty="0">
                <a:latin typeface="Arial" panose="020B0604020202020204" pitchFamily="34" charset="0"/>
                <a:cs typeface="Arial" panose="020B0604020202020204" pitchFamily="34" charset="0"/>
              </a:rPr>
              <a:t>Telephone number</a:t>
            </a:r>
          </a:p>
          <a:p>
            <a:r>
              <a:rPr lang="en-GB" sz="2400" dirty="0">
                <a:latin typeface="Arial" panose="020B0604020202020204" pitchFamily="34" charset="0"/>
                <a:cs typeface="Arial" panose="020B0604020202020204" pitchFamily="34" charset="0"/>
              </a:rPr>
              <a:t>Email address</a:t>
            </a:r>
          </a:p>
          <a:p>
            <a:r>
              <a:rPr lang="en-GB" sz="2400" dirty="0">
                <a:latin typeface="Arial" panose="020B0604020202020204" pitchFamily="34" charset="0"/>
                <a:cs typeface="Arial" panose="020B0604020202020204" pitchFamily="34" charset="0"/>
              </a:rPr>
              <a:t>Tax code</a:t>
            </a:r>
          </a:p>
          <a:p>
            <a:r>
              <a:rPr lang="en-GB" sz="2400" dirty="0">
                <a:latin typeface="Arial" panose="020B0604020202020204" pitchFamily="34" charset="0"/>
                <a:cs typeface="Arial" panose="020B0604020202020204" pitchFamily="34" charset="0"/>
              </a:rPr>
              <a:t>Bank details</a:t>
            </a:r>
          </a:p>
          <a:p>
            <a:r>
              <a:rPr lang="en-GB" sz="2400" dirty="0">
                <a:latin typeface="Arial" panose="020B0604020202020204" pitchFamily="34" charset="0"/>
                <a:cs typeface="Arial" panose="020B0604020202020204" pitchFamily="34" charset="0"/>
              </a:rPr>
              <a:t>Passwords</a:t>
            </a:r>
          </a:p>
          <a:p>
            <a:r>
              <a:rPr lang="en-GB" sz="2400" dirty="0">
                <a:latin typeface="Arial" panose="020B0604020202020204" pitchFamily="34" charset="0"/>
                <a:cs typeface="Arial" panose="020B0604020202020204" pitchFamily="34" charset="0"/>
              </a:rPr>
              <a:t>Driving licence</a:t>
            </a:r>
          </a:p>
          <a:p>
            <a:r>
              <a:rPr lang="en-GB" sz="2400" dirty="0">
                <a:latin typeface="Arial" panose="020B0604020202020204" pitchFamily="34" charset="0"/>
                <a:cs typeface="Arial" panose="020B0604020202020204" pitchFamily="34" charset="0"/>
              </a:rPr>
              <a:t>Passport number</a:t>
            </a:r>
          </a:p>
        </p:txBody>
      </p:sp>
      <p:sp>
        <p:nvSpPr>
          <p:cNvPr id="4" name="Content Placeholder 3">
            <a:extLst>
              <a:ext uri="{FF2B5EF4-FFF2-40B4-BE49-F238E27FC236}">
                <a16:creationId xmlns:a16="http://schemas.microsoft.com/office/drawing/2014/main" id="{9E3E13F7-BC1F-42E2-B43D-4AFE6A6DFE48}"/>
              </a:ext>
            </a:extLst>
          </p:cNvPr>
          <p:cNvSpPr>
            <a:spLocks noGrp="1"/>
          </p:cNvSpPr>
          <p:nvPr>
            <p:ph sz="half" idx="2"/>
          </p:nvPr>
        </p:nvSpPr>
        <p:spPr/>
        <p:txBody>
          <a:bodyPr/>
          <a:lstStyle/>
          <a:p>
            <a:r>
              <a:rPr lang="en-GB" sz="2400" dirty="0">
                <a:latin typeface="Arial" panose="020B0604020202020204" pitchFamily="34" charset="0"/>
                <a:cs typeface="Arial" panose="020B0604020202020204" pitchFamily="34" charset="0"/>
              </a:rPr>
              <a:t>Purchase history</a:t>
            </a:r>
          </a:p>
          <a:p>
            <a:r>
              <a:rPr lang="en-GB" sz="2400" dirty="0">
                <a:latin typeface="Arial" panose="020B0604020202020204" pitchFamily="34" charset="0"/>
                <a:cs typeface="Arial" panose="020B0604020202020204" pitchFamily="34" charset="0"/>
              </a:rPr>
              <a:t>Location</a:t>
            </a:r>
          </a:p>
          <a:p>
            <a:r>
              <a:rPr lang="en-GB" sz="2400" dirty="0">
                <a:latin typeface="Arial" panose="020B0604020202020204" pitchFamily="34" charset="0"/>
                <a:cs typeface="Arial" panose="020B0604020202020204" pitchFamily="34" charset="0"/>
              </a:rPr>
              <a:t>IP address</a:t>
            </a:r>
          </a:p>
          <a:p>
            <a:r>
              <a:rPr lang="en-GB" sz="2400" dirty="0">
                <a:latin typeface="Arial" panose="020B0604020202020204" pitchFamily="34" charset="0"/>
                <a:cs typeface="Arial" panose="020B0604020202020204" pitchFamily="34" charset="0"/>
              </a:rPr>
              <a:t>Mobile phone serial number</a:t>
            </a:r>
          </a:p>
          <a:p>
            <a:r>
              <a:rPr lang="en-GB" sz="2400" dirty="0">
                <a:latin typeface="Arial" panose="020B0604020202020204" pitchFamily="34" charset="0"/>
                <a:cs typeface="Arial" panose="020B0604020202020204" pitchFamily="34" charset="0"/>
              </a:rPr>
              <a:t>Investments</a:t>
            </a:r>
          </a:p>
          <a:p>
            <a:r>
              <a:rPr lang="en-GB" sz="2400" dirty="0">
                <a:latin typeface="Arial" panose="020B0604020202020204" pitchFamily="34" charset="0"/>
                <a:cs typeface="Arial" panose="020B0604020202020204" pitchFamily="34" charset="0"/>
              </a:rPr>
              <a:t>Date of birth</a:t>
            </a:r>
          </a:p>
          <a:p>
            <a:r>
              <a:rPr lang="en-GB" sz="2400" dirty="0">
                <a:latin typeface="Arial" panose="020B0604020202020204" pitchFamily="34" charset="0"/>
                <a:cs typeface="Arial" panose="020B0604020202020204" pitchFamily="34" charset="0"/>
              </a:rPr>
              <a:t>Marital status</a:t>
            </a:r>
          </a:p>
          <a:p>
            <a:endParaRPr lang="en-GB" dirty="0"/>
          </a:p>
        </p:txBody>
      </p:sp>
      <p:pic>
        <p:nvPicPr>
          <p:cNvPr id="5" name="Picture 4">
            <a:extLst>
              <a:ext uri="{FF2B5EF4-FFF2-40B4-BE49-F238E27FC236}">
                <a16:creationId xmlns:a16="http://schemas.microsoft.com/office/drawing/2014/main" id="{D1D5E137-B7E4-44DA-996E-CBF1DEBB450C}"/>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extLst>
      <p:ext uri="{BB962C8B-B14F-4D97-AF65-F5344CB8AC3E}">
        <p14:creationId xmlns:p14="http://schemas.microsoft.com/office/powerpoint/2010/main" val="17123537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0EFC5-43BE-4752-8E75-6A8A0AC6DB02}"/>
              </a:ext>
            </a:extLst>
          </p:cNvPr>
          <p:cNvSpPr>
            <a:spLocks noGrp="1"/>
          </p:cNvSpPr>
          <p:nvPr>
            <p:ph type="title"/>
          </p:nvPr>
        </p:nvSpPr>
        <p:spPr>
          <a:xfrm>
            <a:off x="457200" y="332656"/>
            <a:ext cx="8229600" cy="1143000"/>
          </a:xfrm>
        </p:spPr>
        <p:txBody>
          <a:bodyPr/>
          <a:lstStyle/>
          <a:p>
            <a:r>
              <a:rPr lang="en-GB" sz="4400" dirty="0"/>
              <a:t>Special categories of personal data</a:t>
            </a:r>
          </a:p>
        </p:txBody>
      </p:sp>
      <p:sp>
        <p:nvSpPr>
          <p:cNvPr id="3" name="Content Placeholder 2">
            <a:extLst>
              <a:ext uri="{FF2B5EF4-FFF2-40B4-BE49-F238E27FC236}">
                <a16:creationId xmlns:a16="http://schemas.microsoft.com/office/drawing/2014/main" id="{CF658DCF-7109-4C64-87CE-389536A9FE98}"/>
              </a:ext>
            </a:extLst>
          </p:cNvPr>
          <p:cNvSpPr>
            <a:spLocks noGrp="1"/>
          </p:cNvSpPr>
          <p:nvPr>
            <p:ph sz="half" idx="1"/>
          </p:nvPr>
        </p:nvSpPr>
        <p:spPr>
          <a:xfrm>
            <a:off x="457200" y="1920085"/>
            <a:ext cx="5194920" cy="4434840"/>
          </a:xfrm>
        </p:spPr>
        <p:txBody>
          <a:bodyPr/>
          <a:lstStyle/>
          <a:p>
            <a:r>
              <a:rPr lang="en-GB" sz="2400" dirty="0">
                <a:latin typeface="Arial" panose="020B0604020202020204" pitchFamily="34" charset="0"/>
                <a:cs typeface="Arial" panose="020B0604020202020204" pitchFamily="34" charset="0"/>
              </a:rPr>
              <a:t>Racial or ethnic origin</a:t>
            </a:r>
          </a:p>
          <a:p>
            <a:r>
              <a:rPr lang="en-GB" sz="2400" dirty="0">
                <a:latin typeface="Arial" panose="020B0604020202020204" pitchFamily="34" charset="0"/>
                <a:cs typeface="Arial" panose="020B0604020202020204" pitchFamily="34" charset="0"/>
              </a:rPr>
              <a:t>Political opinions</a:t>
            </a:r>
          </a:p>
          <a:p>
            <a:r>
              <a:rPr lang="en-GB" sz="2400" dirty="0">
                <a:latin typeface="Arial" panose="020B0604020202020204" pitchFamily="34" charset="0"/>
                <a:cs typeface="Arial" panose="020B0604020202020204" pitchFamily="34" charset="0"/>
              </a:rPr>
              <a:t>Religious or philosophical beliefs</a:t>
            </a:r>
          </a:p>
          <a:p>
            <a:r>
              <a:rPr lang="en-GB" sz="2400" dirty="0">
                <a:latin typeface="Arial" panose="020B0604020202020204" pitchFamily="34" charset="0"/>
                <a:cs typeface="Arial" panose="020B0604020202020204" pitchFamily="34" charset="0"/>
              </a:rPr>
              <a:t>Trade union membership</a:t>
            </a:r>
          </a:p>
          <a:p>
            <a:r>
              <a:rPr lang="en-GB" sz="2400" dirty="0">
                <a:latin typeface="Arial" panose="020B0604020202020204" pitchFamily="34" charset="0"/>
                <a:cs typeface="Arial" panose="020B0604020202020204" pitchFamily="34" charset="0"/>
              </a:rPr>
              <a:t>Genetic data</a:t>
            </a:r>
          </a:p>
          <a:p>
            <a:r>
              <a:rPr lang="en-GB" sz="2400" dirty="0">
                <a:latin typeface="Arial" panose="020B0604020202020204" pitchFamily="34" charset="0"/>
                <a:cs typeface="Arial" panose="020B0604020202020204" pitchFamily="34" charset="0"/>
              </a:rPr>
              <a:t>Biometric data</a:t>
            </a:r>
          </a:p>
          <a:p>
            <a:r>
              <a:rPr lang="en-GB" sz="2400" dirty="0">
                <a:latin typeface="Arial" panose="020B0604020202020204" pitchFamily="34" charset="0"/>
                <a:cs typeface="Arial" panose="020B0604020202020204" pitchFamily="34" charset="0"/>
              </a:rPr>
              <a:t>Health data</a:t>
            </a:r>
          </a:p>
          <a:p>
            <a:r>
              <a:rPr lang="en-GB" sz="2400" dirty="0">
                <a:latin typeface="Arial" panose="020B0604020202020204" pitchFamily="34" charset="0"/>
                <a:cs typeface="Arial" panose="020B0604020202020204" pitchFamily="34" charset="0"/>
              </a:rPr>
              <a:t>Data concerning sex life</a:t>
            </a:r>
          </a:p>
          <a:p>
            <a:r>
              <a:rPr lang="en-GB" sz="2400" dirty="0">
                <a:latin typeface="Arial" panose="020B0604020202020204" pitchFamily="34" charset="0"/>
                <a:cs typeface="Arial" panose="020B0604020202020204" pitchFamily="34" charset="0"/>
              </a:rPr>
              <a:t>Sexual orientation</a:t>
            </a:r>
          </a:p>
        </p:txBody>
      </p:sp>
      <p:sp>
        <p:nvSpPr>
          <p:cNvPr id="4" name="Content Placeholder 3">
            <a:extLst>
              <a:ext uri="{FF2B5EF4-FFF2-40B4-BE49-F238E27FC236}">
                <a16:creationId xmlns:a16="http://schemas.microsoft.com/office/drawing/2014/main" id="{71DDF4E7-2F08-462B-B316-C2AFEE594326}"/>
              </a:ext>
            </a:extLst>
          </p:cNvPr>
          <p:cNvSpPr>
            <a:spLocks noGrp="1"/>
          </p:cNvSpPr>
          <p:nvPr>
            <p:ph sz="half" idx="2"/>
          </p:nvPr>
        </p:nvSpPr>
        <p:spPr>
          <a:xfrm>
            <a:off x="5652120" y="3861047"/>
            <a:ext cx="3034680" cy="2493877"/>
          </a:xfrm>
        </p:spPr>
        <p:txBody>
          <a:bodyPr/>
          <a:lstStyle/>
          <a:p>
            <a:r>
              <a:rPr lang="en-GB" sz="2400" dirty="0">
                <a:latin typeface="Arial" panose="020B0604020202020204" pitchFamily="34" charset="0"/>
                <a:cs typeface="Arial" panose="020B0604020202020204" pitchFamily="34" charset="0"/>
              </a:rPr>
              <a:t>What special category personal data do </a:t>
            </a:r>
            <a:r>
              <a:rPr lang="en-GB" sz="2400" i="1" dirty="0">
                <a:latin typeface="Arial" panose="020B0604020202020204" pitchFamily="34" charset="0"/>
                <a:cs typeface="Arial" panose="020B0604020202020204" pitchFamily="34" charset="0"/>
              </a:rPr>
              <a:t>we</a:t>
            </a:r>
            <a:r>
              <a:rPr lang="en-GB" sz="2400" dirty="0">
                <a:latin typeface="Arial" panose="020B0604020202020204" pitchFamily="34" charset="0"/>
                <a:cs typeface="Arial" panose="020B0604020202020204" pitchFamily="34" charset="0"/>
              </a:rPr>
              <a:t> process?</a:t>
            </a:r>
          </a:p>
        </p:txBody>
      </p:sp>
      <p:pic>
        <p:nvPicPr>
          <p:cNvPr id="5" name="Picture 4">
            <a:extLst>
              <a:ext uri="{FF2B5EF4-FFF2-40B4-BE49-F238E27FC236}">
                <a16:creationId xmlns:a16="http://schemas.microsoft.com/office/drawing/2014/main" id="{D941C4DA-E7CB-4C62-A070-4BB1CEC1D3AA}"/>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extLst>
      <p:ext uri="{BB962C8B-B14F-4D97-AF65-F5344CB8AC3E}">
        <p14:creationId xmlns:p14="http://schemas.microsoft.com/office/powerpoint/2010/main" val="30166985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Key terms</a:t>
            </a:r>
          </a:p>
        </p:txBody>
      </p:sp>
      <p:sp>
        <p:nvSpPr>
          <p:cNvPr id="3" name="Content Placeholder 2"/>
          <p:cNvSpPr>
            <a:spLocks noGrp="1"/>
          </p:cNvSpPr>
          <p:nvPr>
            <p:ph idx="1"/>
          </p:nvPr>
        </p:nvSpPr>
        <p:spPr/>
        <p:txBody>
          <a:bodyPr/>
          <a:lstStyle/>
          <a:p>
            <a:r>
              <a:rPr lang="en-GB" i="1" dirty="0">
                <a:latin typeface="Arial" panose="020B0604020202020204" pitchFamily="34" charset="0"/>
                <a:cs typeface="Arial" panose="020B0604020202020204" pitchFamily="34" charset="0"/>
              </a:rPr>
              <a:t>Processing</a:t>
            </a:r>
            <a:r>
              <a:rPr lang="en-GB" dirty="0">
                <a:latin typeface="Arial" panose="020B0604020202020204" pitchFamily="34" charset="0"/>
                <a:cs typeface="Arial" panose="020B0604020202020204" pitchFamily="34" charset="0"/>
              </a:rPr>
              <a:t> means…</a:t>
            </a:r>
          </a:p>
          <a:p>
            <a:endParaRPr lang="en-GB" dirty="0">
              <a:latin typeface="Arial" panose="020B0604020202020204" pitchFamily="34" charset="0"/>
              <a:cs typeface="Arial" panose="020B0604020202020204" pitchFamily="34" charset="0"/>
            </a:endParaRPr>
          </a:p>
          <a:p>
            <a:pPr marL="0" indent="0">
              <a:buNone/>
            </a:pPr>
            <a:r>
              <a:rPr lang="en-GB" sz="2400" i="1" dirty="0">
                <a:latin typeface="Arial" panose="020B0604020202020204" pitchFamily="34" charset="0"/>
                <a:cs typeface="Arial" panose="020B0604020202020204" pitchFamily="34" charset="0"/>
              </a:rPr>
              <a:t>any operation or set of operations which is performed on personal data or on sets of personal data, whether or not by automated means, such as collection, recording, organisation, structuring, storage, adaptation or alteration, retrieval, consultation, use, disclosure by transmission, dissemination or otherwise making available, alignment or combination, restriction, erasure or destruction</a:t>
            </a:r>
          </a:p>
        </p:txBody>
      </p:sp>
      <p:pic>
        <p:nvPicPr>
          <p:cNvPr id="4" name="Picture 3"/>
          <p:cNvPicPr/>
          <p:nvPr/>
        </p:nvPicPr>
        <p:blipFill>
          <a:blip r:embed="rId3"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extLst>
      <p:ext uri="{BB962C8B-B14F-4D97-AF65-F5344CB8AC3E}">
        <p14:creationId xmlns:p14="http://schemas.microsoft.com/office/powerpoint/2010/main" val="42880193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29AC1-4A6E-49E2-86FB-386821202EB4}"/>
              </a:ext>
            </a:extLst>
          </p:cNvPr>
          <p:cNvSpPr>
            <a:spLocks noGrp="1"/>
          </p:cNvSpPr>
          <p:nvPr>
            <p:ph type="title"/>
          </p:nvPr>
        </p:nvSpPr>
        <p:spPr>
          <a:xfrm>
            <a:off x="457200" y="332656"/>
            <a:ext cx="8229600" cy="1143000"/>
          </a:xfrm>
        </p:spPr>
        <p:txBody>
          <a:bodyPr/>
          <a:lstStyle/>
          <a:p>
            <a:r>
              <a:rPr lang="en-GB" dirty="0"/>
              <a:t>Examples of processing</a:t>
            </a:r>
          </a:p>
        </p:txBody>
      </p:sp>
      <p:sp>
        <p:nvSpPr>
          <p:cNvPr id="3" name="Content Placeholder 2">
            <a:extLst>
              <a:ext uri="{FF2B5EF4-FFF2-40B4-BE49-F238E27FC236}">
                <a16:creationId xmlns:a16="http://schemas.microsoft.com/office/drawing/2014/main" id="{4222E599-6D10-4EC4-A549-12615F7CC425}"/>
              </a:ext>
            </a:extLst>
          </p:cNvPr>
          <p:cNvSpPr>
            <a:spLocks noGrp="1"/>
          </p:cNvSpPr>
          <p:nvPr>
            <p:ph idx="1"/>
          </p:nvPr>
        </p:nvSpPr>
        <p:spPr/>
        <p:txBody>
          <a:bodyPr/>
          <a:lstStyle/>
          <a:p>
            <a:r>
              <a:rPr lang="en-GB" dirty="0">
                <a:latin typeface="Arial" panose="020B0604020202020204" pitchFamily="34" charset="0"/>
                <a:cs typeface="Arial" panose="020B0604020202020204" pitchFamily="34" charset="0"/>
              </a:rPr>
              <a:t>Taking an order from a customer</a:t>
            </a:r>
          </a:p>
          <a:p>
            <a:r>
              <a:rPr lang="en-GB" dirty="0">
                <a:latin typeface="Arial" panose="020B0604020202020204" pitchFamily="34" charset="0"/>
                <a:cs typeface="Arial" panose="020B0604020202020204" pitchFamily="34" charset="0"/>
              </a:rPr>
              <a:t>Arranging delivery of goods</a:t>
            </a:r>
          </a:p>
          <a:p>
            <a:r>
              <a:rPr lang="en-GB" dirty="0">
                <a:latin typeface="Arial" panose="020B0604020202020204" pitchFamily="34" charset="0"/>
                <a:cs typeface="Arial" panose="020B0604020202020204" pitchFamily="34" charset="0"/>
              </a:rPr>
              <a:t>Employee payroll</a:t>
            </a:r>
          </a:p>
          <a:p>
            <a:r>
              <a:rPr lang="en-GB" dirty="0">
                <a:latin typeface="Arial" panose="020B0604020202020204" pitchFamily="34" charset="0"/>
                <a:cs typeface="Arial" panose="020B0604020202020204" pitchFamily="34" charset="0"/>
              </a:rPr>
              <a:t>Recording CCTV</a:t>
            </a:r>
          </a:p>
          <a:p>
            <a:r>
              <a:rPr lang="en-GB" dirty="0">
                <a:latin typeface="Arial" panose="020B0604020202020204" pitchFamily="34" charset="0"/>
                <a:cs typeface="Arial" panose="020B0604020202020204" pitchFamily="34" charset="0"/>
              </a:rPr>
              <a:t>Sending marketing emails</a:t>
            </a:r>
          </a:p>
          <a:p>
            <a:r>
              <a:rPr lang="en-GB" dirty="0">
                <a:latin typeface="Arial" panose="020B0604020202020204" pitchFamily="34" charset="0"/>
                <a:cs typeface="Arial" panose="020B0604020202020204" pitchFamily="34" charset="0"/>
              </a:rPr>
              <a:t>Recording details in a CRM system</a:t>
            </a:r>
          </a:p>
          <a:p>
            <a:r>
              <a:rPr lang="en-GB" dirty="0">
                <a:latin typeface="Arial" panose="020B0604020202020204" pitchFamily="34" charset="0"/>
                <a:cs typeface="Arial" panose="020B0604020202020204" pitchFamily="34" charset="0"/>
              </a:rPr>
              <a:t>Keeping training records</a:t>
            </a:r>
          </a:p>
          <a:p>
            <a:r>
              <a:rPr lang="en-GB" dirty="0">
                <a:latin typeface="Arial" panose="020B0604020202020204" pitchFamily="34" charset="0"/>
                <a:cs typeface="Arial" panose="020B0604020202020204" pitchFamily="34" charset="0"/>
              </a:rPr>
              <a:t>Answering customer enquiries</a:t>
            </a:r>
          </a:p>
          <a:p>
            <a:endParaRPr lang="en-GB" dirty="0"/>
          </a:p>
          <a:p>
            <a:endParaRPr lang="en-GB" dirty="0"/>
          </a:p>
          <a:p>
            <a:endParaRPr lang="en-GB" dirty="0"/>
          </a:p>
          <a:p>
            <a:endParaRPr lang="en-GB" dirty="0"/>
          </a:p>
          <a:p>
            <a:endParaRPr lang="en-GB" dirty="0"/>
          </a:p>
        </p:txBody>
      </p:sp>
      <p:pic>
        <p:nvPicPr>
          <p:cNvPr id="4" name="Picture 3">
            <a:extLst>
              <a:ext uri="{FF2B5EF4-FFF2-40B4-BE49-F238E27FC236}">
                <a16:creationId xmlns:a16="http://schemas.microsoft.com/office/drawing/2014/main" id="{786AD119-F513-4790-8AB9-E5D701FFE1F6}"/>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extLst>
      <p:ext uri="{BB962C8B-B14F-4D97-AF65-F5344CB8AC3E}">
        <p14:creationId xmlns:p14="http://schemas.microsoft.com/office/powerpoint/2010/main" val="1914718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Key terms</a:t>
            </a:r>
          </a:p>
        </p:txBody>
      </p:sp>
      <p:sp>
        <p:nvSpPr>
          <p:cNvPr id="3" name="Content Placeholder 2"/>
          <p:cNvSpPr>
            <a:spLocks noGrp="1"/>
          </p:cNvSpPr>
          <p:nvPr>
            <p:ph idx="1"/>
          </p:nvPr>
        </p:nvSpPr>
        <p:spPr/>
        <p:txBody>
          <a:bodyPr/>
          <a:lstStyle/>
          <a:p>
            <a:r>
              <a:rPr lang="en-GB" i="1" dirty="0">
                <a:latin typeface="Arial" panose="020B0604020202020204" pitchFamily="34" charset="0"/>
                <a:cs typeface="Arial" panose="020B0604020202020204" pitchFamily="34" charset="0"/>
              </a:rPr>
              <a:t>Controller</a:t>
            </a:r>
            <a:r>
              <a:rPr lang="en-GB" dirty="0">
                <a:latin typeface="Arial" panose="020B0604020202020204" pitchFamily="34" charset="0"/>
                <a:cs typeface="Arial" panose="020B0604020202020204" pitchFamily="34" charset="0"/>
              </a:rPr>
              <a:t> means…</a:t>
            </a:r>
          </a:p>
          <a:p>
            <a:endParaRPr lang="en-GB" dirty="0">
              <a:latin typeface="Arial" panose="020B0604020202020204" pitchFamily="34" charset="0"/>
              <a:cs typeface="Arial" panose="020B0604020202020204" pitchFamily="34" charset="0"/>
            </a:endParaRPr>
          </a:p>
          <a:p>
            <a:pPr marL="0" indent="0">
              <a:buNone/>
            </a:pPr>
            <a:r>
              <a:rPr lang="en-GB" sz="2400" i="1" dirty="0">
                <a:latin typeface="Arial" panose="020B0604020202020204" pitchFamily="34" charset="0"/>
                <a:cs typeface="Arial" panose="020B0604020202020204" pitchFamily="34" charset="0"/>
              </a:rPr>
              <a:t>the natural or legal person, public authority, agency or other body which, alone or jointly with others, determines the purposes and means of the processing of personal data</a:t>
            </a:r>
          </a:p>
          <a:p>
            <a:pPr marL="0" indent="0">
              <a:buNone/>
            </a:pPr>
            <a:endParaRPr lang="en-GB"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In which areas do </a:t>
            </a:r>
            <a:r>
              <a:rPr lang="en-GB" i="1" dirty="0">
                <a:latin typeface="Arial" panose="020B0604020202020204" pitchFamily="34" charset="0"/>
                <a:cs typeface="Arial" panose="020B0604020202020204" pitchFamily="34" charset="0"/>
              </a:rPr>
              <a:t>we</a:t>
            </a:r>
            <a:r>
              <a:rPr lang="en-GB" dirty="0">
                <a:latin typeface="Arial" panose="020B0604020202020204" pitchFamily="34" charset="0"/>
                <a:cs typeface="Arial" panose="020B0604020202020204" pitchFamily="34" charset="0"/>
              </a:rPr>
              <a:t> act as a controller?</a:t>
            </a:r>
          </a:p>
        </p:txBody>
      </p:sp>
      <p:pic>
        <p:nvPicPr>
          <p:cNvPr id="4" name="Picture 3"/>
          <p:cNvPicPr/>
          <p:nvPr/>
        </p:nvPicPr>
        <p:blipFill>
          <a:blip r:embed="rId3"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extLst>
      <p:ext uri="{BB962C8B-B14F-4D97-AF65-F5344CB8AC3E}">
        <p14:creationId xmlns:p14="http://schemas.microsoft.com/office/powerpoint/2010/main" val="10772362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Key terms</a:t>
            </a:r>
          </a:p>
        </p:txBody>
      </p:sp>
      <p:sp>
        <p:nvSpPr>
          <p:cNvPr id="3" name="Content Placeholder 2"/>
          <p:cNvSpPr>
            <a:spLocks noGrp="1"/>
          </p:cNvSpPr>
          <p:nvPr>
            <p:ph idx="1"/>
          </p:nvPr>
        </p:nvSpPr>
        <p:spPr/>
        <p:txBody>
          <a:bodyPr/>
          <a:lstStyle/>
          <a:p>
            <a:r>
              <a:rPr lang="en-GB" i="1" dirty="0">
                <a:latin typeface="Arial" panose="020B0604020202020204" pitchFamily="34" charset="0"/>
                <a:cs typeface="Arial" panose="020B0604020202020204" pitchFamily="34" charset="0"/>
              </a:rPr>
              <a:t>Processor</a:t>
            </a:r>
            <a:r>
              <a:rPr lang="en-GB" dirty="0">
                <a:latin typeface="Arial" panose="020B0604020202020204" pitchFamily="34" charset="0"/>
                <a:cs typeface="Arial" panose="020B0604020202020204" pitchFamily="34" charset="0"/>
              </a:rPr>
              <a:t> means…</a:t>
            </a:r>
          </a:p>
          <a:p>
            <a:endParaRPr lang="en-GB" dirty="0">
              <a:latin typeface="Arial" panose="020B0604020202020204" pitchFamily="34" charset="0"/>
              <a:cs typeface="Arial" panose="020B0604020202020204" pitchFamily="34" charset="0"/>
            </a:endParaRPr>
          </a:p>
          <a:p>
            <a:pPr marL="0" indent="0">
              <a:buNone/>
            </a:pPr>
            <a:r>
              <a:rPr lang="en-GB" sz="2400" i="1" dirty="0">
                <a:latin typeface="Arial" panose="020B0604020202020204" pitchFamily="34" charset="0"/>
                <a:cs typeface="Arial" panose="020B0604020202020204" pitchFamily="34" charset="0"/>
              </a:rPr>
              <a:t>a natural or legal person, public authority, agency or other body which processes personal data on behalf of the controller</a:t>
            </a:r>
          </a:p>
          <a:p>
            <a:pPr marL="0" indent="0">
              <a:buNone/>
            </a:pPr>
            <a:endParaRPr lang="en-GB"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In which areas do </a:t>
            </a:r>
            <a:r>
              <a:rPr lang="en-GB" i="1" dirty="0">
                <a:latin typeface="Arial" panose="020B0604020202020204" pitchFamily="34" charset="0"/>
                <a:cs typeface="Arial" panose="020B0604020202020204" pitchFamily="34" charset="0"/>
              </a:rPr>
              <a:t>we</a:t>
            </a:r>
            <a:r>
              <a:rPr lang="en-GB" dirty="0">
                <a:latin typeface="Arial" panose="020B0604020202020204" pitchFamily="34" charset="0"/>
                <a:cs typeface="Arial" panose="020B0604020202020204" pitchFamily="34" charset="0"/>
              </a:rPr>
              <a:t> act as a processor?</a:t>
            </a:r>
          </a:p>
        </p:txBody>
      </p:sp>
      <p:pic>
        <p:nvPicPr>
          <p:cNvPr id="4" name="Picture 3"/>
          <p:cNvPicPr/>
          <p:nvPr/>
        </p:nvPicPr>
        <p:blipFill>
          <a:blip r:embed="rId3"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extLst>
      <p:ext uri="{BB962C8B-B14F-4D97-AF65-F5344CB8AC3E}">
        <p14:creationId xmlns:p14="http://schemas.microsoft.com/office/powerpoint/2010/main" val="36266643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6 privacy principles</a:t>
            </a:r>
          </a:p>
        </p:txBody>
      </p:sp>
      <p:sp>
        <p:nvSpPr>
          <p:cNvPr id="3" name="Content Placeholder 2"/>
          <p:cNvSpPr>
            <a:spLocks noGrp="1"/>
          </p:cNvSpPr>
          <p:nvPr>
            <p:ph idx="1"/>
          </p:nvPr>
        </p:nvSpPr>
        <p:spPr/>
        <p:txBody>
          <a:bodyPr/>
          <a:lstStyle/>
          <a:p>
            <a:pPr marL="514350" indent="-514350">
              <a:buFont typeface="+mj-lt"/>
              <a:buAutoNum type="arabicPeriod"/>
            </a:pPr>
            <a:r>
              <a:rPr lang="en-GB" dirty="0">
                <a:latin typeface="Arial" panose="020B0604020202020204" pitchFamily="34" charset="0"/>
                <a:cs typeface="Arial" panose="020B0604020202020204" pitchFamily="34" charset="0"/>
              </a:rPr>
              <a:t>Lawfulness, fairness and transparency</a:t>
            </a:r>
          </a:p>
          <a:p>
            <a:pPr marL="514350" indent="-514350">
              <a:buFont typeface="+mj-lt"/>
              <a:buAutoNum type="arabicPeriod"/>
            </a:pPr>
            <a:r>
              <a:rPr lang="en-GB" dirty="0">
                <a:latin typeface="Arial" panose="020B0604020202020204" pitchFamily="34" charset="0"/>
                <a:cs typeface="Arial" panose="020B0604020202020204" pitchFamily="34" charset="0"/>
              </a:rPr>
              <a:t>Purpose limitation</a:t>
            </a:r>
          </a:p>
          <a:p>
            <a:pPr marL="514350" indent="-514350">
              <a:buFont typeface="+mj-lt"/>
              <a:buAutoNum type="arabicPeriod"/>
            </a:pPr>
            <a:r>
              <a:rPr lang="en-GB" dirty="0">
                <a:latin typeface="Arial" panose="020B0604020202020204" pitchFamily="34" charset="0"/>
                <a:cs typeface="Arial" panose="020B0604020202020204" pitchFamily="34" charset="0"/>
              </a:rPr>
              <a:t>Data minimisation</a:t>
            </a:r>
          </a:p>
          <a:p>
            <a:pPr marL="514350" indent="-514350">
              <a:buFont typeface="+mj-lt"/>
              <a:buAutoNum type="arabicPeriod"/>
            </a:pPr>
            <a:r>
              <a:rPr lang="en-GB" dirty="0">
                <a:latin typeface="Arial" panose="020B0604020202020204" pitchFamily="34" charset="0"/>
                <a:cs typeface="Arial" panose="020B0604020202020204" pitchFamily="34" charset="0"/>
              </a:rPr>
              <a:t>Accuracy </a:t>
            </a:r>
          </a:p>
          <a:p>
            <a:pPr marL="514350" indent="-514350">
              <a:buFont typeface="+mj-lt"/>
              <a:buAutoNum type="arabicPeriod"/>
            </a:pPr>
            <a:r>
              <a:rPr lang="en-GB" dirty="0">
                <a:latin typeface="Arial" panose="020B0604020202020204" pitchFamily="34" charset="0"/>
                <a:cs typeface="Arial" panose="020B0604020202020204" pitchFamily="34" charset="0"/>
              </a:rPr>
              <a:t>Storage limitation</a:t>
            </a:r>
          </a:p>
          <a:p>
            <a:pPr marL="514350" indent="-514350">
              <a:buFont typeface="+mj-lt"/>
              <a:buAutoNum type="arabicPeriod"/>
            </a:pPr>
            <a:r>
              <a:rPr lang="en-GB" dirty="0">
                <a:latin typeface="Arial" panose="020B0604020202020204" pitchFamily="34" charset="0"/>
                <a:cs typeface="Arial" panose="020B0604020202020204" pitchFamily="34" charset="0"/>
              </a:rPr>
              <a:t>Integrity and confidentiality</a:t>
            </a:r>
          </a:p>
          <a:p>
            <a:endParaRPr lang="en-GB"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Supported by the further principle of </a:t>
            </a:r>
            <a:r>
              <a:rPr lang="en-GB" i="1" dirty="0">
                <a:latin typeface="Arial" panose="020B0604020202020204" pitchFamily="34" charset="0"/>
                <a:cs typeface="Arial" panose="020B0604020202020204" pitchFamily="34" charset="0"/>
              </a:rPr>
              <a:t>accountability</a:t>
            </a:r>
          </a:p>
        </p:txBody>
      </p:sp>
      <p:pic>
        <p:nvPicPr>
          <p:cNvPr id="4" name="Picture 3"/>
          <p:cNvPicPr/>
          <p:nvPr/>
        </p:nvPicPr>
        <p:blipFill>
          <a:blip r:embed="rId3"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extLst>
      <p:ext uri="{BB962C8B-B14F-4D97-AF65-F5344CB8AC3E}">
        <p14:creationId xmlns:p14="http://schemas.microsoft.com/office/powerpoint/2010/main" val="25888279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87455-7C72-47BE-B03D-2F0A73525953}"/>
              </a:ext>
            </a:extLst>
          </p:cNvPr>
          <p:cNvSpPr>
            <a:spLocks noGrp="1"/>
          </p:cNvSpPr>
          <p:nvPr>
            <p:ph type="title"/>
          </p:nvPr>
        </p:nvSpPr>
        <p:spPr>
          <a:xfrm>
            <a:off x="457200" y="404664"/>
            <a:ext cx="8229600" cy="1143000"/>
          </a:xfrm>
        </p:spPr>
        <p:txBody>
          <a:bodyPr/>
          <a:lstStyle/>
          <a:p>
            <a:r>
              <a:rPr lang="en-GB" dirty="0"/>
              <a:t>How we comply with the GDPR</a:t>
            </a:r>
          </a:p>
        </p:txBody>
      </p:sp>
      <p:sp>
        <p:nvSpPr>
          <p:cNvPr id="3" name="Content Placeholder 2">
            <a:extLst>
              <a:ext uri="{FF2B5EF4-FFF2-40B4-BE49-F238E27FC236}">
                <a16:creationId xmlns:a16="http://schemas.microsoft.com/office/drawing/2014/main" id="{682C2FDE-9456-495B-B738-52C0DFFAA2B5}"/>
              </a:ext>
            </a:extLst>
          </p:cNvPr>
          <p:cNvSpPr>
            <a:spLocks noGrp="1"/>
          </p:cNvSpPr>
          <p:nvPr>
            <p:ph idx="1"/>
          </p:nvPr>
        </p:nvSpPr>
        <p:spPr>
          <a:xfrm>
            <a:off x="457200" y="1700808"/>
            <a:ext cx="8229600" cy="4389437"/>
          </a:xfrm>
        </p:spPr>
        <p:txBody>
          <a:bodyPr/>
          <a:lstStyle/>
          <a:p>
            <a:pPr marL="0" indent="0">
              <a:buNone/>
            </a:pPr>
            <a:r>
              <a:rPr lang="en-GB" dirty="0">
                <a:latin typeface="Arial" panose="020B0604020202020204" pitchFamily="34" charset="0"/>
                <a:cs typeface="Arial" panose="020B0604020202020204" pitchFamily="34" charset="0"/>
              </a:rPr>
              <a:t>We have:</a:t>
            </a:r>
          </a:p>
          <a:p>
            <a:r>
              <a:rPr lang="en-GB" sz="2400" dirty="0">
                <a:latin typeface="Arial" panose="020B0604020202020204" pitchFamily="34" charset="0"/>
                <a:cs typeface="Arial" panose="020B0604020202020204" pitchFamily="34" charset="0"/>
              </a:rPr>
              <a:t>defined our policy for data protection</a:t>
            </a:r>
          </a:p>
          <a:p>
            <a:r>
              <a:rPr lang="en-GB" sz="2400" dirty="0">
                <a:latin typeface="Arial" panose="020B0604020202020204" pitchFamily="34" charset="0"/>
                <a:cs typeface="Arial" panose="020B0604020202020204" pitchFamily="34" charset="0"/>
              </a:rPr>
              <a:t>communicated the changes to all employees</a:t>
            </a:r>
          </a:p>
          <a:p>
            <a:r>
              <a:rPr lang="en-GB" sz="2400" dirty="0">
                <a:latin typeface="Arial" panose="020B0604020202020204" pitchFamily="34" charset="0"/>
                <a:cs typeface="Arial" panose="020B0604020202020204" pitchFamily="34" charset="0"/>
              </a:rPr>
              <a:t>defined roles and provided training</a:t>
            </a:r>
          </a:p>
          <a:p>
            <a:r>
              <a:rPr lang="en-GB" sz="2400" dirty="0">
                <a:latin typeface="Arial" panose="020B0604020202020204" pitchFamily="34" charset="0"/>
                <a:cs typeface="Arial" panose="020B0604020202020204" pitchFamily="34" charset="0"/>
              </a:rPr>
              <a:t>identified the personal data we process</a:t>
            </a:r>
          </a:p>
          <a:p>
            <a:r>
              <a:rPr lang="en-GB" sz="2400" dirty="0">
                <a:latin typeface="Arial" panose="020B0604020202020204" pitchFamily="34" charset="0"/>
                <a:cs typeface="Arial" panose="020B0604020202020204" pitchFamily="34" charset="0"/>
              </a:rPr>
              <a:t>established the lawful basis of our processing</a:t>
            </a:r>
          </a:p>
          <a:p>
            <a:r>
              <a:rPr lang="en-GB" sz="2400" dirty="0">
                <a:latin typeface="Arial" panose="020B0604020202020204" pitchFamily="34" charset="0"/>
                <a:cs typeface="Arial" panose="020B0604020202020204" pitchFamily="34" charset="0"/>
              </a:rPr>
              <a:t>provided the required privacy information to the data subject</a:t>
            </a:r>
          </a:p>
          <a:p>
            <a:r>
              <a:rPr lang="en-GB" sz="2400" dirty="0">
                <a:latin typeface="Arial" panose="020B0604020202020204" pitchFamily="34" charset="0"/>
                <a:cs typeface="Arial" panose="020B0604020202020204" pitchFamily="34" charset="0"/>
              </a:rPr>
              <a:t>obtained consent where required</a:t>
            </a:r>
          </a:p>
          <a:p>
            <a:r>
              <a:rPr lang="en-GB" sz="2400" dirty="0">
                <a:latin typeface="Arial" panose="020B0604020202020204" pitchFamily="34" charset="0"/>
                <a:cs typeface="Arial" panose="020B0604020202020204" pitchFamily="34" charset="0"/>
              </a:rPr>
              <a:t>put procedures in place for data subject access requests</a:t>
            </a:r>
          </a:p>
          <a:p>
            <a:endParaRPr lang="en-GB" dirty="0">
              <a:latin typeface="Arial" panose="020B0604020202020204" pitchFamily="34" charset="0"/>
              <a:cs typeface="Arial" panose="020B0604020202020204" pitchFamily="34" charset="0"/>
            </a:endParaRPr>
          </a:p>
          <a:p>
            <a:endParaRPr lang="en-GB" dirty="0"/>
          </a:p>
        </p:txBody>
      </p:sp>
      <p:pic>
        <p:nvPicPr>
          <p:cNvPr id="4" name="Picture 3">
            <a:extLst>
              <a:ext uri="{FF2B5EF4-FFF2-40B4-BE49-F238E27FC236}">
                <a16:creationId xmlns:a16="http://schemas.microsoft.com/office/drawing/2014/main" id="{41A2DEEC-2033-41C1-AC5F-E72EB27B4053}"/>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extLst>
      <p:ext uri="{BB962C8B-B14F-4D97-AF65-F5344CB8AC3E}">
        <p14:creationId xmlns:p14="http://schemas.microsoft.com/office/powerpoint/2010/main" val="13483263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C2678-2674-4139-B952-2B2916AF0C3C}"/>
              </a:ext>
            </a:extLst>
          </p:cNvPr>
          <p:cNvSpPr>
            <a:spLocks noGrp="1"/>
          </p:cNvSpPr>
          <p:nvPr>
            <p:ph type="title"/>
          </p:nvPr>
        </p:nvSpPr>
        <p:spPr>
          <a:xfrm>
            <a:off x="457200" y="188640"/>
            <a:ext cx="8229600" cy="1143000"/>
          </a:xfrm>
        </p:spPr>
        <p:txBody>
          <a:bodyPr/>
          <a:lstStyle/>
          <a:p>
            <a:r>
              <a:rPr lang="en-GB" dirty="0"/>
              <a:t>How we comply with the GDPR</a:t>
            </a:r>
          </a:p>
        </p:txBody>
      </p:sp>
      <p:sp>
        <p:nvSpPr>
          <p:cNvPr id="3" name="Content Placeholder 2">
            <a:extLst>
              <a:ext uri="{FF2B5EF4-FFF2-40B4-BE49-F238E27FC236}">
                <a16:creationId xmlns:a16="http://schemas.microsoft.com/office/drawing/2014/main" id="{185474EC-91B3-4254-993D-DF80A28D4164}"/>
              </a:ext>
            </a:extLst>
          </p:cNvPr>
          <p:cNvSpPr>
            <a:spLocks noGrp="1"/>
          </p:cNvSpPr>
          <p:nvPr>
            <p:ph idx="1"/>
          </p:nvPr>
        </p:nvSpPr>
        <p:spPr>
          <a:xfrm>
            <a:off x="457200" y="1412776"/>
            <a:ext cx="8229600" cy="4389437"/>
          </a:xfrm>
        </p:spPr>
        <p:txBody>
          <a:bodyPr/>
          <a:lstStyle/>
          <a:p>
            <a:pPr marL="0" indent="0">
              <a:buNone/>
            </a:pPr>
            <a:r>
              <a:rPr lang="en-GB" dirty="0">
                <a:latin typeface="Arial" panose="020B0604020202020204" pitchFamily="34" charset="0"/>
                <a:cs typeface="Arial" panose="020B0604020202020204" pitchFamily="34" charset="0"/>
              </a:rPr>
              <a:t>We have:</a:t>
            </a:r>
          </a:p>
          <a:p>
            <a:r>
              <a:rPr lang="en-GB" sz="2400" dirty="0">
                <a:latin typeface="Arial" panose="020B0604020202020204" pitchFamily="34" charset="0"/>
                <a:cs typeface="Arial" panose="020B0604020202020204" pitchFamily="34" charset="0"/>
              </a:rPr>
              <a:t>minimised our holding of personal data</a:t>
            </a:r>
          </a:p>
          <a:p>
            <a:r>
              <a:rPr lang="en-GB" sz="2400" dirty="0">
                <a:latin typeface="Arial" panose="020B0604020202020204" pitchFamily="34" charset="0"/>
                <a:cs typeface="Arial" panose="020B0604020202020204" pitchFamily="34" charset="0"/>
              </a:rPr>
              <a:t>begun keeping required records of processing</a:t>
            </a:r>
          </a:p>
          <a:p>
            <a:r>
              <a:rPr lang="en-GB" sz="2400" dirty="0">
                <a:latin typeface="Arial" panose="020B0604020202020204" pitchFamily="34" charset="0"/>
                <a:cs typeface="Arial" panose="020B0604020202020204" pitchFamily="34" charset="0"/>
              </a:rPr>
              <a:t>updated our contracts to be GDPR compliant</a:t>
            </a:r>
          </a:p>
          <a:p>
            <a:r>
              <a:rPr lang="en-GB" sz="2400" dirty="0">
                <a:latin typeface="Arial" panose="020B0604020202020204" pitchFamily="34" charset="0"/>
                <a:cs typeface="Arial" panose="020B0604020202020204" pitchFamily="34" charset="0"/>
              </a:rPr>
              <a:t>obtained employee commitment to the confidentiality of personal data</a:t>
            </a:r>
          </a:p>
          <a:p>
            <a:r>
              <a:rPr lang="en-GB" sz="2400" dirty="0">
                <a:latin typeface="Arial" panose="020B0604020202020204" pitchFamily="34" charset="0"/>
                <a:cs typeface="Arial" panose="020B0604020202020204" pitchFamily="34" charset="0"/>
              </a:rPr>
              <a:t>ensured our international transfers of personal data are legal</a:t>
            </a:r>
          </a:p>
          <a:p>
            <a:r>
              <a:rPr lang="en-GB" sz="2400" dirty="0">
                <a:latin typeface="Arial" panose="020B0604020202020204" pitchFamily="34" charset="0"/>
                <a:cs typeface="Arial" panose="020B0604020202020204" pitchFamily="34" charset="0"/>
              </a:rPr>
              <a:t>introduced impact assessments and data protection by default</a:t>
            </a:r>
          </a:p>
          <a:p>
            <a:r>
              <a:rPr lang="en-GB" sz="2400" dirty="0">
                <a:latin typeface="Arial" panose="020B0604020202020204" pitchFamily="34" charset="0"/>
                <a:cs typeface="Arial" panose="020B0604020202020204" pitchFamily="34" charset="0"/>
              </a:rPr>
              <a:t>Increased protection and prepared for a breach</a:t>
            </a:r>
          </a:p>
          <a:p>
            <a:endParaRPr lang="en-GB" dirty="0">
              <a:latin typeface="Arial" panose="020B0604020202020204" pitchFamily="34" charset="0"/>
              <a:cs typeface="Arial" panose="020B0604020202020204" pitchFamily="34" charset="0"/>
            </a:endParaRPr>
          </a:p>
          <a:p>
            <a:endParaRPr lang="en-GB" dirty="0"/>
          </a:p>
        </p:txBody>
      </p:sp>
      <p:pic>
        <p:nvPicPr>
          <p:cNvPr id="4" name="Picture 3">
            <a:extLst>
              <a:ext uri="{FF2B5EF4-FFF2-40B4-BE49-F238E27FC236}">
                <a16:creationId xmlns:a16="http://schemas.microsoft.com/office/drawing/2014/main" id="{A54ED830-A871-4B60-A153-2B200B55EC89}"/>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extLst>
      <p:ext uri="{BB962C8B-B14F-4D97-AF65-F5344CB8AC3E}">
        <p14:creationId xmlns:p14="http://schemas.microsoft.com/office/powerpoint/2010/main" val="2289570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1143000"/>
          </a:xfrm>
        </p:spPr>
        <p:txBody>
          <a:bodyPr/>
          <a:lstStyle/>
          <a:p>
            <a:r>
              <a:rPr lang="en-GB" dirty="0"/>
              <a:t>Data subject access requests</a:t>
            </a:r>
          </a:p>
        </p:txBody>
      </p:sp>
      <p:sp>
        <p:nvSpPr>
          <p:cNvPr id="3" name="Content Placeholder 2"/>
          <p:cNvSpPr>
            <a:spLocks noGrp="1"/>
          </p:cNvSpPr>
          <p:nvPr>
            <p:ph idx="1"/>
          </p:nvPr>
        </p:nvSpPr>
        <p:spPr>
          <a:xfrm>
            <a:off x="457200" y="1412776"/>
            <a:ext cx="8229600" cy="4389437"/>
          </a:xfrm>
        </p:spPr>
        <p:txBody>
          <a:bodyPr/>
          <a:lstStyle/>
          <a:p>
            <a:pPr marL="0" indent="0">
              <a:buNone/>
            </a:pPr>
            <a:r>
              <a:rPr lang="en-GB" sz="2400" dirty="0">
                <a:latin typeface="Arial" panose="020B0604020202020204" pitchFamily="34" charset="0"/>
                <a:cs typeface="Arial" panose="020B0604020202020204" pitchFamily="34" charset="0"/>
              </a:rPr>
              <a:t>The data subject (depending on the lawful basis we use for processing) has the right to:</a:t>
            </a:r>
          </a:p>
          <a:p>
            <a:pPr marL="0" indent="0">
              <a:buNone/>
            </a:pPr>
            <a:endParaRPr lang="en-GB" sz="1400" dirty="0">
              <a:latin typeface="Arial" panose="020B0604020202020204" pitchFamily="34" charset="0"/>
              <a:cs typeface="Arial" panose="020B0604020202020204" pitchFamily="34" charset="0"/>
            </a:endParaRPr>
          </a:p>
          <a:p>
            <a:pPr marL="514350" indent="-514350">
              <a:buFont typeface="+mj-lt"/>
              <a:buAutoNum type="arabicPeriod"/>
            </a:pPr>
            <a:r>
              <a:rPr lang="en-GB" sz="2400" dirty="0">
                <a:latin typeface="Arial" panose="020B0604020202020204" pitchFamily="34" charset="0"/>
                <a:cs typeface="Arial" panose="020B0604020202020204" pitchFamily="34" charset="0"/>
              </a:rPr>
              <a:t>ask us what personal data we hold about them</a:t>
            </a:r>
          </a:p>
          <a:p>
            <a:pPr marL="514350" indent="-514350">
              <a:buFont typeface="+mj-lt"/>
              <a:buAutoNum type="arabicPeriod"/>
            </a:pPr>
            <a:r>
              <a:rPr lang="en-GB" sz="2400" dirty="0">
                <a:latin typeface="Arial" panose="020B0604020202020204" pitchFamily="34" charset="0"/>
                <a:cs typeface="Arial" panose="020B0604020202020204" pitchFamily="34" charset="0"/>
              </a:rPr>
              <a:t>see their data</a:t>
            </a:r>
          </a:p>
          <a:p>
            <a:pPr marL="514350" indent="-514350">
              <a:buFont typeface="+mj-lt"/>
              <a:buAutoNum type="arabicPeriod"/>
            </a:pPr>
            <a:r>
              <a:rPr lang="en-GB" sz="2400" dirty="0">
                <a:latin typeface="Arial" panose="020B0604020202020204" pitchFamily="34" charset="0"/>
                <a:cs typeface="Arial" panose="020B0604020202020204" pitchFamily="34" charset="0"/>
              </a:rPr>
              <a:t>have their data corrected if it’s wrong</a:t>
            </a:r>
          </a:p>
          <a:p>
            <a:pPr marL="514350" indent="-514350">
              <a:buFont typeface="+mj-lt"/>
              <a:buAutoNum type="arabicPeriod"/>
            </a:pPr>
            <a:r>
              <a:rPr lang="en-GB" sz="2400" dirty="0">
                <a:latin typeface="Arial" panose="020B0604020202020204" pitchFamily="34" charset="0"/>
                <a:cs typeface="Arial" panose="020B0604020202020204" pitchFamily="34" charset="0"/>
              </a:rPr>
              <a:t>in some cases, have it erased </a:t>
            </a:r>
          </a:p>
          <a:p>
            <a:pPr marL="514350" indent="-514350">
              <a:buFont typeface="+mj-lt"/>
              <a:buAutoNum type="arabicPeriod"/>
            </a:pPr>
            <a:r>
              <a:rPr lang="en-GB" sz="2400" dirty="0">
                <a:latin typeface="Arial" panose="020B0604020202020204" pitchFamily="34" charset="0"/>
                <a:cs typeface="Arial" panose="020B0604020202020204" pitchFamily="34" charset="0"/>
              </a:rPr>
              <a:t>restrict our processing of their data</a:t>
            </a:r>
          </a:p>
          <a:p>
            <a:pPr marL="514350" indent="-514350">
              <a:buFont typeface="+mj-lt"/>
              <a:buAutoNum type="arabicPeriod"/>
            </a:pPr>
            <a:r>
              <a:rPr lang="en-GB" sz="2400" dirty="0">
                <a:latin typeface="Arial" panose="020B0604020202020204" pitchFamily="34" charset="0"/>
                <a:cs typeface="Arial" panose="020B0604020202020204" pitchFamily="34" charset="0"/>
              </a:rPr>
              <a:t>move their data to another service provider</a:t>
            </a:r>
          </a:p>
          <a:p>
            <a:pPr marL="514350" indent="-514350">
              <a:buFont typeface="+mj-lt"/>
              <a:buAutoNum type="arabicPeriod"/>
            </a:pPr>
            <a:r>
              <a:rPr lang="en-GB" sz="2400" dirty="0">
                <a:latin typeface="Arial" panose="020B0604020202020204" pitchFamily="34" charset="0"/>
                <a:cs typeface="Arial" panose="020B0604020202020204" pitchFamily="34" charset="0"/>
              </a:rPr>
              <a:t>object to our processing of their data</a:t>
            </a:r>
          </a:p>
          <a:p>
            <a:pPr marL="514350" indent="-514350">
              <a:buFont typeface="+mj-lt"/>
              <a:buAutoNum type="arabicPeriod"/>
            </a:pPr>
            <a:r>
              <a:rPr lang="en-GB" sz="2400" dirty="0">
                <a:latin typeface="Arial" panose="020B0604020202020204" pitchFamily="34" charset="0"/>
                <a:cs typeface="Arial" panose="020B0604020202020204" pitchFamily="34" charset="0"/>
              </a:rPr>
              <a:t>object to us making automated decisions about them</a:t>
            </a:r>
          </a:p>
          <a:p>
            <a:pPr marL="0" indent="0">
              <a:buNone/>
            </a:pPr>
            <a:endParaRPr lang="en-GB" sz="1200" dirty="0">
              <a:latin typeface="Arial" panose="020B0604020202020204" pitchFamily="34" charset="0"/>
              <a:cs typeface="Arial" panose="020B0604020202020204" pitchFamily="34" charset="0"/>
            </a:endParaRPr>
          </a:p>
        </p:txBody>
      </p:sp>
      <p:pic>
        <p:nvPicPr>
          <p:cNvPr id="4" name="Picture 3"/>
          <p:cNvPicPr/>
          <p:nvPr/>
        </p:nvPicPr>
        <p:blipFill>
          <a:blip r:embed="rId3"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extLst>
      <p:ext uri="{BB962C8B-B14F-4D97-AF65-F5344CB8AC3E}">
        <p14:creationId xmlns:p14="http://schemas.microsoft.com/office/powerpoint/2010/main" val="35124075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38388-A037-4BAA-8C53-65318C9CAC0E}"/>
              </a:ext>
            </a:extLst>
          </p:cNvPr>
          <p:cNvSpPr>
            <a:spLocks noGrp="1"/>
          </p:cNvSpPr>
          <p:nvPr>
            <p:ph type="title"/>
          </p:nvPr>
        </p:nvSpPr>
        <p:spPr>
          <a:xfrm>
            <a:off x="457200" y="620688"/>
            <a:ext cx="8229600" cy="1143000"/>
          </a:xfrm>
        </p:spPr>
        <p:txBody>
          <a:bodyPr/>
          <a:lstStyle/>
          <a:p>
            <a:r>
              <a:rPr lang="en-GB" sz="4400" dirty="0"/>
              <a:t>How you can help us stay GDPR compliant</a:t>
            </a:r>
          </a:p>
        </p:txBody>
      </p:sp>
      <p:sp>
        <p:nvSpPr>
          <p:cNvPr id="3" name="Content Placeholder 2">
            <a:extLst>
              <a:ext uri="{FF2B5EF4-FFF2-40B4-BE49-F238E27FC236}">
                <a16:creationId xmlns:a16="http://schemas.microsoft.com/office/drawing/2014/main" id="{F2E6DD45-5069-4919-800F-5C63FDCDB419}"/>
              </a:ext>
            </a:extLst>
          </p:cNvPr>
          <p:cNvSpPr>
            <a:spLocks noGrp="1"/>
          </p:cNvSpPr>
          <p:nvPr>
            <p:ph idx="1"/>
          </p:nvPr>
        </p:nvSpPr>
        <p:spPr>
          <a:xfrm>
            <a:off x="457200" y="1977452"/>
            <a:ext cx="8229600" cy="4389437"/>
          </a:xfrm>
        </p:spPr>
        <p:txBody>
          <a:bodyPr/>
          <a:lstStyle/>
          <a:p>
            <a:pPr marL="0" indent="0">
              <a:buNone/>
            </a:pPr>
            <a:r>
              <a:rPr lang="en-GB" dirty="0">
                <a:latin typeface="Arial" panose="020B0604020202020204" pitchFamily="34" charset="0"/>
                <a:cs typeface="Arial" panose="020B0604020202020204" pitchFamily="34" charset="0"/>
              </a:rPr>
              <a:t>You can help us to stay compliant with the GDPR by:</a:t>
            </a:r>
          </a:p>
          <a:p>
            <a:pPr marL="0" indent="0">
              <a:buNone/>
            </a:pPr>
            <a:endParaRPr lang="en-GB" sz="1050" dirty="0">
              <a:latin typeface="Arial" panose="020B0604020202020204" pitchFamily="34" charset="0"/>
              <a:cs typeface="Arial" panose="020B0604020202020204" pitchFamily="34" charset="0"/>
            </a:endParaRPr>
          </a:p>
          <a:p>
            <a:r>
              <a:rPr lang="en-GB" sz="2400" dirty="0">
                <a:latin typeface="Arial" panose="020B0604020202020204" pitchFamily="34" charset="0"/>
                <a:cs typeface="Arial" panose="020B0604020202020204" pitchFamily="34" charset="0"/>
              </a:rPr>
              <a:t>Reading and following our data protection policy</a:t>
            </a:r>
          </a:p>
          <a:p>
            <a:r>
              <a:rPr lang="en-GB" sz="2400" dirty="0">
                <a:latin typeface="Arial" panose="020B0604020202020204" pitchFamily="34" charset="0"/>
                <a:cs typeface="Arial" panose="020B0604020202020204" pitchFamily="34" charset="0"/>
              </a:rPr>
              <a:t>Recognising the importance of protecting personal data</a:t>
            </a:r>
          </a:p>
          <a:p>
            <a:r>
              <a:rPr lang="en-GB" sz="2400" dirty="0">
                <a:latin typeface="Arial" panose="020B0604020202020204" pitchFamily="34" charset="0"/>
                <a:cs typeface="Arial" panose="020B0604020202020204" pitchFamily="34" charset="0"/>
              </a:rPr>
              <a:t>Processing subject access requests promptly</a:t>
            </a:r>
          </a:p>
          <a:p>
            <a:r>
              <a:rPr lang="en-GB" sz="2400" dirty="0">
                <a:latin typeface="Arial" panose="020B0604020202020204" pitchFamily="34" charset="0"/>
                <a:cs typeface="Arial" panose="020B0604020202020204" pitchFamily="34" charset="0"/>
              </a:rPr>
              <a:t>Only using personal data for the defined purposes</a:t>
            </a:r>
          </a:p>
          <a:p>
            <a:r>
              <a:rPr lang="en-GB" sz="2400" dirty="0">
                <a:latin typeface="Arial" panose="020B0604020202020204" pitchFamily="34" charset="0"/>
                <a:cs typeface="Arial" panose="020B0604020202020204" pitchFamily="34" charset="0"/>
              </a:rPr>
              <a:t>Being fair and transparent about our use of personal data</a:t>
            </a:r>
          </a:p>
          <a:p>
            <a:r>
              <a:rPr lang="en-GB" sz="2400" dirty="0">
                <a:latin typeface="Arial" panose="020B0604020202020204" pitchFamily="34" charset="0"/>
                <a:cs typeface="Arial" panose="020B0604020202020204" pitchFamily="34" charset="0"/>
              </a:rPr>
              <a:t>Keeping personal data confidential</a:t>
            </a:r>
          </a:p>
          <a:p>
            <a:r>
              <a:rPr lang="en-GB" sz="2400" dirty="0">
                <a:latin typeface="Arial" panose="020B0604020202020204" pitchFamily="34" charset="0"/>
                <a:cs typeface="Arial" panose="020B0604020202020204" pitchFamily="34" charset="0"/>
              </a:rPr>
              <a:t>Considering data protection in new developments</a:t>
            </a:r>
          </a:p>
          <a:p>
            <a:r>
              <a:rPr lang="en-GB" sz="2400" dirty="0">
                <a:latin typeface="Arial" panose="020B0604020202020204" pitchFamily="34" charset="0"/>
                <a:cs typeface="Arial" panose="020B0604020202020204" pitchFamily="34" charset="0"/>
              </a:rPr>
              <a:t>Handling any breaches in a professional way </a:t>
            </a:r>
          </a:p>
          <a:p>
            <a:endParaRPr lang="en-GB" sz="2400" dirty="0">
              <a:latin typeface="Arial" panose="020B0604020202020204" pitchFamily="34" charset="0"/>
              <a:cs typeface="Arial" panose="020B0604020202020204" pitchFamily="34" charset="0"/>
            </a:endParaRPr>
          </a:p>
          <a:p>
            <a:endParaRPr lang="en-GB"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97526A06-0005-44DA-92E3-BCC779889232}"/>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extLst>
      <p:ext uri="{BB962C8B-B14F-4D97-AF65-F5344CB8AC3E}">
        <p14:creationId xmlns:p14="http://schemas.microsoft.com/office/powerpoint/2010/main" val="20400833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p:spPr>
        <p:txBody>
          <a:bodyPr/>
          <a:lstStyle/>
          <a:p>
            <a:r>
              <a:rPr lang="en-GB" dirty="0"/>
              <a:t>Key points</a:t>
            </a:r>
          </a:p>
        </p:txBody>
      </p:sp>
      <p:sp>
        <p:nvSpPr>
          <p:cNvPr id="3" name="Content Placeholder 2"/>
          <p:cNvSpPr>
            <a:spLocks noGrp="1"/>
          </p:cNvSpPr>
          <p:nvPr>
            <p:ph idx="1"/>
          </p:nvPr>
        </p:nvSpPr>
        <p:spPr/>
        <p:txBody>
          <a:bodyPr/>
          <a:lstStyle/>
          <a:p>
            <a:r>
              <a:rPr lang="en-GB" dirty="0">
                <a:latin typeface="Arial" panose="020B0604020202020204" pitchFamily="34" charset="0"/>
                <a:cs typeface="Arial" panose="020B0604020202020204" pitchFamily="34" charset="0"/>
              </a:rPr>
              <a:t>GDPR became law on 25</a:t>
            </a:r>
            <a:r>
              <a:rPr lang="en-GB" baseline="30000" dirty="0">
                <a:latin typeface="Arial" panose="020B0604020202020204" pitchFamily="34" charset="0"/>
                <a:cs typeface="Arial" panose="020B0604020202020204" pitchFamily="34" charset="0"/>
              </a:rPr>
              <a:t>th</a:t>
            </a:r>
            <a:r>
              <a:rPr lang="en-GB" dirty="0">
                <a:latin typeface="Arial" panose="020B0604020202020204" pitchFamily="34" charset="0"/>
                <a:cs typeface="Arial" panose="020B0604020202020204" pitchFamily="34" charset="0"/>
              </a:rPr>
              <a:t> May 2018</a:t>
            </a:r>
          </a:p>
          <a:p>
            <a:r>
              <a:rPr lang="en-GB" dirty="0">
                <a:latin typeface="Arial" panose="020B0604020202020204" pitchFamily="34" charset="0"/>
                <a:cs typeface="Arial" panose="020B0604020202020204" pitchFamily="34" charset="0"/>
              </a:rPr>
              <a:t>Compliance is not optional</a:t>
            </a:r>
          </a:p>
          <a:p>
            <a:r>
              <a:rPr lang="en-GB" dirty="0">
                <a:latin typeface="Arial" panose="020B0604020202020204" pitchFamily="34" charset="0"/>
                <a:cs typeface="Arial" panose="020B0604020202020204" pitchFamily="34" charset="0"/>
              </a:rPr>
              <a:t>We must be fair, transparent and lawful in our use of personal data</a:t>
            </a:r>
          </a:p>
          <a:p>
            <a:r>
              <a:rPr lang="en-GB" dirty="0">
                <a:latin typeface="Arial" panose="020B0604020202020204" pitchFamily="34" charset="0"/>
                <a:cs typeface="Arial" panose="020B0604020202020204" pitchFamily="34" charset="0"/>
              </a:rPr>
              <a:t>Penalties to the organisation for non-compliance can be severe</a:t>
            </a:r>
          </a:p>
          <a:p>
            <a:r>
              <a:rPr lang="en-GB" dirty="0">
                <a:latin typeface="Arial" panose="020B0604020202020204" pitchFamily="34" charset="0"/>
                <a:cs typeface="Arial" panose="020B0604020202020204" pitchFamily="34" charset="0"/>
              </a:rPr>
              <a:t>All employees play a part in our compliance</a:t>
            </a:r>
          </a:p>
          <a:p>
            <a:r>
              <a:rPr lang="en-GB" dirty="0">
                <a:latin typeface="Arial" panose="020B0604020202020204" pitchFamily="34" charset="0"/>
                <a:cs typeface="Arial" panose="020B0604020202020204" pitchFamily="34" charset="0"/>
              </a:rPr>
              <a:t>Ask your line manager if you are unsure about any aspects of data protection </a:t>
            </a:r>
          </a:p>
          <a:p>
            <a:endParaRPr lang="en-GB" dirty="0">
              <a:latin typeface="Arial" panose="020B0604020202020204" pitchFamily="34" charset="0"/>
              <a:cs typeface="Arial" panose="020B0604020202020204" pitchFamily="34" charset="0"/>
            </a:endParaRPr>
          </a:p>
          <a:p>
            <a:endParaRPr lang="en-GB" dirty="0">
              <a:latin typeface="Arial" panose="020B0604020202020204" pitchFamily="34" charset="0"/>
              <a:cs typeface="Arial" panose="020B0604020202020204" pitchFamily="34" charset="0"/>
            </a:endParaRPr>
          </a:p>
          <a:p>
            <a:endParaRPr lang="en-GB" dirty="0"/>
          </a:p>
        </p:txBody>
      </p:sp>
      <p:pic>
        <p:nvPicPr>
          <p:cNvPr id="4" name="Picture 3"/>
          <p:cNvPicPr/>
          <p:nvPr/>
        </p:nvPicPr>
        <p:blipFill>
          <a:blip r:embed="rId3"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extLst>
      <p:ext uri="{BB962C8B-B14F-4D97-AF65-F5344CB8AC3E}">
        <p14:creationId xmlns:p14="http://schemas.microsoft.com/office/powerpoint/2010/main" val="3180370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2771800" y="2564904"/>
            <a:ext cx="3394720" cy="1143000"/>
          </a:xfrm>
        </p:spPr>
        <p:txBody>
          <a:bodyPr/>
          <a:lstStyle/>
          <a:p>
            <a:pPr algn="ctr"/>
            <a:r>
              <a:rPr lang="en-GB" dirty="0"/>
              <a:t>Questions</a:t>
            </a:r>
          </a:p>
        </p:txBody>
      </p:sp>
      <p:pic>
        <p:nvPicPr>
          <p:cNvPr id="8" name="Picture 7"/>
          <p:cNvPicPr/>
          <p:nvPr/>
        </p:nvPicPr>
        <p:blipFill>
          <a:blip r:embed="rId3"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extLst>
      <p:ext uri="{BB962C8B-B14F-4D97-AF65-F5344CB8AC3E}">
        <p14:creationId xmlns:p14="http://schemas.microsoft.com/office/powerpoint/2010/main" val="241304836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2.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D4044C59A8CAE44B6D9ED6298F811F1" ma:contentTypeVersion="8" ma:contentTypeDescription="Create a new document." ma:contentTypeScope="" ma:versionID="ec6bb53279bf8bc3119fb97b1b2bb3a7">
  <xsd:schema xmlns:xsd="http://www.w3.org/2001/XMLSchema" xmlns:xs="http://www.w3.org/2001/XMLSchema" xmlns:p="http://schemas.microsoft.com/office/2006/metadata/properties" xmlns:ns2="519c89c0-4739-45b7-90b4-c645f8135810" xmlns:ns3="906258ce-5a0c-4f3f-a95b-99bb0331ce14" targetNamespace="http://schemas.microsoft.com/office/2006/metadata/properties" ma:root="true" ma:fieldsID="fe893e3c06a0f4627c087a58f9c38919" ns2:_="" ns3:_="">
    <xsd:import namespace="519c89c0-4739-45b7-90b4-c645f8135810"/>
    <xsd:import namespace="906258ce-5a0c-4f3f-a95b-99bb0331ce14"/>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19c89c0-4739-45b7-90b4-c645f813581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06258ce-5a0c-4f3f-a95b-99bb0331ce14"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6947985-CECF-40DE-BF49-ACB93F289A70}">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purl.org/dc/dcmitype/"/>
    <ds:schemaRef ds:uri="http://schemas.microsoft.com/office/infopath/2007/PartnerControls"/>
    <ds:schemaRef ds:uri="906258ce-5a0c-4f3f-a95b-99bb0331ce14"/>
    <ds:schemaRef ds:uri="519c89c0-4739-45b7-90b4-c645f8135810"/>
    <ds:schemaRef ds:uri="http://www.w3.org/XML/1998/namespace"/>
  </ds:schemaRefs>
</ds:datastoreItem>
</file>

<file path=customXml/itemProps2.xml><?xml version="1.0" encoding="utf-8"?>
<ds:datastoreItem xmlns:ds="http://schemas.openxmlformats.org/officeDocument/2006/customXml" ds:itemID="{164415D5-031F-4101-AEDA-6FA65B5731A3}">
  <ds:schemaRefs>
    <ds:schemaRef ds:uri="http://schemas.microsoft.com/sharepoint/v3/contenttype/forms"/>
  </ds:schemaRefs>
</ds:datastoreItem>
</file>

<file path=customXml/itemProps3.xml><?xml version="1.0" encoding="utf-8"?>
<ds:datastoreItem xmlns:ds="http://schemas.openxmlformats.org/officeDocument/2006/customXml" ds:itemID="{774AA21C-7565-45DE-9078-F82F3DFC69E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19c89c0-4739-45b7-90b4-c645f8135810"/>
    <ds:schemaRef ds:uri="906258ce-5a0c-4f3f-a95b-99bb0331ce1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854</TotalTime>
  <Words>2454</Words>
  <Application>Microsoft Office PowerPoint</Application>
  <PresentationFormat>On-screen Show (4:3)</PresentationFormat>
  <Paragraphs>292</Paragraphs>
  <Slides>17</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Constantia</vt:lpstr>
      <vt:lpstr>Times New Roman</vt:lpstr>
      <vt:lpstr>Wingdings 2</vt:lpstr>
      <vt:lpstr>Flow</vt:lpstr>
      <vt:lpstr>PowerPoint Presentation</vt:lpstr>
      <vt:lpstr>Agenda</vt:lpstr>
      <vt:lpstr>What is the GDPR?</vt:lpstr>
      <vt:lpstr>Key terms</vt:lpstr>
      <vt:lpstr>Personal data examples</vt:lpstr>
      <vt:lpstr>Special categories of personal data</vt:lpstr>
      <vt:lpstr>Key terms</vt:lpstr>
      <vt:lpstr>Examples of processing</vt:lpstr>
      <vt:lpstr>Key terms</vt:lpstr>
      <vt:lpstr>Key terms</vt:lpstr>
      <vt:lpstr>The 6 privacy principles</vt:lpstr>
      <vt:lpstr>How we comply with the GDPR</vt:lpstr>
      <vt:lpstr>How we comply with the GDPR</vt:lpstr>
      <vt:lpstr>Data subject access requests</vt:lpstr>
      <vt:lpstr>How you can help us stay GDPR compliant</vt:lpstr>
      <vt:lpstr>Key points</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CertiKit GDPR Toolkit Version 5</dc:title>
  <dc:creator>Copyright CertiKit</dc:creator>
  <cp:lastModifiedBy>Ken Holmes</cp:lastModifiedBy>
  <cp:revision>94</cp:revision>
  <dcterms:created xsi:type="dcterms:W3CDTF">2014-01-13T13:02:03Z</dcterms:created>
  <dcterms:modified xsi:type="dcterms:W3CDTF">2019-02-06T09:54:51Z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0x010100CD4044C59A8CAE44B6D9ED6298F811F1</vt:lpwstr>
  </property>
</Properties>
</file>